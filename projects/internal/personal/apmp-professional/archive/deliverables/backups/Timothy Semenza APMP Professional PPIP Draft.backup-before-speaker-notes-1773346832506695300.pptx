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60" r:id="rId1"/>
  </p:sldMasterIdLst>
  <p:notesMasterIdLst>
    <p:notesMasterId r:id="rId11"/>
  </p:notesMasterIdLst>
  <p:handoutMasterIdLst>
    <p:handoutMasterId r:id="rId12"/>
  </p:handoutMasterIdLst>
  <p:sldIdLst>
    <p:sldId id="400" r:id="rId2"/>
    <p:sldId id="404" r:id="rId3"/>
    <p:sldId id="267" r:id="rId4"/>
    <p:sldId id="273" r:id="rId5"/>
    <p:sldId id="401" r:id="rId6"/>
    <p:sldId id="274" r:id="rId7"/>
    <p:sldId id="275" r:id="rId8"/>
    <p:sldId id="402" r:id="rId9"/>
    <p:sldId id="403" r:id="rId10"/>
  </p:sldIdLst>
  <p:sldSz cx="12192000" cy="6858000"/>
  <p:notesSz cx="7102475" cy="9388475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ＭＳ Ｐゴシック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46" userDrawn="1">
          <p15:clr>
            <a:srgbClr val="A4A3A4"/>
          </p15:clr>
        </p15:guide>
        <p15:guide id="2" orient="horz" pos="4020" userDrawn="1">
          <p15:clr>
            <a:srgbClr val="A4A3A4"/>
          </p15:clr>
        </p15:guide>
        <p15:guide id="3" orient="horz" pos="618" userDrawn="1">
          <p15:clr>
            <a:srgbClr val="A4A3A4"/>
          </p15:clr>
        </p15:guide>
        <p15:guide id="4" pos="3840" userDrawn="1">
          <p15:clr>
            <a:srgbClr val="A4A3A4"/>
          </p15:clr>
        </p15:guide>
        <p15:guide id="5" pos="728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74847"/>
    <a:srgbClr val="FF8409"/>
    <a:srgbClr val="CC66FF"/>
    <a:srgbClr val="00AAE7"/>
    <a:srgbClr val="20AA4D"/>
    <a:srgbClr val="2F3A8F"/>
    <a:srgbClr val="09A9CA"/>
    <a:srgbClr val="0081C6"/>
    <a:srgbClr val="2C3A91"/>
    <a:srgbClr val="0022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2" autoAdjust="0"/>
    <p:restoredTop sz="97834" autoAdjust="0"/>
  </p:normalViewPr>
  <p:slideViewPr>
    <p:cSldViewPr snapToGrid="0">
      <p:cViewPr varScale="1">
        <p:scale>
          <a:sx n="94" d="100"/>
          <a:sy n="94" d="100"/>
        </p:scale>
        <p:origin x="498" y="312"/>
      </p:cViewPr>
      <p:guideLst>
        <p:guide orient="horz" pos="346"/>
        <p:guide orient="horz" pos="4020"/>
        <p:guide orient="horz" pos="618"/>
        <p:guide pos="3840"/>
        <p:guide pos="728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310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357" cy="4700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481" y="0"/>
            <a:ext cx="3077357" cy="4700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B5BCC1-BA44-4CBC-AD29-60CF477D23A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916894"/>
            <a:ext cx="3077357" cy="47009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481" y="8916894"/>
            <a:ext cx="3077357" cy="47009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9F8ED6-4FAA-4EFF-95C7-41F1E5E8F2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3625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40" cy="469424"/>
          </a:xfrm>
          <a:prstGeom prst="rect">
            <a:avLst/>
          </a:prstGeom>
        </p:spPr>
        <p:txBody>
          <a:bodyPr vert="horz" lIns="92290" tIns="46145" rIns="92290" bIns="46145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093" y="0"/>
            <a:ext cx="3077740" cy="469424"/>
          </a:xfrm>
          <a:prstGeom prst="rect">
            <a:avLst/>
          </a:prstGeom>
        </p:spPr>
        <p:txBody>
          <a:bodyPr vert="horz" wrap="square" lIns="92290" tIns="46145" rIns="92290" bIns="46145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34" charset="0"/>
              </a:defRPr>
            </a:lvl1pPr>
          </a:lstStyle>
          <a:p>
            <a:fld id="{EF1E3FA9-0E79-4B18-B2E1-AF573AF26565}" type="datetimeFigureOut">
              <a:rPr lang="en-GB"/>
              <a:pPr/>
              <a:t>12/03/2026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704850"/>
            <a:ext cx="6257925" cy="35194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290" tIns="46145" rIns="92290" bIns="46145" rtlCol="0" anchor="ctr"/>
          <a:lstStyle/>
          <a:p>
            <a:pPr lvl="0"/>
            <a:endParaRPr lang="en-GB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248" y="4459527"/>
            <a:ext cx="5681980" cy="4224814"/>
          </a:xfrm>
          <a:prstGeom prst="rect">
            <a:avLst/>
          </a:prstGeom>
        </p:spPr>
        <p:txBody>
          <a:bodyPr vert="horz" lIns="92290" tIns="46145" rIns="92290" bIns="46145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917422"/>
            <a:ext cx="3077740" cy="469424"/>
          </a:xfrm>
          <a:prstGeom prst="rect">
            <a:avLst/>
          </a:prstGeom>
        </p:spPr>
        <p:txBody>
          <a:bodyPr vert="horz" lIns="92290" tIns="46145" rIns="92290" bIns="46145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093" y="8917422"/>
            <a:ext cx="3077740" cy="469424"/>
          </a:xfrm>
          <a:prstGeom prst="rect">
            <a:avLst/>
          </a:prstGeom>
        </p:spPr>
        <p:txBody>
          <a:bodyPr vert="horz" wrap="square" lIns="92290" tIns="46145" rIns="92290" bIns="46145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34" charset="0"/>
              </a:defRPr>
            </a:lvl1pPr>
          </a:lstStyle>
          <a:p>
            <a:fld id="{73D7BC01-7314-46EA-BB64-D53C8F299A18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892155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Slide Image Placeholder 1"/>
          <p:cNvSpPr>
            <a:spLocks noGrp="1" noRot="1" noChangeAspect="1" noTextEdit="1"/>
          </p:cNvSpPr>
          <p:nvPr>
            <p:ph type="sldImg" idx="2"/>
          </p:nvPr>
        </p:nvSpPr>
        <p:spPr bwMode="auto">
          <a:xfrm>
            <a:off x="701675" y="647700"/>
            <a:ext cx="5753100" cy="3236913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1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9859" indent="-288407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53630" indent="-230726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15082" indent="-230726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76534" indent="-230726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37986" indent="-230726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99438" indent="-230726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60890" indent="-230726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922342" indent="-230726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43CC34A3-6099-4046-95AA-20054C931C95}" type="slidenum">
              <a:rPr lang="en-GB" sz="1200">
                <a:solidFill>
                  <a:srgbClr val="000000"/>
                </a:solidFill>
                <a:latin typeface="Calibri" pitchFamily="34" charset="0"/>
              </a:rPr>
              <a:pPr eaLnBrk="1" hangingPunct="1"/>
              <a:t>3</a:t>
            </a:fld>
            <a:endParaRPr lang="en-GB" sz="1200" dirty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13315" name="Notes Placeholder 5"/>
          <p:cNvSpPr>
            <a:spLocks noGrp="1"/>
          </p:cNvSpPr>
          <p:nvPr/>
        </p:nvSpPr>
        <p:spPr bwMode="auto">
          <a:xfrm>
            <a:off x="715715" y="4100714"/>
            <a:ext cx="5725717" cy="3884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290" tIns="46145" rIns="92290" bIns="46145"/>
          <a:lstStyle/>
          <a:p>
            <a:pPr>
              <a:spcBef>
                <a:spcPct val="30000"/>
              </a:spcBef>
            </a:pPr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22904">
              <a:defRPr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84468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01675" y="647700"/>
            <a:ext cx="5753100" cy="323691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D7BC01-7314-46EA-BB64-D53C8F299A18}" type="slidenum">
              <a:rPr lang="en-GB" smtClean="0"/>
              <a:pPr/>
              <a:t>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360813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01675" y="647700"/>
            <a:ext cx="5753100" cy="323691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D7BC01-7314-46EA-BB64-D53C8F299A18}" type="slidenum">
              <a:rPr lang="en-GB" smtClean="0"/>
              <a:pPr/>
              <a:t>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659636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01675" y="647700"/>
            <a:ext cx="5753100" cy="323691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D7BC01-7314-46EA-BB64-D53C8F299A18}" type="slidenum">
              <a:rPr lang="en-GB" smtClean="0"/>
              <a:pPr/>
              <a:t>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659636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01675" y="647700"/>
            <a:ext cx="5753100" cy="323691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D7BC01-7314-46EA-BB64-D53C8F299A18}" type="slidenum">
              <a:rPr lang="en-GB" smtClean="0"/>
              <a:pPr/>
              <a:t>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659636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5.emf"/><Relationship Id="rId5" Type="http://schemas.openxmlformats.org/officeDocument/2006/relationships/image" Target="../media/image14.emf"/><Relationship Id="rId4" Type="http://schemas.openxmlformats.org/officeDocument/2006/relationships/image" Target="../media/image13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5.emf"/><Relationship Id="rId5" Type="http://schemas.openxmlformats.org/officeDocument/2006/relationships/image" Target="../media/image14.emf"/><Relationship Id="rId4" Type="http://schemas.openxmlformats.org/officeDocument/2006/relationships/image" Target="../media/image13.emf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emf"/><Relationship Id="rId3" Type="http://schemas.openxmlformats.org/officeDocument/2006/relationships/image" Target="../media/image16.png"/><Relationship Id="rId7" Type="http://schemas.openxmlformats.org/officeDocument/2006/relationships/image" Target="../media/image14.emf"/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emf"/><Relationship Id="rId5" Type="http://schemas.openxmlformats.org/officeDocument/2006/relationships/image" Target="../media/image12.emf"/><Relationship Id="rId4" Type="http://schemas.openxmlformats.org/officeDocument/2006/relationships/image" Target="../media/image17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95057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19776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algn="l" rtl="0" eaLnBrk="0" fontAlgn="base" hangingPunct="0">
              <a:lnSpc>
                <a:spcPct val="145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None/>
              <a:defRPr lang="en-GB" sz="4000" b="0" i="0" kern="1200" spc="-150" baseline="0">
                <a:solidFill>
                  <a:schemeClr val="bg1"/>
                </a:solidFill>
                <a:effectLst/>
                <a:latin typeface="Calibri"/>
                <a:ea typeface="+mn-ea"/>
                <a:cs typeface="Calibri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Rectangle 2"/>
          <p:cNvSpPr/>
          <p:nvPr userDrawn="1"/>
        </p:nvSpPr>
        <p:spPr>
          <a:xfrm>
            <a:off x="9984432" y="1382579"/>
            <a:ext cx="172819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1000" dirty="0">
                <a:solidFill>
                  <a:srgbClr val="A6A6A6"/>
                </a:solidFill>
                <a:latin typeface="Calibri"/>
                <a:cs typeface="Calibri"/>
              </a:rPr>
              <a:t>© 2019  |  page </a:t>
            </a:r>
            <a:fld id="{5DA86651-081E-48B6-9AC7-28ABBC94FCAF}" type="slidenum">
              <a:rPr lang="en-US" sz="1000" smtClean="0">
                <a:solidFill>
                  <a:srgbClr val="A6A6A6"/>
                </a:solidFill>
                <a:latin typeface="Calibri"/>
                <a:cs typeface="Calibri"/>
              </a:rPr>
              <a:pPr algn="r"/>
              <a:t>‹#›</a:t>
            </a:fld>
            <a:r>
              <a:rPr lang="en-US" sz="1000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</a:p>
        </p:txBody>
      </p:sp>
      <p:pic>
        <p:nvPicPr>
          <p:cNvPr id="5" name="Picture 4" descr="slide_2_left light gray swooshes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5392"/>
            <a:ext cx="4578350" cy="6858000"/>
          </a:xfrm>
          <a:prstGeom prst="rect">
            <a:avLst/>
          </a:prstGeom>
        </p:spPr>
      </p:pic>
      <p:pic>
        <p:nvPicPr>
          <p:cNvPr id="6" name="Picture 5" descr="slide_2_right light gray swooshes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3084" y="2579846"/>
            <a:ext cx="6848916" cy="4283756"/>
          </a:xfrm>
          <a:prstGeom prst="rect">
            <a:avLst/>
          </a:prstGeom>
        </p:spPr>
      </p:pic>
      <p:pic>
        <p:nvPicPr>
          <p:cNvPr id="7" name="Picture 6" descr="slide_2_URL.png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0194" y="6348052"/>
            <a:ext cx="1314450" cy="120650"/>
          </a:xfrm>
          <a:prstGeom prst="rect">
            <a:avLst/>
          </a:prstGeom>
        </p:spPr>
      </p:pic>
      <p:pic>
        <p:nvPicPr>
          <p:cNvPr id="9" name="Picture 8" descr="slide_2_header.png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375"/>
            <a:ext cx="12192000" cy="1352550"/>
          </a:xfrm>
          <a:prstGeom prst="rect">
            <a:avLst/>
          </a:prstGeom>
        </p:spPr>
      </p:pic>
      <p:pic>
        <p:nvPicPr>
          <p:cNvPr id="8" name="Picture 7" descr="slide_2_logo.png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7491" y="340045"/>
            <a:ext cx="1358900" cy="698500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3392" y="1974319"/>
            <a:ext cx="10959008" cy="2246769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2C3A91"/>
              </a:buClr>
              <a:buFont typeface="Wingdings" panose="05000000000000000000" pitchFamily="2" charset="2"/>
              <a:buChar char="§"/>
              <a:defRPr sz="2800">
                <a:solidFill>
                  <a:srgbClr val="2C3A91"/>
                </a:solidFill>
                <a:latin typeface="Calibri"/>
                <a:cs typeface="Calibri"/>
              </a:defRPr>
            </a:lvl1pPr>
            <a:lvl2pPr marL="742950" indent="-2857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2C3A91"/>
              </a:buClr>
              <a:buFont typeface="Wingdings" panose="05000000000000000000" pitchFamily="2" charset="2"/>
              <a:buChar char="§"/>
              <a:defRPr sz="2000">
                <a:solidFill>
                  <a:srgbClr val="2C3A91"/>
                </a:solidFill>
                <a:latin typeface="Calibri"/>
                <a:cs typeface="Calibri"/>
              </a:defRPr>
            </a:lvl2pPr>
            <a:lvl3pPr marL="1143000" indent="-2286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2C3A91"/>
              </a:buClr>
              <a:buFont typeface="Wingdings" panose="05000000000000000000" pitchFamily="2" charset="2"/>
              <a:buChar char="§"/>
              <a:defRPr sz="1800">
                <a:solidFill>
                  <a:srgbClr val="2C3A91"/>
                </a:solidFill>
                <a:latin typeface="Calibri"/>
                <a:cs typeface="Calibri"/>
              </a:defRPr>
            </a:lvl3pPr>
            <a:lvl4pPr marL="1600200" indent="-2286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2C3A91"/>
              </a:buClr>
              <a:buFont typeface="Wingdings" panose="05000000000000000000" pitchFamily="2" charset="2"/>
              <a:buChar char="§"/>
              <a:defRPr sz="1600">
                <a:solidFill>
                  <a:srgbClr val="2C3A91"/>
                </a:solidFill>
                <a:latin typeface="Calibri"/>
                <a:cs typeface="Calibri"/>
              </a:defRPr>
            </a:lvl4pPr>
            <a:lvl5pPr marL="2057400" indent="-2286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2C3A91"/>
              </a:buClr>
              <a:buFont typeface="Wingdings" panose="05000000000000000000" pitchFamily="2" charset="2"/>
              <a:buChar char="§"/>
              <a:defRPr sz="1600">
                <a:solidFill>
                  <a:srgbClr val="2C3A91"/>
                </a:solidFill>
                <a:latin typeface="Calibri"/>
                <a:cs typeface="Calibri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pic>
        <p:nvPicPr>
          <p:cNvPr id="10" name="Picture 9" descr="slide_1_ribbons.png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762750"/>
            <a:ext cx="12192000" cy="95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090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6437D-77E2-8F4E-90F5-B6175E92C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B39ACD-851E-C446-84A2-D55F38AA06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22646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BBC62F45-8185-B04B-A82C-4691E95E7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85307" y="6311946"/>
            <a:ext cx="76697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39EDD"/>
                </a:solidFill>
              </a:defRPr>
            </a:lvl1pPr>
          </a:lstStyle>
          <a:p>
            <a:fld id="{B0AF2983-4713-074B-8971-5C1C8A8E14E9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83BB985-86F3-0140-A42F-23DEAEA7B7C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880549" y="6331522"/>
            <a:ext cx="730880" cy="37722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3BF9B16-6CD3-994A-BF2A-9C301089A76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406641" y="6261808"/>
            <a:ext cx="1559700" cy="46213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8904265-A6F7-8D42-96B0-DDE7CB0FEDEC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3567792" y="6389151"/>
            <a:ext cx="1282700" cy="2921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5539BC3-1C89-B44C-90E4-FA46786DB497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5155877" y="6408705"/>
            <a:ext cx="672565" cy="257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9044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89982A-FC28-8844-9E7C-05BB1B6E5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85307" y="6311946"/>
            <a:ext cx="76697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39EDD"/>
                </a:solidFill>
              </a:defRPr>
            </a:lvl1pPr>
          </a:lstStyle>
          <a:p>
            <a:fld id="{B0AF2983-4713-074B-8971-5C1C8A8E14E9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B13BBB8-92AF-C44A-88CC-1A77C24E049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880549" y="6331522"/>
            <a:ext cx="730880" cy="37722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387F496C-F28D-B847-9855-BC55EE80339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406641" y="6261808"/>
            <a:ext cx="1559700" cy="46213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6850D558-D0CF-2142-B42D-2AE48A15B9D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3567792" y="6389151"/>
            <a:ext cx="1282700" cy="2921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4223A667-37D2-F048-BA2B-45D1CDF19B2C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5155877" y="6408705"/>
            <a:ext cx="672565" cy="257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74604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52E2F3B-FA48-9B42-96C3-9E918E8D0E8E}"/>
              </a:ext>
            </a:extLst>
          </p:cNvPr>
          <p:cNvSpPr/>
          <p:nvPr userDrawn="1"/>
        </p:nvSpPr>
        <p:spPr>
          <a:xfrm flipH="1">
            <a:off x="6850742" y="-21771"/>
            <a:ext cx="5341257" cy="6042025"/>
          </a:xfrm>
          <a:prstGeom prst="rect">
            <a:avLst/>
          </a:prstGeom>
          <a:solidFill>
            <a:schemeClr val="bg1">
              <a:lumMod val="85000"/>
              <a:alpha val="6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6509C478-2979-044D-8BED-E21C05C2B6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2425" y="1108546"/>
            <a:ext cx="5065555" cy="1588157"/>
          </a:xfrm>
        </p:spPr>
        <p:txBody>
          <a:bodyPr anchor="t">
            <a:noAutofit/>
          </a:bodyPr>
          <a:lstStyle/>
          <a:p>
            <a:pPr>
              <a:lnSpc>
                <a:spcPct val="80000"/>
              </a:lnSpc>
            </a:pPr>
            <a:r>
              <a:rPr lang="en-US" sz="6600" dirty="0" err="1"/>
              <a:t>Firstname</a:t>
            </a:r>
            <a:r>
              <a:rPr lang="en-US" sz="6600" dirty="0"/>
              <a:t> </a:t>
            </a:r>
            <a:r>
              <a:rPr lang="en-US" sz="6600" dirty="0" err="1"/>
              <a:t>Lastname</a:t>
            </a:r>
            <a:endParaRPr lang="en-US" sz="66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3454EA4-E7DB-7A49-AE8D-7990F62ABE0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2959" y="4363012"/>
            <a:ext cx="556647" cy="556647"/>
          </a:xfrm>
          <a:prstGeom prst="rect">
            <a:avLst/>
          </a:prstGeom>
        </p:spPr>
      </p:pic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32B05DDB-22B2-634D-9DB4-3405A26E348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3139" y="2888797"/>
            <a:ext cx="5064125" cy="828439"/>
          </a:xfrm>
        </p:spPr>
        <p:txBody>
          <a:bodyPr/>
          <a:lstStyle>
            <a:lvl1pPr marL="0" indent="0">
              <a:buNone/>
              <a:defRPr>
                <a:solidFill>
                  <a:srgbClr val="039EDD"/>
                </a:solidFill>
              </a:defRPr>
            </a:lvl1pPr>
          </a:lstStyle>
          <a:p>
            <a:pPr lvl="0"/>
            <a:r>
              <a:rPr lang="en-US" dirty="0"/>
              <a:t>Title, Organization</a:t>
            </a:r>
          </a:p>
        </p:txBody>
      </p:sp>
      <p:sp>
        <p:nvSpPr>
          <p:cNvPr id="22" name="Text Placeholder 20">
            <a:extLst>
              <a:ext uri="{FF2B5EF4-FFF2-40B4-BE49-F238E27FC236}">
                <a16:creationId xmlns:a16="http://schemas.microsoft.com/office/drawing/2014/main" id="{7FB3B39F-35CC-FE44-A9B5-58533F889C4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18129" y="4378513"/>
            <a:ext cx="4219136" cy="828439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rgbClr val="039EDD"/>
                </a:solidFill>
              </a:defRPr>
            </a:lvl1pPr>
          </a:lstStyle>
          <a:p>
            <a:pPr lvl="0"/>
            <a:r>
              <a:rPr lang="en-US" dirty="0" err="1"/>
              <a:t>email@email.com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2B09FA8-EFE7-1E43-8BFE-DB29D1F8C50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228182" y="616966"/>
            <a:ext cx="4378237" cy="4712454"/>
          </a:xfrm>
          <a:prstGeom prst="rect">
            <a:avLst/>
          </a:prstGeom>
        </p:spPr>
      </p:pic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EF6BD210-0CF6-A544-9AEF-0BAB87B7E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85307" y="6311946"/>
            <a:ext cx="766979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39EDD"/>
                </a:solidFill>
              </a:defRPr>
            </a:lvl1pPr>
          </a:lstStyle>
          <a:p>
            <a:fld id="{B0AF2983-4713-074B-8971-5C1C8A8E14E9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BC2B047-52AB-BD41-AC92-6667CC9A9898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880549" y="6331522"/>
            <a:ext cx="730880" cy="37722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85836E1-18DC-C447-A9DE-B4FBD3012DEB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406641" y="6261808"/>
            <a:ext cx="1559700" cy="46213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BD38A4D-CE4C-1742-96A1-69BA9F357300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3567792" y="6389151"/>
            <a:ext cx="1282700" cy="2921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93456EC-9911-3549-B25F-59ED16F3B5B5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5155877" y="6408705"/>
            <a:ext cx="672565" cy="257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25549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53" r:id="rId1"/>
    <p:sldLayoutId id="2147483754" r:id="rId2"/>
    <p:sldLayoutId id="2147483756" r:id="rId3"/>
    <p:sldLayoutId id="2147483757" r:id="rId4"/>
    <p:sldLayoutId id="2147483758" r:id="rId5"/>
  </p:sldLayoutIdLst>
  <p:txStyles>
    <p:titleStyle>
      <a:lvl1pPr algn="l" rtl="0" eaLnBrk="0" fontAlgn="base" hangingPunct="0">
        <a:lnSpc>
          <a:spcPct val="145000"/>
        </a:lnSpc>
        <a:spcBef>
          <a:spcPct val="0"/>
        </a:spcBef>
        <a:spcAft>
          <a:spcPct val="0"/>
        </a:spcAft>
        <a:buClr>
          <a:srgbClr val="FFBB00"/>
        </a:buClr>
        <a:buFont typeface="Wingdings" pitchFamily="2" charset="2"/>
        <a:defRPr lang="en-GB" sz="2800" kern="1200">
          <a:solidFill>
            <a:schemeClr val="bg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ＭＳ Ｐゴシック" charset="0"/>
          <a:cs typeface="+mn-cs"/>
        </a:defRPr>
      </a:lvl1pPr>
      <a:lvl2pPr algn="l" rtl="0" eaLnBrk="0" fontAlgn="base" hangingPunct="0">
        <a:lnSpc>
          <a:spcPct val="145000"/>
        </a:lnSpc>
        <a:spcBef>
          <a:spcPct val="0"/>
        </a:spcBef>
        <a:spcAft>
          <a:spcPct val="0"/>
        </a:spcAft>
        <a:buClr>
          <a:srgbClr val="FFBB00"/>
        </a:buClr>
        <a:buFont typeface="Wingdings" pitchFamily="2" charset="2"/>
        <a:defRPr sz="2800">
          <a:solidFill>
            <a:schemeClr val="bg1"/>
          </a:solidFill>
          <a:latin typeface="Arial" charset="0"/>
          <a:ea typeface="ＭＳ Ｐゴシック" charset="0"/>
        </a:defRPr>
      </a:lvl2pPr>
      <a:lvl3pPr algn="l" rtl="0" eaLnBrk="0" fontAlgn="base" hangingPunct="0">
        <a:lnSpc>
          <a:spcPct val="145000"/>
        </a:lnSpc>
        <a:spcBef>
          <a:spcPct val="0"/>
        </a:spcBef>
        <a:spcAft>
          <a:spcPct val="0"/>
        </a:spcAft>
        <a:buClr>
          <a:srgbClr val="FFBB00"/>
        </a:buClr>
        <a:buFont typeface="Wingdings" pitchFamily="2" charset="2"/>
        <a:defRPr sz="2800">
          <a:solidFill>
            <a:schemeClr val="bg1"/>
          </a:solidFill>
          <a:latin typeface="Arial" charset="0"/>
          <a:ea typeface="ＭＳ Ｐゴシック" charset="0"/>
        </a:defRPr>
      </a:lvl3pPr>
      <a:lvl4pPr algn="l" rtl="0" eaLnBrk="0" fontAlgn="base" hangingPunct="0">
        <a:lnSpc>
          <a:spcPct val="145000"/>
        </a:lnSpc>
        <a:spcBef>
          <a:spcPct val="0"/>
        </a:spcBef>
        <a:spcAft>
          <a:spcPct val="0"/>
        </a:spcAft>
        <a:buClr>
          <a:srgbClr val="FFBB00"/>
        </a:buClr>
        <a:buFont typeface="Wingdings" pitchFamily="2" charset="2"/>
        <a:defRPr sz="2800">
          <a:solidFill>
            <a:schemeClr val="bg1"/>
          </a:solidFill>
          <a:latin typeface="Arial" charset="0"/>
          <a:ea typeface="ＭＳ Ｐゴシック" charset="0"/>
        </a:defRPr>
      </a:lvl4pPr>
      <a:lvl5pPr algn="l" rtl="0" eaLnBrk="0" fontAlgn="base" hangingPunct="0">
        <a:lnSpc>
          <a:spcPct val="145000"/>
        </a:lnSpc>
        <a:spcBef>
          <a:spcPct val="0"/>
        </a:spcBef>
        <a:spcAft>
          <a:spcPct val="0"/>
        </a:spcAft>
        <a:buClr>
          <a:srgbClr val="FFBB00"/>
        </a:buClr>
        <a:buFont typeface="Wingdings" pitchFamily="2" charset="2"/>
        <a:defRPr sz="2800">
          <a:solidFill>
            <a:schemeClr val="bg1"/>
          </a:solidFill>
          <a:latin typeface="Arial" charset="0"/>
          <a:ea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lnSpc>
          <a:spcPts val="2400"/>
        </a:lnSpc>
        <a:spcBef>
          <a:spcPts val="600"/>
        </a:spcBef>
        <a:spcAft>
          <a:spcPts val="600"/>
        </a:spcAft>
        <a:buClr>
          <a:srgbClr val="002277"/>
        </a:buClr>
        <a:buBlip>
          <a:blip r:embed="rId8"/>
        </a:buBlip>
        <a:defRPr lang="en-GB" sz="2000" kern="1200">
          <a:solidFill>
            <a:srgbClr val="002277"/>
          </a:solidFill>
          <a:latin typeface="+mn-lt"/>
          <a:ea typeface="ＭＳ Ｐゴシック" charset="0"/>
          <a:cs typeface="+mn-cs"/>
        </a:defRPr>
      </a:lvl1pPr>
      <a:lvl2pPr marL="742950" indent="-285750" algn="l" rtl="0" eaLnBrk="0" fontAlgn="base" hangingPunct="0">
        <a:lnSpc>
          <a:spcPts val="2400"/>
        </a:lnSpc>
        <a:spcBef>
          <a:spcPts val="600"/>
        </a:spcBef>
        <a:spcAft>
          <a:spcPts val="600"/>
        </a:spcAft>
        <a:buClr>
          <a:srgbClr val="002277"/>
        </a:buClr>
        <a:buBlip>
          <a:blip r:embed="rId8"/>
        </a:buBlip>
        <a:defRPr lang="en-GB" sz="2000" kern="1200">
          <a:solidFill>
            <a:srgbClr val="002277"/>
          </a:solidFill>
          <a:latin typeface="+mn-lt"/>
          <a:ea typeface="ＭＳ Ｐゴシック" charset="0"/>
          <a:cs typeface="+mn-cs"/>
        </a:defRPr>
      </a:lvl2pPr>
      <a:lvl3pPr marL="1143000" indent="-228600" algn="l" rtl="0" eaLnBrk="0" fontAlgn="base" hangingPunct="0">
        <a:lnSpc>
          <a:spcPts val="2400"/>
        </a:lnSpc>
        <a:spcBef>
          <a:spcPts val="600"/>
        </a:spcBef>
        <a:spcAft>
          <a:spcPts val="600"/>
        </a:spcAft>
        <a:buClr>
          <a:srgbClr val="002277"/>
        </a:buClr>
        <a:buBlip>
          <a:blip r:embed="rId8"/>
        </a:buBlip>
        <a:defRPr lang="en-GB" kern="1200">
          <a:solidFill>
            <a:srgbClr val="002277"/>
          </a:solidFill>
          <a:latin typeface="+mn-lt"/>
          <a:ea typeface="ＭＳ Ｐゴシック" charset="0"/>
          <a:cs typeface="+mn-cs"/>
        </a:defRPr>
      </a:lvl3pPr>
      <a:lvl4pPr marL="1600200" indent="-228600" algn="l" rtl="0" eaLnBrk="0" fontAlgn="base" hangingPunct="0">
        <a:lnSpc>
          <a:spcPts val="2400"/>
        </a:lnSpc>
        <a:spcBef>
          <a:spcPts val="600"/>
        </a:spcBef>
        <a:spcAft>
          <a:spcPts val="600"/>
        </a:spcAft>
        <a:buClr>
          <a:srgbClr val="002277"/>
        </a:buClr>
        <a:buBlip>
          <a:blip r:embed="rId8"/>
        </a:buBlip>
        <a:defRPr lang="en-GB" sz="1600" kern="1200">
          <a:solidFill>
            <a:srgbClr val="002277"/>
          </a:solidFill>
          <a:latin typeface="+mn-lt"/>
          <a:ea typeface="ＭＳ Ｐゴシック" charset="0"/>
          <a:cs typeface="+mn-cs"/>
        </a:defRPr>
      </a:lvl4pPr>
      <a:lvl5pPr marL="2057400" indent="-228600" algn="l" rtl="0" eaLnBrk="0" fontAlgn="base" hangingPunct="0">
        <a:lnSpc>
          <a:spcPts val="2400"/>
        </a:lnSpc>
        <a:spcBef>
          <a:spcPts val="600"/>
        </a:spcBef>
        <a:spcAft>
          <a:spcPts val="600"/>
        </a:spcAft>
        <a:buClr>
          <a:srgbClr val="002277"/>
        </a:buClr>
        <a:buBlip>
          <a:blip r:embed="rId8"/>
        </a:buBlip>
        <a:defRPr lang="en-GB" sz="1600" kern="1200">
          <a:solidFill>
            <a:srgbClr val="002277"/>
          </a:solidFill>
          <a:latin typeface="+mn-lt"/>
          <a:ea typeface="ＭＳ Ｐゴシック" charset="0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7">
            <a:extLst>
              <a:ext uri="{FF2B5EF4-FFF2-40B4-BE49-F238E27FC236}">
                <a16:creationId xmlns:a16="http://schemas.microsoft.com/office/drawing/2014/main" id="{10231928-E1A9-46E1-AA1A-CDE4EA6E4D5A}"/>
              </a:ext>
            </a:extLst>
          </p:cNvPr>
          <p:cNvSpPr txBox="1">
            <a:spLocks/>
          </p:cNvSpPr>
          <p:nvPr/>
        </p:nvSpPr>
        <p:spPr>
          <a:xfrm>
            <a:off x="5360566" y="2710225"/>
            <a:ext cx="5328592" cy="1328375"/>
          </a:xfrm>
          <a:prstGeom prst="rect">
            <a:avLst/>
          </a:prstGeom>
          <a:effectLst>
            <a:outerShdw blurRad="25400" dist="25400" dir="2700000" sx="2000" sy="2000" algn="ctr" rotWithShape="0">
              <a:srgbClr val="000000">
                <a:alpha val="43137"/>
              </a:srgbClr>
            </a:outerShdw>
          </a:effectLst>
        </p:spPr>
        <p:txBody>
          <a:bodyPr/>
          <a:lstStyle>
            <a:lvl1pPr marL="342900" indent="-342900" algn="l" rtl="0" eaLnBrk="0" fontAlgn="base" hangingPunct="0">
              <a:lnSpc>
                <a:spcPts val="2400"/>
              </a:lnSpc>
              <a:spcBef>
                <a:spcPts val="600"/>
              </a:spcBef>
              <a:spcAft>
                <a:spcPts val="600"/>
              </a:spcAft>
              <a:buClr>
                <a:srgbClr val="002277"/>
              </a:buClr>
              <a:buBlip>
                <a:blip r:embed="rId2"/>
              </a:buBlip>
              <a:defRPr lang="en-GB" sz="2000" kern="1200">
                <a:solidFill>
                  <a:srgbClr val="002277"/>
                </a:solidFill>
                <a:latin typeface="+mn-lt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lnSpc>
                <a:spcPts val="2400"/>
              </a:lnSpc>
              <a:spcBef>
                <a:spcPts val="600"/>
              </a:spcBef>
              <a:spcAft>
                <a:spcPts val="600"/>
              </a:spcAft>
              <a:buClr>
                <a:srgbClr val="002277"/>
              </a:buClr>
              <a:buBlip>
                <a:blip r:embed="rId2"/>
              </a:buBlip>
              <a:defRPr lang="en-GB" sz="2000" kern="1200">
                <a:solidFill>
                  <a:srgbClr val="002277"/>
                </a:solidFill>
                <a:latin typeface="+mn-lt"/>
                <a:ea typeface="ＭＳ Ｐゴシック" charset="0"/>
                <a:cs typeface="+mn-cs"/>
              </a:defRPr>
            </a:lvl2pPr>
            <a:lvl3pPr marL="1143000" indent="-228600" algn="l" rtl="0" eaLnBrk="0" fontAlgn="base" hangingPunct="0">
              <a:lnSpc>
                <a:spcPts val="2400"/>
              </a:lnSpc>
              <a:spcBef>
                <a:spcPts val="600"/>
              </a:spcBef>
              <a:spcAft>
                <a:spcPts val="600"/>
              </a:spcAft>
              <a:buClr>
                <a:srgbClr val="002277"/>
              </a:buClr>
              <a:buBlip>
                <a:blip r:embed="rId2"/>
              </a:buBlip>
              <a:defRPr lang="en-GB" kern="1200">
                <a:solidFill>
                  <a:srgbClr val="002277"/>
                </a:solidFill>
                <a:latin typeface="+mn-lt"/>
                <a:ea typeface="ＭＳ Ｐゴシック" charset="0"/>
                <a:cs typeface="+mn-cs"/>
              </a:defRPr>
            </a:lvl3pPr>
            <a:lvl4pPr marL="1600200" indent="-228600" algn="l" rtl="0" eaLnBrk="0" fontAlgn="base" hangingPunct="0">
              <a:lnSpc>
                <a:spcPts val="2400"/>
              </a:lnSpc>
              <a:spcBef>
                <a:spcPts val="600"/>
              </a:spcBef>
              <a:spcAft>
                <a:spcPts val="600"/>
              </a:spcAft>
              <a:buClr>
                <a:srgbClr val="002277"/>
              </a:buClr>
              <a:buBlip>
                <a:blip r:embed="rId2"/>
              </a:buBlip>
              <a:defRPr lang="en-GB" sz="1600" kern="1200">
                <a:solidFill>
                  <a:srgbClr val="002277"/>
                </a:solidFill>
                <a:latin typeface="+mn-lt"/>
                <a:ea typeface="ＭＳ Ｐゴシック" charset="0"/>
                <a:cs typeface="+mn-cs"/>
              </a:defRPr>
            </a:lvl4pPr>
            <a:lvl5pPr marL="2057400" indent="-228600" algn="l" rtl="0" eaLnBrk="0" fontAlgn="base" hangingPunct="0">
              <a:lnSpc>
                <a:spcPts val="2400"/>
              </a:lnSpc>
              <a:spcBef>
                <a:spcPts val="600"/>
              </a:spcBef>
              <a:spcAft>
                <a:spcPts val="600"/>
              </a:spcAft>
              <a:buClr>
                <a:srgbClr val="002277"/>
              </a:buClr>
              <a:buBlip>
                <a:blip r:embed="rId2"/>
              </a:buBlip>
              <a:defRPr lang="en-GB" sz="1600" kern="1200">
                <a:solidFill>
                  <a:srgbClr val="002277"/>
                </a:solidFill>
                <a:latin typeface="+mn-lt"/>
                <a:ea typeface="ＭＳ Ｐゴシック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endParaRPr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98B86D8-568A-410C-A413-65DC5A6ED123}"/>
              </a:ext>
            </a:extLst>
          </p:cNvPr>
          <p:cNvSpPr txBox="1">
            <a:spLocks/>
          </p:cNvSpPr>
          <p:nvPr/>
        </p:nvSpPr>
        <p:spPr>
          <a:xfrm>
            <a:off x="5074920" y="1353312"/>
            <a:ext cx="5760720" cy="548640"/>
          </a:xfrm>
          <a:prstGeom prst="rect">
            <a:avLst/>
          </a:prstGeom>
          <a:effectLst/>
        </p:spPr>
        <p:txBody>
          <a:bodyPr/>
          <a:lstStyle>
            <a:lvl1pPr algn="l" rtl="0" eaLnBrk="0" fontAlgn="base" hangingPunct="0">
              <a:lnSpc>
                <a:spcPct val="145000"/>
              </a:lnSpc>
              <a:spcBef>
                <a:spcPct val="0"/>
              </a:spcBef>
              <a:spcAft>
                <a:spcPct val="0"/>
              </a:spcAft>
              <a:buClr>
                <a:srgbClr val="FFBB00"/>
              </a:buClr>
              <a:buFont typeface="Wingdings" pitchFamily="2" charset="2"/>
              <a:defRPr lang="en-GB" sz="2800" kern="1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ＭＳ Ｐゴシック" charset="0"/>
                <a:cs typeface="+mn-cs"/>
              </a:defRPr>
            </a:lvl1pPr>
            <a:lvl2pPr algn="l" rtl="0" eaLnBrk="0" fontAlgn="base" hangingPunct="0">
              <a:lnSpc>
                <a:spcPct val="145000"/>
              </a:lnSpc>
              <a:spcBef>
                <a:spcPct val="0"/>
              </a:spcBef>
              <a:spcAft>
                <a:spcPct val="0"/>
              </a:spcAft>
              <a:buClr>
                <a:srgbClr val="FFBB00"/>
              </a:buClr>
              <a:buFont typeface="Wingdings" pitchFamily="2" charset="2"/>
              <a:defRPr sz="2800">
                <a:solidFill>
                  <a:schemeClr val="bg1"/>
                </a:solidFill>
                <a:latin typeface="Arial" charset="0"/>
                <a:ea typeface="ＭＳ Ｐゴシック" charset="0"/>
              </a:defRPr>
            </a:lvl2pPr>
            <a:lvl3pPr algn="l" rtl="0" eaLnBrk="0" fontAlgn="base" hangingPunct="0">
              <a:lnSpc>
                <a:spcPct val="145000"/>
              </a:lnSpc>
              <a:spcBef>
                <a:spcPct val="0"/>
              </a:spcBef>
              <a:spcAft>
                <a:spcPct val="0"/>
              </a:spcAft>
              <a:buClr>
                <a:srgbClr val="FFBB00"/>
              </a:buClr>
              <a:buFont typeface="Wingdings" pitchFamily="2" charset="2"/>
              <a:defRPr sz="2800">
                <a:solidFill>
                  <a:schemeClr val="bg1"/>
                </a:solidFill>
                <a:latin typeface="Arial" charset="0"/>
                <a:ea typeface="ＭＳ Ｐゴシック" charset="0"/>
              </a:defRPr>
            </a:lvl3pPr>
            <a:lvl4pPr algn="l" rtl="0" eaLnBrk="0" fontAlgn="base" hangingPunct="0">
              <a:lnSpc>
                <a:spcPct val="145000"/>
              </a:lnSpc>
              <a:spcBef>
                <a:spcPct val="0"/>
              </a:spcBef>
              <a:spcAft>
                <a:spcPct val="0"/>
              </a:spcAft>
              <a:buClr>
                <a:srgbClr val="FFBB00"/>
              </a:buClr>
              <a:buFont typeface="Wingdings" pitchFamily="2" charset="2"/>
              <a:defRPr sz="2800">
                <a:solidFill>
                  <a:schemeClr val="bg1"/>
                </a:solidFill>
                <a:latin typeface="Arial" charset="0"/>
                <a:ea typeface="ＭＳ Ｐゴシック" charset="0"/>
              </a:defRPr>
            </a:lvl4pPr>
            <a:lvl5pPr algn="l" rtl="0" eaLnBrk="0" fontAlgn="base" hangingPunct="0">
              <a:lnSpc>
                <a:spcPct val="145000"/>
              </a:lnSpc>
              <a:spcBef>
                <a:spcPct val="0"/>
              </a:spcBef>
              <a:spcAft>
                <a:spcPct val="0"/>
              </a:spcAft>
              <a:buClr>
                <a:srgbClr val="FFBB00"/>
              </a:buClr>
              <a:buFont typeface="Wingdings" pitchFamily="2" charset="2"/>
              <a:defRPr sz="2800">
                <a:solidFill>
                  <a:schemeClr val="bg1"/>
                </a:solidFill>
                <a:latin typeface="Arial" charset="0"/>
                <a:ea typeface="ＭＳ Ｐゴシック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sz="2400">
                <a:solidFill>
                  <a:srgbClr val="666666"/>
                </a:solidFill>
              </a:rPr>
              <a:t>Proposal Professional Impact Paper</a:t>
            </a:r>
          </a:p>
        </p:txBody>
      </p:sp>
      <p:sp>
        <p:nvSpPr>
          <p:cNvPr id="6" name="Title 3"/>
          <p:cNvSpPr txBox="1">
            <a:spLocks/>
          </p:cNvSpPr>
          <p:nvPr/>
        </p:nvSpPr>
        <p:spPr>
          <a:xfrm>
            <a:off x="5404557" y="2629023"/>
            <a:ext cx="5684217" cy="35240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>
            <a:lvl1pPr algn="l" rtl="0" eaLnBrk="0" fontAlgn="base" hangingPunct="0">
              <a:lnSpc>
                <a:spcPct val="145000"/>
              </a:lnSpc>
              <a:spcBef>
                <a:spcPct val="0"/>
              </a:spcBef>
              <a:spcAft>
                <a:spcPct val="0"/>
              </a:spcAft>
              <a:buClr>
                <a:srgbClr val="FFBB00"/>
              </a:buClr>
              <a:buFont typeface="Wingdings" pitchFamily="2" charset="2"/>
              <a:buNone/>
              <a:defRPr lang="en-GB" sz="4000" b="0" i="0" kern="1200" spc="-150" baseline="0">
                <a:solidFill>
                  <a:schemeClr val="bg1"/>
                </a:solidFill>
                <a:effectLst/>
                <a:latin typeface="Calibri"/>
                <a:ea typeface="+mn-ea"/>
                <a:cs typeface="Calibri"/>
              </a:defRPr>
            </a:lvl1pPr>
            <a:lvl2pPr algn="l" rtl="0" eaLnBrk="0" fontAlgn="base" hangingPunct="0">
              <a:lnSpc>
                <a:spcPct val="145000"/>
              </a:lnSpc>
              <a:spcBef>
                <a:spcPct val="0"/>
              </a:spcBef>
              <a:spcAft>
                <a:spcPct val="0"/>
              </a:spcAft>
              <a:buClr>
                <a:srgbClr val="FFBB00"/>
              </a:buClr>
              <a:buFont typeface="Wingdings" pitchFamily="2" charset="2"/>
              <a:defRPr sz="2800">
                <a:solidFill>
                  <a:schemeClr val="bg1"/>
                </a:solidFill>
                <a:latin typeface="Arial" charset="0"/>
                <a:ea typeface="ＭＳ Ｐゴシック" charset="0"/>
              </a:defRPr>
            </a:lvl2pPr>
            <a:lvl3pPr algn="l" rtl="0" eaLnBrk="0" fontAlgn="base" hangingPunct="0">
              <a:lnSpc>
                <a:spcPct val="145000"/>
              </a:lnSpc>
              <a:spcBef>
                <a:spcPct val="0"/>
              </a:spcBef>
              <a:spcAft>
                <a:spcPct val="0"/>
              </a:spcAft>
              <a:buClr>
                <a:srgbClr val="FFBB00"/>
              </a:buClr>
              <a:buFont typeface="Wingdings" pitchFamily="2" charset="2"/>
              <a:defRPr sz="2800">
                <a:solidFill>
                  <a:schemeClr val="bg1"/>
                </a:solidFill>
                <a:latin typeface="Arial" charset="0"/>
                <a:ea typeface="ＭＳ Ｐゴシック" charset="0"/>
              </a:defRPr>
            </a:lvl3pPr>
            <a:lvl4pPr algn="l" rtl="0" eaLnBrk="0" fontAlgn="base" hangingPunct="0">
              <a:lnSpc>
                <a:spcPct val="145000"/>
              </a:lnSpc>
              <a:spcBef>
                <a:spcPct val="0"/>
              </a:spcBef>
              <a:spcAft>
                <a:spcPct val="0"/>
              </a:spcAft>
              <a:buClr>
                <a:srgbClr val="FFBB00"/>
              </a:buClr>
              <a:buFont typeface="Wingdings" pitchFamily="2" charset="2"/>
              <a:defRPr sz="2800">
                <a:solidFill>
                  <a:schemeClr val="bg1"/>
                </a:solidFill>
                <a:latin typeface="Arial" charset="0"/>
                <a:ea typeface="ＭＳ Ｐゴシック" charset="0"/>
              </a:defRPr>
            </a:lvl4pPr>
            <a:lvl5pPr algn="l" rtl="0" eaLnBrk="0" fontAlgn="base" hangingPunct="0">
              <a:lnSpc>
                <a:spcPct val="145000"/>
              </a:lnSpc>
              <a:spcBef>
                <a:spcPct val="0"/>
              </a:spcBef>
              <a:spcAft>
                <a:spcPct val="0"/>
              </a:spcAft>
              <a:buClr>
                <a:srgbClr val="FFBB00"/>
              </a:buClr>
              <a:buFont typeface="Wingdings" pitchFamily="2" charset="2"/>
              <a:defRPr sz="2800">
                <a:solidFill>
                  <a:schemeClr val="bg1"/>
                </a:solidFill>
                <a:latin typeface="Arial" charset="0"/>
                <a:ea typeface="ＭＳ Ｐゴシック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102352" y="1993392"/>
            <a:ext cx="5486400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 dirty="0">
                <a:solidFill>
                  <a:srgbClr val="1F4E79"/>
                </a:solidFill>
              </a:rPr>
              <a:t>Detroit</a:t>
            </a:r>
            <a:r>
              <a:rPr lang="en-US" sz="1800" b="0" i="0" dirty="0">
                <a:solidFill>
                  <a:srgbClr val="1F4E79"/>
                </a:solidFill>
              </a:rPr>
              <a:t> Publi</a:t>
            </a:r>
            <a:r>
              <a:rPr lang="en-US" dirty="0">
                <a:solidFill>
                  <a:srgbClr val="1F4E79"/>
                </a:solidFill>
              </a:rPr>
              <a:t>c Schools</a:t>
            </a:r>
            <a:r>
              <a:rPr sz="1800" b="0" i="0" dirty="0">
                <a:solidFill>
                  <a:srgbClr val="1F4E79"/>
                </a:solidFill>
              </a:rPr>
              <a:t>/RNA Recompete Bid Rescue and Reuse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3154680"/>
            <a:ext cx="49377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F1F1F"/>
                </a:solidFill>
              </a:rPr>
              <a:t>Candidate Name: Timothy Semenza
APMP Candidate Number: 28366
Timeframe: November 2025 to January 2026</a:t>
            </a:r>
          </a:p>
        </p:txBody>
      </p:sp>
    </p:spTree>
    <p:extLst>
      <p:ext uri="{BB962C8B-B14F-4D97-AF65-F5344CB8AC3E}">
        <p14:creationId xmlns:p14="http://schemas.microsoft.com/office/powerpoint/2010/main" val="4143948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B83FC-53AF-4DD6-86E2-69B7241717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206561"/>
            <a:ext cx="10972800" cy="1143000"/>
          </a:xfrm>
        </p:spPr>
        <p:txBody>
          <a:bodyPr/>
          <a:lstStyle/>
          <a:p>
            <a:r>
              <a:t>Summary of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353312"/>
            <a:ext cx="9372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 dirty="0">
                <a:solidFill>
                  <a:srgbClr val="1F1F1F"/>
                </a:solidFill>
              </a:rPr>
              <a:t>In 20 working days, I took control of an unprepared $85M Detroit Public Schools recompete, coordinated about 15 stakeholders, reached 2 finalist presentations, and turned the work into reusable RNA school-bid infrastructure.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9992124"/>
              </p:ext>
            </p:extLst>
          </p:nvPr>
        </p:nvGraphicFramePr>
        <p:xfrm>
          <a:off x="640080" y="1828800"/>
          <a:ext cx="10972800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49807">
                <a:tc>
                  <a:txBody>
                    <a:bodyPr/>
                    <a:lstStyle/>
                    <a:p>
                      <a:r>
                        <a:rPr sz="1200" b="1" dirty="0">
                          <a:solidFill>
                            <a:srgbClr val="FFFFFF"/>
                          </a:solidFill>
                        </a:rPr>
                        <a:t>Category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Evidence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9807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Strategic importance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Incumbent work represented more than 25% of RNA's book of business and expanded from about $14M current scope to an $85M target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9807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Leadership 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dirty="0">
                          <a:solidFill>
                            <a:srgbClr val="000000"/>
                          </a:solidFill>
                        </a:rPr>
                        <a:t>I led 100% of coordination and about 60% of drafting across executives, pricing, operations, engineering, 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account management</a:t>
                      </a:r>
                      <a:r>
                        <a:rPr sz="1100" dirty="0">
                          <a:solidFill>
                            <a:srgbClr val="000000"/>
                          </a:solidFill>
                        </a:rPr>
                        <a:t>, and an external consultant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9807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Immediate outcome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Compliant submission completed inside about 20 working days and advanced to 2 finalist presentations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9811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Sustained outcome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dirty="0">
                          <a:solidFill>
                            <a:srgbClr val="000000"/>
                          </a:solidFill>
                        </a:rPr>
                        <a:t>Detroit-developed content and templates were reused on about 12 later school bids, including about 6 active at once immediately afterward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6236208"/>
            <a:ext cx="10698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1">
                <a:solidFill>
                  <a:srgbClr val="595959"/>
                </a:solidFill>
              </a:rPr>
              <a:t>A high-risk recompete became a reusable school-bid operating model within one compressed pursuit cycle.</a:t>
            </a:r>
          </a:p>
        </p:txBody>
      </p:sp>
    </p:spTree>
    <p:extLst>
      <p:ext uri="{BB962C8B-B14F-4D97-AF65-F5344CB8AC3E}">
        <p14:creationId xmlns:p14="http://schemas.microsoft.com/office/powerpoint/2010/main" val="16107634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197768"/>
            <a:ext cx="10972800" cy="656474"/>
          </a:xfrm>
          <a:effectLst/>
        </p:spPr>
        <p:txBody>
          <a:bodyPr/>
          <a:lstStyle/>
          <a:p>
            <a:r>
              <a:t>The Situation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353312"/>
            <a:ext cx="9372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400">
                <a:solidFill>
                  <a:srgbClr val="1F1F1F"/>
                </a:solidFill>
                <a:effectLst/>
                <a:latin typeface="Arial" panose="020B0604020202020204" pitchFamily="34" charset="0"/>
              </a:rPr>
              <a:t>RNA encountered a Detroit Public Schools recompete without a clear capture plan, minimal executive involvement in the RFP, and a late external consultant, despite the incumbent work making up over 25% of its business.</a:t>
            </a:r>
            <a:endParaRPr sz="1400" b="0" i="0" dirty="0">
              <a:solidFill>
                <a:srgbClr val="1F1F1F"/>
              </a:solidFill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0497270"/>
              </p:ext>
            </p:extLst>
          </p:nvPr>
        </p:nvGraphicFramePr>
        <p:xfrm>
          <a:off x="640080" y="1828800"/>
          <a:ext cx="10972800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37259">
                <a:tc>
                  <a:txBody>
                    <a:bodyPr/>
                    <a:lstStyle/>
                    <a:p>
                      <a:r>
                        <a:rPr sz="1200" b="1" dirty="0">
                          <a:solidFill>
                            <a:srgbClr val="FFFFFF"/>
                          </a:solidFill>
                        </a:rPr>
                        <a:t>Stakeholder Group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dirty="0">
                          <a:solidFill>
                            <a:srgbClr val="FFFFFF"/>
                          </a:solidFill>
                        </a:rPr>
                        <a:t>Who Was Involved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Why They Mattered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725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Senior leaders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dirty="0">
                          <a:solidFill>
                            <a:srgbClr val="000000"/>
                          </a:solidFill>
                        </a:rPr>
                        <a:t>Victoria 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Arinze (CRO)</a:t>
                      </a:r>
                    </a:p>
                    <a:p>
                      <a:r>
                        <a:rPr sz="1100" dirty="0">
                          <a:solidFill>
                            <a:srgbClr val="000000"/>
                          </a:solidFill>
                        </a:rPr>
                        <a:t>Mufid Far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ha (CEO)</a:t>
                      </a:r>
                    </a:p>
                    <a:p>
                      <a:r>
                        <a:rPr sz="1100" dirty="0">
                          <a:solidFill>
                            <a:srgbClr val="000000"/>
                          </a:solidFill>
                        </a:rPr>
                        <a:t>Mohamm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a</a:t>
                      </a:r>
                      <a:r>
                        <a:rPr sz="1100" dirty="0">
                          <a:solidFill>
                            <a:srgbClr val="000000"/>
                          </a:solidFill>
                        </a:rPr>
                        <a:t>d 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Mufid (COO)</a:t>
                      </a:r>
                    </a:p>
                    <a:p>
                      <a:r>
                        <a:rPr sz="1100" dirty="0">
                          <a:solidFill>
                            <a:srgbClr val="000000"/>
                          </a:solidFill>
                        </a:rPr>
                        <a:t>Brant Miller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 (EVP, Ops)</a:t>
                      </a:r>
                      <a:endParaRPr sz="1100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dirty="0">
                          <a:solidFill>
                            <a:srgbClr val="000000"/>
                          </a:solidFill>
                        </a:rPr>
                        <a:t>Set direction, made decisions, and represented RNA in finalist activity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37259">
                <a:tc>
                  <a:txBody>
                    <a:bodyPr/>
                    <a:lstStyle/>
                    <a:p>
                      <a:r>
                        <a:rPr sz="1100" dirty="0">
                          <a:solidFill>
                            <a:srgbClr val="000000"/>
                          </a:solidFill>
                        </a:rPr>
                        <a:t>Core delivery team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dirty="0">
                          <a:solidFill>
                            <a:srgbClr val="000000"/>
                          </a:solidFill>
                        </a:rPr>
                        <a:t>Timothy Semenza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 (Senior Prop. Manager)</a:t>
                      </a:r>
                    </a:p>
                    <a:p>
                      <a:r>
                        <a:rPr sz="1100" dirty="0">
                          <a:solidFill>
                            <a:srgbClr val="000000"/>
                          </a:solidFill>
                        </a:rPr>
                        <a:t>Chris 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Arlen (Proposal Consultant)</a:t>
                      </a:r>
                      <a:endParaRPr sz="1100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dirty="0">
                          <a:solidFill>
                            <a:srgbClr val="000000"/>
                          </a:solidFill>
                        </a:rPr>
                        <a:t>Coordinated the pursuit and drafted the response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37262">
                <a:tc>
                  <a:txBody>
                    <a:bodyPr/>
                    <a:lstStyle/>
                    <a:p>
                      <a:r>
                        <a:rPr sz="1100" dirty="0">
                          <a:solidFill>
                            <a:srgbClr val="000000"/>
                          </a:solidFill>
                        </a:rPr>
                        <a:t>Solution contributors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dirty="0">
                          <a:solidFill>
                            <a:srgbClr val="000000"/>
                          </a:solidFill>
                        </a:rPr>
                        <a:t>Ann Couzins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 (Senior Pricing Manager)</a:t>
                      </a:r>
                    </a:p>
                    <a:p>
                      <a:r>
                        <a:rPr sz="1100" dirty="0">
                          <a:solidFill>
                            <a:srgbClr val="000000"/>
                          </a:solidFill>
                        </a:rPr>
                        <a:t>Cheryl Hol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ley-</a:t>
                      </a:r>
                      <a:r>
                        <a:rPr sz="1100" dirty="0">
                          <a:solidFill>
                            <a:srgbClr val="000000"/>
                          </a:solidFill>
                        </a:rPr>
                        <a:t>Stant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on (Account Manager) </a:t>
                      </a:r>
                    </a:p>
                    <a:p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F</a:t>
                      </a:r>
                      <a:r>
                        <a:rPr sz="1100" dirty="0">
                          <a:solidFill>
                            <a:srgbClr val="000000"/>
                          </a:solidFill>
                        </a:rPr>
                        <a:t>inance, operations,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dirty="0">
                          <a:solidFill>
                            <a:srgbClr val="000000"/>
                          </a:solidFill>
                        </a:rPr>
                        <a:t>Supplied pricing, staffing, operational, and engineering inputs needed for a credible response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6236208"/>
            <a:ext cx="10698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1">
                <a:solidFill>
                  <a:srgbClr val="595959"/>
                </a:solidFill>
              </a:rPr>
              <a:t>Proposal governance had to replace missing capture discipline before the team could compete credibly.</a:t>
            </a:r>
          </a:p>
        </p:txBody>
      </p:sp>
    </p:spTree>
    <p:extLst>
      <p:ext uri="{BB962C8B-B14F-4D97-AF65-F5344CB8AC3E}">
        <p14:creationId xmlns:p14="http://schemas.microsoft.com/office/powerpoint/2010/main" val="3893972349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Stakeholder Engagement and Communication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353312"/>
            <a:ext cx="9372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F1F1F"/>
                </a:solidFill>
              </a:rPr>
              <a:t>Direct engagement with senior and additional stakeholders was critical because the organization had limited preparation and I had to lead without formal authority.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1859362"/>
              </p:ext>
            </p:extLst>
          </p:nvPr>
        </p:nvGraphicFramePr>
        <p:xfrm>
          <a:off x="640080" y="1828800"/>
          <a:ext cx="10972800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37259">
                <a:tc>
                  <a:txBody>
                    <a:bodyPr/>
                    <a:lstStyle/>
                    <a:p>
                      <a:r>
                        <a:rPr sz="1200" b="1" dirty="0">
                          <a:solidFill>
                            <a:srgbClr val="FFFFFF"/>
                          </a:solidFill>
                        </a:rPr>
                        <a:t>Stakeholder Group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How I Engaged Them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Evidence of Leadership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725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Senior leaders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Frequent working sessions, at peak as much as twice daily, plus live decision and review sessions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dirty="0">
                          <a:solidFill>
                            <a:srgbClr val="000000"/>
                          </a:solidFill>
                        </a:rPr>
                        <a:t>I set direction, aligned next actions, and led the 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live, in-person</a:t>
                      </a:r>
                      <a:r>
                        <a:rPr sz="1100" dirty="0">
                          <a:solidFill>
                            <a:srgbClr val="000000"/>
                          </a:solidFill>
                        </a:rPr>
                        <a:t> finalist strategy discussion under pressure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3725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Pricing and solution contributors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Live interviews, pricing and staffing mediation, compliance tracking, and focused review of bid-specific changes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I translated pricing and operational discussion into compliant narrative and kept disputed issues from stalling the bid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3726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Consultant and support team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Shared company context, managed drafting split, and maintained SharePoint submission 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dirty="0">
                          <a:solidFill>
                            <a:srgbClr val="000000"/>
                          </a:solidFill>
                        </a:rPr>
                        <a:t>I remained the single point of coordination while enabling useful support from Chris 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Arlen</a:t>
                      </a:r>
                      <a:endParaRPr sz="1100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6236208"/>
            <a:ext cx="10698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1">
                <a:solidFill>
                  <a:srgbClr val="595959"/>
                </a:solidFill>
              </a:rPr>
              <a:t>Direct engagement and communication created alignment where authority alone would not.</a:t>
            </a:r>
          </a:p>
        </p:txBody>
      </p:sp>
    </p:spTree>
    <p:extLst>
      <p:ext uri="{BB962C8B-B14F-4D97-AF65-F5344CB8AC3E}">
        <p14:creationId xmlns:p14="http://schemas.microsoft.com/office/powerpoint/2010/main" val="3507970390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B83FC-53AF-4DD6-86E2-69B7241717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206561"/>
            <a:ext cx="10972800" cy="1143000"/>
          </a:xfrm>
        </p:spPr>
        <p:txBody>
          <a:bodyPr/>
          <a:lstStyle/>
          <a:p>
            <a:r>
              <a:t>Tasks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353312"/>
            <a:ext cx="9372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 dirty="0">
                <a:solidFill>
                  <a:srgbClr val="1F1F1F"/>
                </a:solidFill>
              </a:rPr>
              <a:t>I stabilized the pursuit through five leadership tasks that gave the team structure, accountability, and decision discipline.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40320"/>
              </p:ext>
            </p:extLst>
          </p:nvPr>
        </p:nvGraphicFramePr>
        <p:xfrm>
          <a:off x="640080" y="1828800"/>
          <a:ext cx="10972800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4839">
                <a:tc>
                  <a:txBody>
                    <a:bodyPr/>
                    <a:lstStyle/>
                    <a:p>
                      <a:r>
                        <a:rPr sz="1200" b="1" dirty="0">
                          <a:solidFill>
                            <a:srgbClr val="FFFFFF"/>
                          </a:solidFill>
                        </a:rPr>
                        <a:t>Task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Why It Was Necessary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Main Stakeholders Impacted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4839">
                <a:tc>
                  <a:txBody>
                    <a:bodyPr/>
                    <a:lstStyle/>
                    <a:p>
                      <a:r>
                        <a:rPr sz="1100" dirty="0">
                          <a:solidFill>
                            <a:srgbClr val="000000"/>
                          </a:solidFill>
                        </a:rPr>
                        <a:t>Establish bid governance and schedule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No usable capture plan or agreed review cadence existed at release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All senior stakeholders and the external consultant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483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Develop evaluator and win-theme strategy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The team needed a customer-centered strategy instead of an internally driven narrative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dirty="0">
                          <a:solidFill>
                            <a:srgbClr val="000000"/>
                          </a:solidFill>
                        </a:rPr>
                        <a:t>RNA executives, 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Account Management</a:t>
                      </a:r>
                      <a:r>
                        <a:rPr sz="1100" dirty="0">
                          <a:solidFill>
                            <a:srgbClr val="000000"/>
                          </a:solidFill>
                        </a:rPr>
                        <a:t>, and presentation speakers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483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Elicit and structure SME 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Live operational knowledge had to be turned into compliant proposal content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dirty="0">
                          <a:solidFill>
                            <a:srgbClr val="000000"/>
                          </a:solidFill>
                        </a:rPr>
                        <a:t>Pricing, operations, engineering, and 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Account Management</a:t>
                      </a:r>
                      <a:endParaRPr sz="1100" dirty="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483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Draft and quality-control content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The written response and finalist materials had to stay aligned and submission-ready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Consultant, executives, reviewers, and evaluators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484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Lead review and submission readiness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Readiness could not be left to last-minute judgment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Executive reviewers, consultant, and submission support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6236208"/>
            <a:ext cx="10698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1">
                <a:solidFill>
                  <a:srgbClr val="595959"/>
                </a:solidFill>
              </a:rPr>
              <a:t>Clear task ownership turned a fragmented effort into a manageable response.</a:t>
            </a:r>
          </a:p>
        </p:txBody>
      </p:sp>
    </p:spTree>
    <p:extLst>
      <p:ext uri="{BB962C8B-B14F-4D97-AF65-F5344CB8AC3E}">
        <p14:creationId xmlns:p14="http://schemas.microsoft.com/office/powerpoint/2010/main" val="6309529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B83FC-53AF-4DD6-86E2-69B724171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353312"/>
            <a:ext cx="9372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F1F1F"/>
                </a:solidFill>
              </a:rPr>
              <a:t>I used a milestone-led operating cadence to keep the pursuit on track from RFP receipt through two finalist rounds.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828800"/>
          <a:ext cx="10972800" cy="36941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Checkpoint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Approx Timing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What Had To Be Complete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How I Controlled It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</a:rPr>
                        <a:t>RFP receipt and planning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</a:rPr>
                        <a:t>Day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</a:rPr>
                        <a:t>Automated schedule, project plan, and working cadence issued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</a:rPr>
                        <a:t>Power Automate schedule logic and immediate visibility of milestones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</a:rPr>
                        <a:t>Kickoff and evaluator strategy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</a:rPr>
                        <a:t>Days 1 to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</a:rPr>
                        <a:t>Leadership aligned on approach, evaluator research framed, responsibilities assigned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</a:rPr>
                        <a:t>Live kickoff plus customer-focused positioning before drafting expanded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</a:rPr>
                        <a:t>Compliance matrix and SME 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</a:rPr>
                        <a:t>Days 2 to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</a:rPr>
                        <a:t>Compliance matrix built and core pricing, operations, and account insight captured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</a:rPr>
                        <a:t>Interviews, Teams follow-up, and tracked open items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</a:rPr>
                        <a:t>Draft build and review cycle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</a:rPr>
                        <a:t>Days 6 to 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</a:rPr>
                        <a:t>Sections drafted, consultant integrated, QA performed, and pink/red-style reviews completed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</a:rPr>
                        <a:t>Read-aloud QA, narrative control, and recurring working sessions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</a:rPr>
                        <a:t>Executive review and submission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</a:rPr>
                        <a:t>Days 13 to 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</a:rPr>
                        <a:t>Executive review package, final files, SharePoint structure, and compliant submission ready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</a:rPr>
                        <a:t>Readiness checks, clear folder structure, and planned handoff coverage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</a:rPr>
                        <a:t>Finalist rounds 1 and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</a:rPr>
                        <a:t>Post-submission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</a:rPr>
                        <a:t>Speaker notes, slide messaging, likely questions, and live strategy alignment completed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</a:rPr>
                        <a:t>Tampa war room, action plans, and repeated coordination under short notice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41248" y="5504688"/>
            <a:ext cx="10149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1F3663"/>
                </a:solidFill>
              </a:defRPr>
            </a:pPr>
            <a:r>
              <a:t>Cadence peaked at twice daily with senior leaders, while AI and automation accelerated planning, compliance extraction, and draft production inside a candidate-led process.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236208"/>
            <a:ext cx="10698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1">
                <a:solidFill>
                  <a:srgbClr val="595959"/>
                </a:solidFill>
              </a:rPr>
              <a:t>Automated planning and recurring governance made a short public-sector timeline executable.</a:t>
            </a:r>
          </a:p>
        </p:txBody>
      </p:sp>
    </p:spTree>
    <p:extLst>
      <p:ext uri="{BB962C8B-B14F-4D97-AF65-F5344CB8AC3E}">
        <p14:creationId xmlns:p14="http://schemas.microsoft.com/office/powerpoint/2010/main" val="6311420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353312"/>
            <a:ext cx="9372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F1F1F"/>
                </a:solidFill>
              </a:rPr>
              <a:t>I measured the impact through finalist progression, reuse, draft speed, and executive review effort rather than through final award visibility.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828800"/>
          <a:ext cx="109728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94944">
                <a:tc>
                  <a:txBody>
                    <a:bodyPr/>
                    <a:lstStyle/>
                    <a:p>
                      <a:r>
                        <a:rPr sz="11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Baseline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Result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How Measured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r>
                        <a:rPr sz="1019">
                          <a:solidFill>
                            <a:srgbClr val="000000"/>
                          </a:solidFill>
                        </a:rPr>
                        <a:t>Finalist progression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19">
                          <a:solidFill>
                            <a:srgbClr val="000000"/>
                          </a:solidFill>
                        </a:rPr>
                        <a:t>No assured advancement from an unprepared start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19">
                          <a:solidFill>
                            <a:srgbClr val="000000"/>
                          </a:solidFill>
                        </a:rPr>
                        <a:t>The bid reached 2 finalist presentations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19">
                          <a:solidFill>
                            <a:srgbClr val="000000"/>
                          </a:solidFill>
                        </a:rPr>
                        <a:t>Invitation to two finalist rounds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r>
                        <a:rPr sz="1019">
                          <a:solidFill>
                            <a:srgbClr val="000000"/>
                          </a:solidFill>
                        </a:rPr>
                        <a:t>Reusable bid 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19">
                          <a:solidFill>
                            <a:srgbClr val="000000"/>
                          </a:solidFill>
                        </a:rPr>
                        <a:t>Each school bid rebuilt structure and messaging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19" dirty="0">
                          <a:solidFill>
                            <a:srgbClr val="000000"/>
                          </a:solidFill>
                        </a:rPr>
                        <a:t>About 12 later RNA school bids reused Detroit assets, with about 6 active at once immediately afterward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19" dirty="0">
                          <a:solidFill>
                            <a:srgbClr val="000000"/>
                          </a:solidFill>
                        </a:rPr>
                        <a:t>Observed live reuse across later school-bid production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r>
                        <a:rPr sz="1019">
                          <a:solidFill>
                            <a:srgbClr val="000000"/>
                          </a:solidFill>
                        </a:rPr>
                        <a:t>First-draft speed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19">
                          <a:solidFill>
                            <a:srgbClr val="000000"/>
                          </a:solidFill>
                        </a:rPr>
                        <a:t>About 4 hours to reach a first compliant draft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19">
                          <a:solidFill>
                            <a:srgbClr val="000000"/>
                          </a:solidFill>
                        </a:rPr>
                        <a:t>An about 80% draft could be reached in roughly 5 minutes before tailoring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19" dirty="0">
                          <a:solidFill>
                            <a:srgbClr val="000000"/>
                          </a:solidFill>
                        </a:rPr>
                        <a:t>Compared live prep effort on later similar school bids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r>
                        <a:rPr sz="1019">
                          <a:solidFill>
                            <a:srgbClr val="000000"/>
                          </a:solidFill>
                        </a:rPr>
                        <a:t>Executive review burden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19">
                          <a:solidFill>
                            <a:srgbClr val="000000"/>
                          </a:solidFill>
                        </a:rPr>
                        <a:t>Leaders saw unfamiliar structure and needed repeated writing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19" dirty="0">
                          <a:solidFill>
                            <a:srgbClr val="000000"/>
                          </a:solidFill>
                        </a:rPr>
                        <a:t>Later bids usually needed only 1 executive review focused on solution and pricing differences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19">
                          <a:solidFill>
                            <a:srgbClr val="000000"/>
                          </a:solidFill>
                        </a:rPr>
                        <a:t>Observed post-Detroit review pattern with executives and pricing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41248" y="5413248"/>
            <a:ext cx="101498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80">
                <a:solidFill>
                  <a:srgbClr val="1F3663"/>
                </a:solidFill>
              </a:defRPr>
            </a:pPr>
            <a:r>
              <a:rPr dirty="0"/>
              <a:t>Later school bids shifted toward about 3 hours of pricing and solutioning meetings plus light administrative completion rather than rebuilding the narrative base.</a:t>
            </a:r>
          </a:p>
          <a:p>
            <a:pPr>
              <a:defRPr sz="1080">
                <a:solidFill>
                  <a:srgbClr val="1F3663"/>
                </a:solidFill>
              </a:defRPr>
            </a:pPr>
            <a:r>
              <a:rPr dirty="0"/>
              <a:t>Final award result is unknown, so the claim is anchored in finalist progression, reuse, speed, review effort, and Ann-corroborated turnaround patterns.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236208"/>
            <a:ext cx="10698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1">
                <a:solidFill>
                  <a:srgbClr val="595959"/>
                </a:solidFill>
              </a:rPr>
              <a:t>Even without final award visibility, the pursuit produced measurable reuse, speed, credibility, and submission outcomes.</a:t>
            </a:r>
          </a:p>
        </p:txBody>
      </p:sp>
    </p:spTree>
    <p:extLst>
      <p:ext uri="{BB962C8B-B14F-4D97-AF65-F5344CB8AC3E}">
        <p14:creationId xmlns:p14="http://schemas.microsoft.com/office/powerpoint/2010/main" val="2178006390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CPD Plan for the Next 24 Months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353312"/>
            <a:ext cx="9372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F1F1F"/>
                </a:solidFill>
              </a:rPr>
              <a:t>My next 24 months of development are focused on deepening capture capability, formalizing AI-enabled proposal delivery, and contributing more visibly to the profession.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828800"/>
          <a:ext cx="10972800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4839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Timing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Activity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Why It Matters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483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March to April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Finish and live-smoke-test my internally developed capture-to-proposal application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Validate a purpose-built operating system for capture and proposal work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483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April to May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Actively build government-capture capability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Expand facilities-services advisory work further upstream in the selling cycle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483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March to June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Earn the APMP AI Micro-Certification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Align AI-enabled practice with the official APMP credential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483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March to September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Increase involvement in the APMP National Capital Area chapter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Contribute more directly through events, speaking, and board-oriented service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484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By March 2027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Stand up a turnkey AI-enabled consulting model and develop toward a BPC 2027 webinar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Demonstrate a practical end-to-end AI operating model for capture and proposal management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6236208"/>
            <a:ext cx="10698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1">
                <a:solidFill>
                  <a:srgbClr val="595959"/>
                </a:solidFill>
              </a:rPr>
              <a:t>The CPD plan is tied directly to service expansion, standards alignment, and visible contribution to the profession.</a:t>
            </a:r>
          </a:p>
        </p:txBody>
      </p:sp>
    </p:spTree>
    <p:extLst>
      <p:ext uri="{BB962C8B-B14F-4D97-AF65-F5344CB8AC3E}">
        <p14:creationId xmlns:p14="http://schemas.microsoft.com/office/powerpoint/2010/main" val="2697202139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CPD Application and Knowledge Sharing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353312"/>
            <a:ext cx="9372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1F1F1F"/>
                </a:solidFill>
              </a:rPr>
              <a:t>I intend to convert learning into reusable capability for clients and into practical advocacy for the proposal profession.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828800"/>
          <a:ext cx="109728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521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Learning Area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How I Will Apply It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How I Will Share It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Government capture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Move clients upstream from post-RFP response into earlier capture-stage planning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Publish insight articles on the Boss Key LLC website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AI-enabled proposal operations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Use repo-based conversational AI with human judgment in the loop to accelerate compliant delivery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Share methods with APMP chapter peers and through online presentations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Community leadership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Increase contribution to the NCA APMP chapter through events and speaking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Support chapter events and develop conference-level content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Standards-led innovation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Anchor experimentation in recognized APMP good practice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</a:rPr>
                        <a:t>Translate lessons from the APMP AI Micro-Certification into client delivery and peer discussions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41248" y="5102352"/>
            <a:ext cx="101498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1F3663"/>
                </a:solidFill>
              </a:defRPr>
            </a:pPr>
            <a:r>
              <a:t>The same principle underpins both my impact story and my development plan: the best proposal leadership leaves behind a stronger system, not just a stronger single submission.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236208"/>
            <a:ext cx="10698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1">
                <a:solidFill>
                  <a:srgbClr val="595959"/>
                </a:solidFill>
              </a:rPr>
              <a:t>Learning is being converted into reusable client capability and visible contribution to the proposal profession.</a:t>
            </a:r>
          </a:p>
        </p:txBody>
      </p:sp>
    </p:spTree>
    <p:extLst>
      <p:ext uri="{BB962C8B-B14F-4D97-AF65-F5344CB8AC3E}">
        <p14:creationId xmlns:p14="http://schemas.microsoft.com/office/powerpoint/2010/main" val="2697202139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Default Design">
  <a:themeElements>
    <a:clrScheme name="APMP">
      <a:dk1>
        <a:srgbClr val="002277"/>
      </a:dk1>
      <a:lt1>
        <a:srgbClr val="FFFFFF"/>
      </a:lt1>
      <a:dk2>
        <a:srgbClr val="002277"/>
      </a:dk2>
      <a:lt2>
        <a:srgbClr val="FFFFFF"/>
      </a:lt2>
      <a:accent1>
        <a:srgbClr val="002277"/>
      </a:accent1>
      <a:accent2>
        <a:srgbClr val="3266BB"/>
      </a:accent2>
      <a:accent3>
        <a:srgbClr val="FFBB00"/>
      </a:accent3>
      <a:accent4>
        <a:srgbClr val="E1EFFC"/>
      </a:accent4>
      <a:accent5>
        <a:srgbClr val="FF0000"/>
      </a:accent5>
      <a:accent6>
        <a:srgbClr val="3266BB"/>
      </a:accent6>
      <a:hlink>
        <a:srgbClr val="1093BC"/>
      </a:hlink>
      <a:folHlink>
        <a:srgbClr val="E1EFFC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600" b="0" i="1" u="none" strike="noStrike" cap="none" normalizeH="0" baseline="-2500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600" b="0" i="1" u="none" strike="noStrike" cap="none" normalizeH="0" baseline="-2500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1494</Words>
  <Application>Microsoft Office PowerPoint</Application>
  <PresentationFormat>Widescreen</PresentationFormat>
  <Paragraphs>175</Paragraphs>
  <Slides>9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Wingdings</vt:lpstr>
      <vt:lpstr>Default Design</vt:lpstr>
      <vt:lpstr>PowerPoint Presentation</vt:lpstr>
      <vt:lpstr>Summary of Impact</vt:lpstr>
      <vt:lpstr>The Situation</vt:lpstr>
      <vt:lpstr>Stakeholder Engagement and Communication</vt:lpstr>
      <vt:lpstr>Tasks</vt:lpstr>
      <vt:lpstr>Activities</vt:lpstr>
      <vt:lpstr>Results</vt:lpstr>
      <vt:lpstr>CPD Plan for the Next 24 Months</vt:lpstr>
      <vt:lpstr>CPD Application and Knowledge Sharing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2019-06-09T16:36:56Z</dcterms:created>
  <dcterms:modified xsi:type="dcterms:W3CDTF">2026-03-12T20:20:32Z</dcterms:modified>
</cp:coreProperties>
</file>