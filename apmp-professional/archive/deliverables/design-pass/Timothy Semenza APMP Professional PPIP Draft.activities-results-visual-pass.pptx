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11"/>
  </p:notesMasterIdLst>
  <p:handoutMasterIdLst>
    <p:handoutMasterId r:id="rId12"/>
  </p:handoutMasterIdLst>
  <p:sldIdLst>
    <p:sldId id="400" r:id="rId2"/>
    <p:sldId id="404" r:id="rId3"/>
    <p:sldId id="267" r:id="rId4"/>
    <p:sldId id="273" r:id="rId5"/>
    <p:sldId id="401" r:id="rId6"/>
    <p:sldId id="274" r:id="rId7"/>
    <p:sldId id="275" r:id="rId8"/>
    <p:sldId id="402" r:id="rId9"/>
    <p:sldId id="403" r:id="rId10"/>
  </p:sldIdLst>
  <p:sldSz cx="12192000" cy="6858000"/>
  <p:notesSz cx="7102475" cy="9388475"/>
  <p:defaultTextStyle>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346" userDrawn="1">
          <p15:clr>
            <a:srgbClr val="A4A3A4"/>
          </p15:clr>
        </p15:guide>
        <p15:guide id="2" orient="horz" pos="4020" userDrawn="1">
          <p15:clr>
            <a:srgbClr val="A4A3A4"/>
          </p15:clr>
        </p15:guide>
        <p15:guide id="3" orient="horz" pos="618" userDrawn="1">
          <p15:clr>
            <a:srgbClr val="A4A3A4"/>
          </p15:clr>
        </p15:guide>
        <p15:guide id="4" pos="3840" userDrawn="1">
          <p15:clr>
            <a:srgbClr val="A4A3A4"/>
          </p15:clr>
        </p15:guide>
        <p15:guide id="5" pos="72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847"/>
    <a:srgbClr val="FF8409"/>
    <a:srgbClr val="CC66FF"/>
    <a:srgbClr val="00AAE7"/>
    <a:srgbClr val="20AA4D"/>
    <a:srgbClr val="2F3A8F"/>
    <a:srgbClr val="09A9CA"/>
    <a:srgbClr val="0081C6"/>
    <a:srgbClr val="2C3A91"/>
    <a:srgbClr val="0022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2" autoAdjust="0"/>
    <p:restoredTop sz="97834" autoAdjust="0"/>
  </p:normalViewPr>
  <p:slideViewPr>
    <p:cSldViewPr snapToGrid="0">
      <p:cViewPr varScale="1">
        <p:scale>
          <a:sx n="94" d="100"/>
          <a:sy n="94" d="100"/>
        </p:scale>
        <p:origin x="498" y="312"/>
      </p:cViewPr>
      <p:guideLst>
        <p:guide orient="horz" pos="346"/>
        <p:guide orient="horz" pos="4020"/>
        <p:guide orient="horz" pos="618"/>
        <p:guide pos="3840"/>
        <p:guide pos="728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1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357" cy="47009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3481" y="0"/>
            <a:ext cx="3077357" cy="470093"/>
          </a:xfrm>
          <a:prstGeom prst="rect">
            <a:avLst/>
          </a:prstGeom>
        </p:spPr>
        <p:txBody>
          <a:bodyPr vert="horz" lIns="91440" tIns="45720" rIns="91440" bIns="45720" rtlCol="0"/>
          <a:lstStyle>
            <a:lvl1pPr algn="r">
              <a:defRPr sz="1200"/>
            </a:lvl1pPr>
          </a:lstStyle>
          <a:p>
            <a:fld id="{28B5BCC1-BA44-4CBC-AD29-60CF477D23AF}" type="datetimeFigureOut">
              <a:rPr lang="en-US" smtClean="0"/>
              <a:t>3/12/2026</a:t>
            </a:fld>
            <a:endParaRPr lang="en-US"/>
          </a:p>
        </p:txBody>
      </p:sp>
      <p:sp>
        <p:nvSpPr>
          <p:cNvPr id="4" name="Footer Placeholder 3"/>
          <p:cNvSpPr>
            <a:spLocks noGrp="1"/>
          </p:cNvSpPr>
          <p:nvPr>
            <p:ph type="ftr" sz="quarter" idx="2"/>
          </p:nvPr>
        </p:nvSpPr>
        <p:spPr>
          <a:xfrm>
            <a:off x="0" y="8916894"/>
            <a:ext cx="3077357" cy="47009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481" y="8916894"/>
            <a:ext cx="3077357" cy="470093"/>
          </a:xfrm>
          <a:prstGeom prst="rect">
            <a:avLst/>
          </a:prstGeom>
        </p:spPr>
        <p:txBody>
          <a:bodyPr vert="horz" lIns="91440" tIns="45720" rIns="91440" bIns="45720" rtlCol="0" anchor="b"/>
          <a:lstStyle>
            <a:lvl1pPr algn="r">
              <a:defRPr sz="1200"/>
            </a:lvl1pPr>
          </a:lstStyle>
          <a:p>
            <a:fld id="{2F9F8ED6-4FAA-4EFF-95C7-41F1E5E8F28D}" type="slidenum">
              <a:rPr lang="en-US" smtClean="0"/>
              <a:t>‹#›</a:t>
            </a:fld>
            <a:endParaRPr lang="en-US"/>
          </a:p>
        </p:txBody>
      </p:sp>
    </p:spTree>
    <p:extLst>
      <p:ext uri="{BB962C8B-B14F-4D97-AF65-F5344CB8AC3E}">
        <p14:creationId xmlns:p14="http://schemas.microsoft.com/office/powerpoint/2010/main" val="11583625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40" cy="469424"/>
          </a:xfrm>
          <a:prstGeom prst="rect">
            <a:avLst/>
          </a:prstGeom>
        </p:spPr>
        <p:txBody>
          <a:bodyPr vert="horz" lIns="92290" tIns="46145" rIns="92290" bIns="46145" rtlCol="0"/>
          <a:lstStyle>
            <a:lvl1pPr algn="l" fontAlgn="auto">
              <a:spcBef>
                <a:spcPts val="0"/>
              </a:spcBef>
              <a:spcAft>
                <a:spcPts val="0"/>
              </a:spcAft>
              <a:defRPr sz="1200">
                <a:latin typeface="+mn-lt"/>
                <a:ea typeface="+mn-ea"/>
                <a:cs typeface="+mn-cs"/>
              </a:defRPr>
            </a:lvl1pPr>
          </a:lstStyle>
          <a:p>
            <a:pPr>
              <a:defRPr/>
            </a:pPr>
            <a:endParaRPr lang="en-GB"/>
          </a:p>
        </p:txBody>
      </p:sp>
      <p:sp>
        <p:nvSpPr>
          <p:cNvPr id="3" name="Date Placeholder 2"/>
          <p:cNvSpPr>
            <a:spLocks noGrp="1"/>
          </p:cNvSpPr>
          <p:nvPr>
            <p:ph type="dt" idx="1"/>
          </p:nvPr>
        </p:nvSpPr>
        <p:spPr>
          <a:xfrm>
            <a:off x="4023093" y="0"/>
            <a:ext cx="3077740" cy="469424"/>
          </a:xfrm>
          <a:prstGeom prst="rect">
            <a:avLst/>
          </a:prstGeom>
        </p:spPr>
        <p:txBody>
          <a:bodyPr vert="horz" wrap="square" lIns="92290" tIns="46145" rIns="92290" bIns="46145" numCol="1" anchor="t" anchorCtr="0" compatLnSpc="1">
            <a:prstTxWarp prst="textNoShape">
              <a:avLst/>
            </a:prstTxWarp>
          </a:bodyPr>
          <a:lstStyle>
            <a:lvl1pPr algn="r">
              <a:defRPr sz="1200">
                <a:latin typeface="Calibri" pitchFamily="34" charset="0"/>
              </a:defRPr>
            </a:lvl1pPr>
          </a:lstStyle>
          <a:p>
            <a:fld id="{EF1E3FA9-0E79-4B18-B2E1-AF573AF26565}" type="datetimeFigureOut">
              <a:rPr lang="en-GB"/>
              <a:pPr/>
              <a:t>12/03/2026</a:t>
            </a:fld>
            <a:endParaRPr lang="en-GB"/>
          </a:p>
        </p:txBody>
      </p:sp>
      <p:sp>
        <p:nvSpPr>
          <p:cNvPr id="4" name="Slide Image Placeholder 3"/>
          <p:cNvSpPr>
            <a:spLocks noGrp="1" noRot="1" noChangeAspect="1"/>
          </p:cNvSpPr>
          <p:nvPr>
            <p:ph type="sldImg" idx="2"/>
          </p:nvPr>
        </p:nvSpPr>
        <p:spPr>
          <a:xfrm>
            <a:off x="422275" y="704850"/>
            <a:ext cx="6257925" cy="3519488"/>
          </a:xfrm>
          <a:prstGeom prst="rect">
            <a:avLst/>
          </a:prstGeom>
          <a:noFill/>
          <a:ln w="12700">
            <a:solidFill>
              <a:prstClr val="black"/>
            </a:solidFill>
          </a:ln>
        </p:spPr>
        <p:txBody>
          <a:bodyPr vert="horz" lIns="92290" tIns="46145" rIns="92290" bIns="46145" rtlCol="0" anchor="ctr"/>
          <a:lstStyle/>
          <a:p>
            <a:pPr lvl="0"/>
            <a:endParaRPr lang="en-GB" noProof="0"/>
          </a:p>
        </p:txBody>
      </p:sp>
      <p:sp>
        <p:nvSpPr>
          <p:cNvPr id="5" name="Notes Placeholder 4"/>
          <p:cNvSpPr>
            <a:spLocks noGrp="1"/>
          </p:cNvSpPr>
          <p:nvPr>
            <p:ph type="body" sz="quarter" idx="3"/>
          </p:nvPr>
        </p:nvSpPr>
        <p:spPr>
          <a:xfrm>
            <a:off x="710248" y="4459527"/>
            <a:ext cx="5681980" cy="4224814"/>
          </a:xfrm>
          <a:prstGeom prst="rect">
            <a:avLst/>
          </a:prstGeom>
        </p:spPr>
        <p:txBody>
          <a:bodyPr vert="horz" lIns="92290" tIns="46145" rIns="92290" bIns="46145"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917422"/>
            <a:ext cx="3077740" cy="469424"/>
          </a:xfrm>
          <a:prstGeom prst="rect">
            <a:avLst/>
          </a:prstGeom>
        </p:spPr>
        <p:txBody>
          <a:bodyPr vert="horz" lIns="92290" tIns="46145" rIns="92290" bIns="46145" rtlCol="0" anchor="b"/>
          <a:lstStyle>
            <a:lvl1pPr algn="l" fontAlgn="auto">
              <a:spcBef>
                <a:spcPts val="0"/>
              </a:spcBef>
              <a:spcAft>
                <a:spcPts val="0"/>
              </a:spcAft>
              <a:defRPr sz="1200">
                <a:latin typeface="+mn-lt"/>
                <a:ea typeface="+mn-ea"/>
                <a:cs typeface="+mn-cs"/>
              </a:defRPr>
            </a:lvl1pPr>
          </a:lstStyle>
          <a:p>
            <a:pPr>
              <a:defRPr/>
            </a:pPr>
            <a:endParaRPr lang="en-GB"/>
          </a:p>
        </p:txBody>
      </p:sp>
      <p:sp>
        <p:nvSpPr>
          <p:cNvPr id="7" name="Slide Number Placeholder 6"/>
          <p:cNvSpPr>
            <a:spLocks noGrp="1"/>
          </p:cNvSpPr>
          <p:nvPr>
            <p:ph type="sldNum" sz="quarter" idx="5"/>
          </p:nvPr>
        </p:nvSpPr>
        <p:spPr>
          <a:xfrm>
            <a:off x="4023093" y="8917422"/>
            <a:ext cx="3077740" cy="469424"/>
          </a:xfrm>
          <a:prstGeom prst="rect">
            <a:avLst/>
          </a:prstGeom>
        </p:spPr>
        <p:txBody>
          <a:bodyPr vert="horz" wrap="square" lIns="92290" tIns="46145" rIns="92290" bIns="46145" numCol="1" anchor="b" anchorCtr="0" compatLnSpc="1">
            <a:prstTxWarp prst="textNoShape">
              <a:avLst/>
            </a:prstTxWarp>
          </a:bodyPr>
          <a:lstStyle>
            <a:lvl1pPr algn="r">
              <a:defRPr sz="1200">
                <a:latin typeface="Calibri" pitchFamily="34" charset="0"/>
              </a:defRPr>
            </a:lvl1pPr>
          </a:lstStyle>
          <a:p>
            <a:fld id="{73D7BC01-7314-46EA-BB64-D53C8F299A18}" type="slidenum">
              <a:rPr lang="en-GB"/>
              <a:pPr/>
              <a:t>‹#›</a:t>
            </a:fld>
            <a:endParaRPr lang="en-GB"/>
          </a:p>
        </p:txBody>
      </p:sp>
    </p:spTree>
    <p:extLst>
      <p:ext uri="{BB962C8B-B14F-4D97-AF65-F5344CB8AC3E}">
        <p14:creationId xmlns:p14="http://schemas.microsoft.com/office/powerpoint/2010/main" val="23589215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0:45</a:t>
            </a:r>
          </a:p>
          <a:p>
            <a:endParaRPr lang="en-US"/>
          </a:p>
          <a:p>
            <a:r>
              <a:rPr lang="en-US"/>
              <a:t>Open by naming the case plainly: this is a Detroit Public Schools recompete for RNA that I led from November 2025 through January 2026. State that the story is not just about producing one proposal under pressure. It is about rescuing an unprepared high-stakes pursuit and turning it into a reusable operating model for later school bids.</a:t>
            </a:r>
          </a:p>
          <a:p>
            <a:endParaRPr lang="en-US"/>
          </a:p>
          <a:p>
            <a:r>
              <a:rPr lang="en-US"/>
              <a:t>Set expectations for the assessor. Explain that you will move from the starting conditions, to how you led the work, to the measurable results, and then close with how you are building on that impact through CPD.</a:t>
            </a:r>
          </a:p>
        </p:txBody>
      </p:sp>
      <p:sp>
        <p:nvSpPr>
          <p:cNvPr id="4" name="Slide Number Placeholder 3"/>
          <p:cNvSpPr>
            <a:spLocks noGrp="1"/>
          </p:cNvSpPr>
          <p:nvPr>
            <p:ph type="sldNum" sz="quarter" idx="5"/>
          </p:nvPr>
        </p:nvSpPr>
        <p:spPr/>
        <p:txBody>
          <a:bodyPr/>
          <a:lstStyle/>
          <a:p>
            <a:fld id="{73D7BC01-7314-46EA-BB64-D53C8F299A18}" type="slidenum">
              <a:rPr lang="en-GB" smtClean="0"/>
              <a:pPr/>
              <a:t>1</a:t>
            </a:fld>
            <a:endParaRPr lang="en-GB"/>
          </a:p>
        </p:txBody>
      </p:sp>
    </p:spTree>
    <p:extLst>
      <p:ext uri="{BB962C8B-B14F-4D97-AF65-F5344CB8AC3E}">
        <p14:creationId xmlns:p14="http://schemas.microsoft.com/office/powerpoint/2010/main" val="1972363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1:45</a:t>
            </a:r>
          </a:p>
          <a:p>
            <a:endParaRPr lang="en-US"/>
          </a:p>
          <a:p>
            <a:r>
              <a:rPr lang="en-US"/>
              <a:t>Use this slide to anchor the whole presentation in a few numbers. In about 20 working days, you took control of an unprepared $85 million recompete, coordinated about 15 stakeholders, advanced to 2 finalist presentations, and then converted the work into reusable RNA school-bid infrastructure.</a:t>
            </a:r>
          </a:p>
          <a:p>
            <a:endParaRPr lang="en-US"/>
          </a:p>
          <a:p>
            <a:r>
              <a:rPr lang="en-US"/>
              <a:t>Do not read the slide word for word. Instead, emphasize the before-and-after shift. The immediate challenge was a high-risk recompete with little preparation and weak process discipline. The lasting impact was that one compressed pursuit cycle produced templates, graphics, messaging, and governance habits that were reused across about 12 later school bids.</a:t>
            </a:r>
          </a:p>
          <a:p>
            <a:endParaRPr lang="en-US"/>
          </a:p>
          <a:p>
            <a:r>
              <a:rPr lang="en-US"/>
              <a:t>Close this slide with the main claim you want them to remember: the most important outcome was not just submission under pressure, but the creation of a repeatable school-bid model from a previously ad hoc process.</a:t>
            </a:r>
          </a:p>
        </p:txBody>
      </p:sp>
      <p:sp>
        <p:nvSpPr>
          <p:cNvPr id="4" name="Slide Number Placeholder 3"/>
          <p:cNvSpPr>
            <a:spLocks noGrp="1"/>
          </p:cNvSpPr>
          <p:nvPr>
            <p:ph type="sldNum" sz="quarter" idx="5"/>
          </p:nvPr>
        </p:nvSpPr>
        <p:spPr/>
        <p:txBody>
          <a:bodyPr/>
          <a:lstStyle/>
          <a:p>
            <a:fld id="{73D7BC01-7314-46EA-BB64-D53C8F299A18}" type="slidenum">
              <a:rPr lang="en-GB" smtClean="0"/>
              <a:pPr/>
              <a:t>2</a:t>
            </a:fld>
            <a:endParaRPr lang="en-GB"/>
          </a:p>
        </p:txBody>
      </p:sp>
    </p:spTree>
    <p:extLst>
      <p:ext uri="{BB962C8B-B14F-4D97-AF65-F5344CB8AC3E}">
        <p14:creationId xmlns:p14="http://schemas.microsoft.com/office/powerpoint/2010/main" val="174137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p:cNvSpPr>
            <a:spLocks noGrp="1" noRot="1" noChangeAspect="1" noTextEdit="1"/>
          </p:cNvSpPr>
          <p:nvPr>
            <p:ph type="sldImg" idx="2"/>
          </p:nvPr>
        </p:nvSpPr>
        <p:spPr bwMode="auto">
          <a:xfrm>
            <a:off x="701675" y="647700"/>
            <a:ext cx="5753100" cy="32369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1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9859" indent="-288407" eaLnBrk="0" hangingPunct="0">
              <a:defRPr sz="2400">
                <a:solidFill>
                  <a:schemeClr val="tx1"/>
                </a:solidFill>
                <a:latin typeface="Arial" pitchFamily="34" charset="0"/>
                <a:ea typeface="ＭＳ Ｐゴシック" pitchFamily="34" charset="-128"/>
              </a:defRPr>
            </a:lvl2pPr>
            <a:lvl3pPr marL="1153630" indent="-230726" eaLnBrk="0" hangingPunct="0">
              <a:defRPr sz="2400">
                <a:solidFill>
                  <a:schemeClr val="tx1"/>
                </a:solidFill>
                <a:latin typeface="Arial" pitchFamily="34" charset="0"/>
                <a:ea typeface="ＭＳ Ｐゴシック" pitchFamily="34" charset="-128"/>
              </a:defRPr>
            </a:lvl3pPr>
            <a:lvl4pPr marL="1615082" indent="-230726" eaLnBrk="0" hangingPunct="0">
              <a:defRPr sz="2400">
                <a:solidFill>
                  <a:schemeClr val="tx1"/>
                </a:solidFill>
                <a:latin typeface="Arial" pitchFamily="34" charset="0"/>
                <a:ea typeface="ＭＳ Ｐゴシック" pitchFamily="34" charset="-128"/>
              </a:defRPr>
            </a:lvl4pPr>
            <a:lvl5pPr marL="2076534" indent="-230726" eaLnBrk="0" hangingPunct="0">
              <a:defRPr sz="2400">
                <a:solidFill>
                  <a:schemeClr val="tx1"/>
                </a:solidFill>
                <a:latin typeface="Arial" pitchFamily="34" charset="0"/>
                <a:ea typeface="ＭＳ Ｐゴシック" pitchFamily="34" charset="-128"/>
              </a:defRPr>
            </a:lvl5pPr>
            <a:lvl6pPr marL="2537986" indent="-230726"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99438" indent="-230726"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60890" indent="-230726"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22342" indent="-230726"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43CC34A3-6099-4046-95AA-20054C931C95}" type="slidenum">
              <a:rPr lang="en-GB" sz="1200">
                <a:solidFill>
                  <a:srgbClr val="000000"/>
                </a:solidFill>
                <a:latin typeface="Calibri" pitchFamily="34" charset="0"/>
              </a:rPr>
              <a:pPr eaLnBrk="1" hangingPunct="1"/>
              <a:t>3</a:t>
            </a:fld>
            <a:endParaRPr lang="en-GB" sz="1200" dirty="0">
              <a:solidFill>
                <a:srgbClr val="000000"/>
              </a:solidFill>
              <a:latin typeface="Calibri" pitchFamily="34" charset="0"/>
            </a:endParaRPr>
          </a:p>
        </p:txBody>
      </p:sp>
      <p:sp>
        <p:nvSpPr>
          <p:cNvPr id="13315" name="Notes Placeholder 5"/>
          <p:cNvSpPr>
            <a:spLocks noGrp="1"/>
          </p:cNvSpPr>
          <p:nvPr/>
        </p:nvSpPr>
        <p:spPr bwMode="auto">
          <a:xfrm>
            <a:off x="715715" y="4100714"/>
            <a:ext cx="5725717" cy="3884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90" tIns="46145" rIns="92290" bIns="46145"/>
          <a:lstStyle/>
          <a:p>
            <a:pPr>
              <a:spcBef>
                <a:spcPct val="30000"/>
              </a:spcBef>
            </a:pPr>
            <a:endParaRPr lang="en-US" sz="1200" dirty="0">
              <a:solidFill>
                <a:srgbClr val="000000"/>
              </a:solidFill>
            </a:endParaRPr>
          </a:p>
        </p:txBody>
      </p:sp>
      <p:sp>
        <p:nvSpPr>
          <p:cNvPr id="2" name="Notes Placeholder 1"/>
          <p:cNvSpPr>
            <a:spLocks noGrp="1"/>
          </p:cNvSpPr>
          <p:nvPr>
            <p:ph type="body" idx="1"/>
          </p:nvPr>
        </p:nvSpPr>
        <p:spPr/>
        <p:txBody>
          <a:bodyPr/>
          <a:lstStyle/>
          <a:p>
            <a:pPr defTabSz="922904">
              <a:defRPr/>
            </a:pPr>
            <a:r>
              <a:rPr lang="en-US"/>
              <a:t>Target time: 2:30</a:t>
            </a:r>
          </a:p>
          <a:p>
            <a:pPr defTabSz="922904">
              <a:defRPr/>
            </a:pPr>
            <a:endParaRPr lang="en-US"/>
          </a:p>
          <a:p>
            <a:pPr defTabSz="922904">
              <a:defRPr/>
            </a:pPr>
            <a:r>
              <a:rPr lang="en-US"/>
              <a:t>Describe the starting point without sounding accusatory. RNA encountered the recompete for Detroit Public Schools without a real capture plan, with minimal executive engagement in the RFP, and with an external consultant added late. At the same time, the incumbent work represented more than 25 percent of RNA's book of business, so the stakes were unusually high.</a:t>
            </a:r>
          </a:p>
          <a:p>
            <a:pPr defTabSz="922904">
              <a:defRPr/>
            </a:pPr>
            <a:endParaRPr lang="en-US"/>
          </a:p>
          <a:p>
            <a:pPr defTabSz="922904">
              <a:defRPr/>
            </a:pPr>
            <a:r>
              <a:rPr lang="en-US"/>
              <a:t>Explain why that starting point mattered. The problem was not only that time was short. The real problem was that proposal governance had to be built while the bid was already live. Before the team could compete credibly, someone had to create structure, define roles, establish milestones, and give senior stakeholders a way to engage productively.</a:t>
            </a:r>
          </a:p>
          <a:p>
            <a:pPr defTabSz="922904">
              <a:defRPr/>
            </a:pPr>
            <a:endParaRPr lang="en-US"/>
          </a:p>
          <a:p>
            <a:pPr defTabSz="922904">
              <a:defRPr/>
            </a:pPr>
            <a:r>
              <a:rPr lang="en-US"/>
              <a:t>End by setting up your leadership role. Your job was to replace missing capture discipline with an executable proposal process, while still moving quickly enough to submit a compliant and persuasive response.</a:t>
            </a:r>
            <a:endParaRPr lang="en-US" dirty="0"/>
          </a:p>
        </p:txBody>
      </p:sp>
    </p:spTree>
    <p:extLst>
      <p:ext uri="{BB962C8B-B14F-4D97-AF65-F5344CB8AC3E}">
        <p14:creationId xmlns:p14="http://schemas.microsoft.com/office/powerpoint/2010/main" val="2058446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2:30</a:t>
            </a:r>
          </a:p>
          <a:p>
            <a:endParaRPr lang="en-US"/>
          </a:p>
          <a:p>
            <a:r>
              <a:rPr lang="en-US"/>
              <a:t>Frame this slide around leadership without formal authority. You were not operating as a C-suite executive, but you still had to align senior leaders, the consultant, pricing, operations, IT, and site-level expertise around one coherent response. That required a communication style that was concise, practical, and adapted to how each stakeholder actually worked.</a:t>
            </a:r>
          </a:p>
          <a:p>
            <a:endParaRPr lang="en-US"/>
          </a:p>
          <a:p>
            <a:r>
              <a:rPr lang="en-US"/>
              <a:t>Call out the key communication methods. You assigned work verbally in live calls so non-proposal stakeholders could absorb it quickly. You followed that with structured tracking through the compliance matrix and meeting summaries. When written input was vague or unhelpful, you switched to short calls, interviewed the stakeholder directly, and translated their expertise into usable proposal language.</a:t>
            </a:r>
          </a:p>
          <a:p>
            <a:endParaRPr lang="en-US"/>
          </a:p>
          <a:p>
            <a:r>
              <a:rPr lang="en-US"/>
              <a:t>Use one concrete example. Ann Couzins saw you mediate between pricing and leadership so staffing assumptions, pricing rationale, and narrative stayed aligned. That mattered because unresolved disagreement in that area would have delayed the bid and weakened the solution story.</a:t>
            </a:r>
          </a:p>
          <a:p>
            <a:endParaRPr lang="en-US"/>
          </a:p>
          <a:p>
            <a:r>
              <a:rPr lang="en-US"/>
              <a:t>Close by making the principle explicit: direct engagement and communication created alignment where formal authority alone would not.</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4</a:t>
            </a:fld>
            <a:endParaRPr lang="en-GB" dirty="0"/>
          </a:p>
        </p:txBody>
      </p:sp>
    </p:spTree>
    <p:extLst>
      <p:ext uri="{BB962C8B-B14F-4D97-AF65-F5344CB8AC3E}">
        <p14:creationId xmlns:p14="http://schemas.microsoft.com/office/powerpoint/2010/main" val="3036081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2:15</a:t>
            </a:r>
          </a:p>
          <a:p>
            <a:endParaRPr lang="en-US"/>
          </a:p>
          <a:p>
            <a:r>
              <a:rPr lang="en-US"/>
              <a:t>Introduce the five tasks as the leadership framework that stabilized the pursuit. Say that you do not want the assessor to think of this as a general scramble. It became manageable because you defined a small number of clear responsibilities and carried them consistently through the bid.</a:t>
            </a:r>
          </a:p>
          <a:p>
            <a:endParaRPr lang="en-US"/>
          </a:p>
          <a:p>
            <a:r>
              <a:rPr lang="en-US"/>
              <a:t>Walk through the tasks at a high level. First, establish bid governance and the schedule. Second, develop evaluator and win-theme strategy. Third, elicit and structure SME input. Fourth, draft and quality-control proposal and presentation content. Fifth, lead review and submission readiness.</a:t>
            </a:r>
          </a:p>
          <a:p>
            <a:endParaRPr lang="en-US"/>
          </a:p>
          <a:p>
            <a:r>
              <a:rPr lang="en-US"/>
              <a:t>For each task, emphasize why it was necessary. Governance replaced missing capture structure. Evaluator strategy prevented the team from writing inward-looking content. SME elicitation turned operational knowledge into proposal evidence. Drafting and QA kept the written proposal and finalist materials aligned. Review and submission readiness ensured the work could still move forward even if you became unavailable.</a:t>
            </a:r>
          </a:p>
          <a:p>
            <a:endParaRPr lang="en-US"/>
          </a:p>
          <a:p>
            <a:r>
              <a:rPr lang="en-US"/>
              <a:t>Transition to the next slide by saying that the activities show how those tasks operated across the 20-working-day window.</a:t>
            </a:r>
          </a:p>
        </p:txBody>
      </p:sp>
      <p:sp>
        <p:nvSpPr>
          <p:cNvPr id="4" name="Slide Number Placeholder 3"/>
          <p:cNvSpPr>
            <a:spLocks noGrp="1"/>
          </p:cNvSpPr>
          <p:nvPr>
            <p:ph type="sldNum" sz="quarter" idx="5"/>
          </p:nvPr>
        </p:nvSpPr>
        <p:spPr/>
        <p:txBody>
          <a:bodyPr/>
          <a:lstStyle/>
          <a:p>
            <a:fld id="{73D7BC01-7314-46EA-BB64-D53C8F299A18}" type="slidenum">
              <a:rPr lang="en-GB" smtClean="0"/>
              <a:pPr/>
              <a:t>5</a:t>
            </a:fld>
            <a:endParaRPr lang="en-GB"/>
          </a:p>
        </p:txBody>
      </p:sp>
    </p:spTree>
    <p:extLst>
      <p:ext uri="{BB962C8B-B14F-4D97-AF65-F5344CB8AC3E}">
        <p14:creationId xmlns:p14="http://schemas.microsoft.com/office/powerpoint/2010/main" val="3329519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3:15</a:t>
            </a:r>
          </a:p>
          <a:p>
            <a:endParaRPr lang="en-US"/>
          </a:p>
          <a:p>
            <a:r>
              <a:rPr lang="en-US"/>
              <a:t>Treat this slide as a timeline, not as a table to be read row by row. Start with the first checkpoint: as soon as the RFP arrived, you used your Power Automate workflow to generate an initial schedule tied to Shipley-style review milestones. That let you publish an executable plan quickly instead of losing time to manual calendar building.</a:t>
            </a:r>
          </a:p>
          <a:p>
            <a:endParaRPr lang="en-US"/>
          </a:p>
          <a:p>
            <a:r>
              <a:rPr lang="en-US"/>
              <a:t>Next, explain the early operating cadence. You built the compliance matrix, researched the evaluation board, and entered kickoff already oriented around the customer rather than around internal opinion. From there, the cadence became highly active, at times twice daily with senior leaders, plus recurring calls with SMEs such as Cheryl and with Chris Arlin to develop content.</a:t>
            </a:r>
          </a:p>
          <a:p>
            <a:endParaRPr lang="en-US"/>
          </a:p>
          <a:p>
            <a:r>
              <a:rPr lang="en-US"/>
              <a:t>Then cover the middle of the timeline. You used AI and automation to accelerate compliance extraction, draft assembly, and transcript-based content development, but the decisions, quality control, and stakeholder management remained yours. You manually refined the narrative, used read-aloud QA in Word, and kept everyone aligned through recurring meetings and visible tracking.</a:t>
            </a:r>
          </a:p>
          <a:p>
            <a:endParaRPr lang="en-US"/>
          </a:p>
          <a:p>
            <a:r>
              <a:rPr lang="en-US"/>
              <a:t>Finish with the final checkpoints. You organized the SharePoint submission structure so the bid could still be submitted cleanly if you were out, and you carried the written narrative through to two finalist rounds by preparing slides, speaker notes, likely questions, and message discipline. The headline here is that recurring governance made a short public-sector timeline executable.</a:t>
            </a:r>
          </a:p>
        </p:txBody>
      </p:sp>
      <p:sp>
        <p:nvSpPr>
          <p:cNvPr id="4" name="Slide Number Placeholder 3"/>
          <p:cNvSpPr>
            <a:spLocks noGrp="1"/>
          </p:cNvSpPr>
          <p:nvPr>
            <p:ph type="sldNum" sz="quarter" idx="5"/>
          </p:nvPr>
        </p:nvSpPr>
        <p:spPr/>
        <p:txBody>
          <a:bodyPr/>
          <a:lstStyle/>
          <a:p>
            <a:fld id="{73D7BC01-7314-46EA-BB64-D53C8F299A18}" type="slidenum">
              <a:rPr lang="en-GB" smtClean="0"/>
              <a:pPr/>
              <a:t>6</a:t>
            </a:fld>
            <a:endParaRPr lang="en-GB"/>
          </a:p>
        </p:txBody>
      </p:sp>
    </p:spTree>
    <p:extLst>
      <p:ext uri="{BB962C8B-B14F-4D97-AF65-F5344CB8AC3E}">
        <p14:creationId xmlns:p14="http://schemas.microsoft.com/office/powerpoint/2010/main" val="3758915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3:30</a:t>
            </a:r>
          </a:p>
          <a:p>
            <a:endParaRPr lang="en-US"/>
          </a:p>
          <a:p>
            <a:r>
              <a:rPr lang="en-US"/>
              <a:t>Lead with the measurement logic. Because you do not know the final award result, you are measuring impact through progression, reuse, speed, and review effort. That is a more defensible claim set than speculating about award outcome.</a:t>
            </a:r>
          </a:p>
          <a:p>
            <a:endParaRPr lang="en-US"/>
          </a:p>
          <a:p>
            <a:r>
              <a:rPr lang="en-US"/>
              <a:t>Walk through the results in order. First, the pursuit advanced to 2 finalist presentations despite starting from an unprepared position. Second, the Detroit work product became a reusable base for about 12 later RNA school bids, including about 6 that were active at once in the immediate aftermath. Third, the time to reach an about 80 percent first compliant draft dropped from roughly 4 hours to roughly 5 minutes when a later Michigan school bid matched the reusable pattern.</a:t>
            </a:r>
          </a:p>
          <a:p>
            <a:endParaRPr lang="en-US"/>
          </a:p>
          <a:p>
            <a:r>
              <a:rPr lang="en-US"/>
              <a:t>Then explain the organizational effect behind those numbers. Later bids often required only one executive review because the messaging and structure had become familiar and trusted. Your effort shifted from rebuilding standard narrative to validating compliance, adapting pricing and staffing discussions into tailored content, and completing the remaining forms and signatures.</a:t>
            </a:r>
          </a:p>
          <a:p>
            <a:endParaRPr lang="en-US"/>
          </a:p>
          <a:p>
            <a:r>
              <a:rPr lang="en-US"/>
              <a:t>Close with the strongest before-and-after statement in the deck. Before Detroit, the school-bid process was ad hoc, low-trust, and review-heavy. After Detroit, it was more standardized, faster to launch, easier for executives to review, and strong enough to support repeated use even without direct award visibility.</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7</a:t>
            </a:fld>
            <a:endParaRPr lang="en-GB" dirty="0"/>
          </a:p>
        </p:txBody>
      </p:sp>
    </p:spTree>
    <p:extLst>
      <p:ext uri="{BB962C8B-B14F-4D97-AF65-F5344CB8AC3E}">
        <p14:creationId xmlns:p14="http://schemas.microsoft.com/office/powerpoint/2010/main" val="665963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2:00</a:t>
            </a:r>
          </a:p>
          <a:p>
            <a:endParaRPr lang="en-US"/>
          </a:p>
          <a:p>
            <a:r>
              <a:rPr lang="en-US"/>
              <a:t>Explain that your CPD plan is deliberately tied to the same themes as the impact story: stronger upstream capture, stronger operating systems, and stronger contribution to the profession. This is not a generic training list. It is a plan to deepen the areas that most directly affect how you lead proposal work.</a:t>
            </a:r>
          </a:p>
          <a:p>
            <a:endParaRPr lang="en-US"/>
          </a:p>
          <a:p>
            <a:r>
              <a:rPr lang="en-US"/>
              <a:t>Mention the five development priorities briefly. You plan to deepen government capture capability, complete and test your internally developed capture-to-proposal app, stand up a more AI-enabled consulting delivery model, become more active in the APMP National Capital Area chapter, and complete the APMP AI Micro-Certification.</a:t>
            </a:r>
          </a:p>
          <a:p>
            <a:endParaRPr lang="en-US"/>
          </a:p>
          <a:p>
            <a:r>
              <a:rPr lang="en-US"/>
              <a:t>For each one, keep the emphasis on application and sharing. You are not collecting credentials for their own sake. You are building methods you can use with clients, publish through thought leadership, and bring back to APMP peers through chapter activity and conference-level speaking.</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8</a:t>
            </a:fld>
            <a:endParaRPr lang="en-GB" dirty="0"/>
          </a:p>
        </p:txBody>
      </p:sp>
    </p:spTree>
    <p:extLst>
      <p:ext uri="{BB962C8B-B14F-4D97-AF65-F5344CB8AC3E}">
        <p14:creationId xmlns:p14="http://schemas.microsoft.com/office/powerpoint/2010/main" val="665963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1:30</a:t>
            </a:r>
          </a:p>
          <a:p>
            <a:endParaRPr lang="en-US"/>
          </a:p>
          <a:p>
            <a:r>
              <a:rPr lang="en-US"/>
              <a:t>Use the closing slide to connect the development plan back to the impact story. The same standard applies in both places: good proposal leadership should leave behind a stronger system, not just a stronger single submission.</a:t>
            </a:r>
          </a:p>
          <a:p>
            <a:endParaRPr lang="en-US"/>
          </a:p>
          <a:p>
            <a:r>
              <a:rPr lang="en-US"/>
              <a:t>Explain how learning will be applied. Capture learning will expand your client support upstream. AI and workflow learning will become reusable delivery capability in your consulting practice. Chapter and conference contribution will turn that learning outward so other professionals can adopt what works in their own environments.</a:t>
            </a:r>
          </a:p>
          <a:p>
            <a:endParaRPr lang="en-US"/>
          </a:p>
          <a:p>
            <a:r>
              <a:rPr lang="en-US"/>
              <a:t>Finish with a concise close. The Detroit case showed that you can impose structure, create trust, and leave behind reusable capability under pressure. Your CPD plan is designed to extend that same kind of impact across future clients and across the wider proposal profession.</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9</a:t>
            </a:fld>
            <a:endParaRPr lang="en-GB" dirty="0"/>
          </a:p>
        </p:txBody>
      </p:sp>
    </p:spTree>
    <p:extLst>
      <p:ext uri="{BB962C8B-B14F-4D97-AF65-F5344CB8AC3E}">
        <p14:creationId xmlns:p14="http://schemas.microsoft.com/office/powerpoint/2010/main" val="6659636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6.png"/><Relationship Id="rId7" Type="http://schemas.openxmlformats.org/officeDocument/2006/relationships/image" Target="../media/image14.emf"/><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7.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505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7700" y="197768"/>
            <a:ext cx="10972800" cy="1143000"/>
          </a:xfrm>
          <a:prstGeom prst="rect">
            <a:avLst/>
          </a:prstGeom>
          <a:noFill/>
          <a:ln w="9525">
            <a:noFill/>
            <a:miter lim="800000"/>
            <a:headEnd/>
            <a:tailEnd/>
          </a:ln>
        </p:spPr>
        <p:txBody>
          <a:bodyPr/>
          <a:lstStyle>
            <a:lvl1pPr algn="l" rtl="0" eaLnBrk="0" fontAlgn="base" hangingPunct="0">
              <a:lnSpc>
                <a:spcPct val="145000"/>
              </a:lnSpc>
              <a:spcBef>
                <a:spcPct val="0"/>
              </a:spcBef>
              <a:spcAft>
                <a:spcPct val="0"/>
              </a:spcAft>
              <a:buFont typeface="Wingdings" pitchFamily="2" charset="2"/>
              <a:buNone/>
              <a:defRPr lang="en-GB" sz="4000" b="0" i="0" kern="1200" spc="-150" baseline="0">
                <a:solidFill>
                  <a:schemeClr val="bg1"/>
                </a:solidFill>
                <a:effectLst/>
                <a:latin typeface="Calibri"/>
                <a:ea typeface="+mn-ea"/>
                <a:cs typeface="Calibri"/>
              </a:defRPr>
            </a:lvl1pPr>
          </a:lstStyle>
          <a:p>
            <a:r>
              <a:rPr lang="en-US" dirty="0"/>
              <a:t>Click to edit Master title style</a:t>
            </a:r>
            <a:endParaRPr lang="en-GB" dirty="0"/>
          </a:p>
        </p:txBody>
      </p:sp>
      <p:sp>
        <p:nvSpPr>
          <p:cNvPr id="3" name="Rectangle 2"/>
          <p:cNvSpPr/>
          <p:nvPr userDrawn="1"/>
        </p:nvSpPr>
        <p:spPr>
          <a:xfrm>
            <a:off x="9984432" y="1382579"/>
            <a:ext cx="1728192" cy="246221"/>
          </a:xfrm>
          <a:prstGeom prst="rect">
            <a:avLst/>
          </a:prstGeom>
        </p:spPr>
        <p:txBody>
          <a:bodyPr wrap="square">
            <a:spAutoFit/>
          </a:bodyPr>
          <a:lstStyle/>
          <a:p>
            <a:pPr algn="r"/>
            <a:r>
              <a:rPr lang="en-US" sz="1000" dirty="0">
                <a:solidFill>
                  <a:srgbClr val="A6A6A6"/>
                </a:solidFill>
                <a:latin typeface="Calibri"/>
                <a:cs typeface="Calibri"/>
              </a:rPr>
              <a:t>© 2019  |  page </a:t>
            </a:r>
            <a:fld id="{5DA86651-081E-48B6-9AC7-28ABBC94FCAF}" type="slidenum">
              <a:rPr lang="en-US" sz="1000" smtClean="0">
                <a:solidFill>
                  <a:srgbClr val="A6A6A6"/>
                </a:solidFill>
                <a:latin typeface="Calibri"/>
                <a:cs typeface="Calibri"/>
              </a:rPr>
              <a:pPr algn="r"/>
              <a:t>‹#›</a:t>
            </a:fld>
            <a:r>
              <a:rPr lang="en-US" sz="1000" dirty="0">
                <a:solidFill>
                  <a:srgbClr val="A6A6A6"/>
                </a:solidFill>
                <a:latin typeface="Calibri"/>
                <a:cs typeface="Calibri"/>
              </a:rPr>
              <a:t> </a:t>
            </a:r>
          </a:p>
        </p:txBody>
      </p:sp>
      <p:pic>
        <p:nvPicPr>
          <p:cNvPr id="5" name="Picture 4" descr="slide_2_left light gray swooshes.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392"/>
            <a:ext cx="4578350" cy="6858000"/>
          </a:xfrm>
          <a:prstGeom prst="rect">
            <a:avLst/>
          </a:prstGeom>
        </p:spPr>
      </p:pic>
      <p:pic>
        <p:nvPicPr>
          <p:cNvPr id="6" name="Picture 5" descr="slide_2_right light gray swooshes.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343084" y="2579846"/>
            <a:ext cx="6848916" cy="4283756"/>
          </a:xfrm>
          <a:prstGeom prst="rect">
            <a:avLst/>
          </a:prstGeom>
        </p:spPr>
      </p:pic>
      <p:pic>
        <p:nvPicPr>
          <p:cNvPr id="7" name="Picture 6" descr="slide_2_URL.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300194" y="6348052"/>
            <a:ext cx="1314450" cy="120650"/>
          </a:xfrm>
          <a:prstGeom prst="rect">
            <a:avLst/>
          </a:prstGeom>
        </p:spPr>
      </p:pic>
      <p:pic>
        <p:nvPicPr>
          <p:cNvPr id="9" name="Picture 8" descr="slide_2_header.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2375"/>
            <a:ext cx="12192000" cy="1352550"/>
          </a:xfrm>
          <a:prstGeom prst="rect">
            <a:avLst/>
          </a:prstGeom>
        </p:spPr>
      </p:pic>
      <p:pic>
        <p:nvPicPr>
          <p:cNvPr id="8" name="Picture 7" descr="slide_2_logo.png"/>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247491" y="340045"/>
            <a:ext cx="1358900" cy="698500"/>
          </a:xfrm>
          <a:prstGeom prst="rect">
            <a:avLst/>
          </a:prstGeom>
        </p:spPr>
      </p:pic>
      <p:sp>
        <p:nvSpPr>
          <p:cNvPr id="4" name="Content Placeholder 3"/>
          <p:cNvSpPr>
            <a:spLocks noGrp="1"/>
          </p:cNvSpPr>
          <p:nvPr>
            <p:ph sz="half" idx="2"/>
          </p:nvPr>
        </p:nvSpPr>
        <p:spPr>
          <a:xfrm>
            <a:off x="623392" y="1974319"/>
            <a:ext cx="10959008" cy="2246769"/>
          </a:xfrm>
          <a:prstGeom prst="rect">
            <a:avLst/>
          </a:prstGeom>
        </p:spPr>
        <p:txBody>
          <a:bodyPr/>
          <a:lstStyle>
            <a:lvl1pPr marL="342900" indent="-342900">
              <a:lnSpc>
                <a:spcPct val="100000"/>
              </a:lnSpc>
              <a:spcBef>
                <a:spcPts val="600"/>
              </a:spcBef>
              <a:spcAft>
                <a:spcPts val="600"/>
              </a:spcAft>
              <a:buClr>
                <a:srgbClr val="2C3A91"/>
              </a:buClr>
              <a:buFont typeface="Wingdings" panose="05000000000000000000" pitchFamily="2" charset="2"/>
              <a:buChar char="§"/>
              <a:defRPr sz="2800">
                <a:solidFill>
                  <a:srgbClr val="2C3A91"/>
                </a:solidFill>
                <a:latin typeface="Calibri"/>
                <a:cs typeface="Calibri"/>
              </a:defRPr>
            </a:lvl1pPr>
            <a:lvl2pPr marL="742950" indent="-285750">
              <a:lnSpc>
                <a:spcPct val="100000"/>
              </a:lnSpc>
              <a:spcBef>
                <a:spcPts val="600"/>
              </a:spcBef>
              <a:spcAft>
                <a:spcPts val="600"/>
              </a:spcAft>
              <a:buClr>
                <a:srgbClr val="2C3A91"/>
              </a:buClr>
              <a:buFont typeface="Wingdings" panose="05000000000000000000" pitchFamily="2" charset="2"/>
              <a:buChar char="§"/>
              <a:defRPr sz="2000">
                <a:solidFill>
                  <a:srgbClr val="2C3A91"/>
                </a:solidFill>
                <a:latin typeface="Calibri"/>
                <a:cs typeface="Calibri"/>
              </a:defRPr>
            </a:lvl2pPr>
            <a:lvl3pPr marL="1143000" indent="-228600">
              <a:lnSpc>
                <a:spcPct val="100000"/>
              </a:lnSpc>
              <a:spcBef>
                <a:spcPts val="600"/>
              </a:spcBef>
              <a:spcAft>
                <a:spcPts val="600"/>
              </a:spcAft>
              <a:buClr>
                <a:srgbClr val="2C3A91"/>
              </a:buClr>
              <a:buFont typeface="Wingdings" panose="05000000000000000000" pitchFamily="2" charset="2"/>
              <a:buChar char="§"/>
              <a:defRPr sz="1800">
                <a:solidFill>
                  <a:srgbClr val="2C3A91"/>
                </a:solidFill>
                <a:latin typeface="Calibri"/>
                <a:cs typeface="Calibri"/>
              </a:defRPr>
            </a:lvl3pPr>
            <a:lvl4pPr marL="1600200" indent="-228600">
              <a:lnSpc>
                <a:spcPct val="100000"/>
              </a:lnSpc>
              <a:spcBef>
                <a:spcPts val="600"/>
              </a:spcBef>
              <a:spcAft>
                <a:spcPts val="600"/>
              </a:spcAft>
              <a:buClr>
                <a:srgbClr val="2C3A91"/>
              </a:buClr>
              <a:buFont typeface="Wingdings" panose="05000000000000000000" pitchFamily="2" charset="2"/>
              <a:buChar char="§"/>
              <a:defRPr sz="1600">
                <a:solidFill>
                  <a:srgbClr val="2C3A91"/>
                </a:solidFill>
                <a:latin typeface="Calibri"/>
                <a:cs typeface="Calibri"/>
              </a:defRPr>
            </a:lvl4pPr>
            <a:lvl5pPr marL="2057400" indent="-228600">
              <a:lnSpc>
                <a:spcPct val="100000"/>
              </a:lnSpc>
              <a:spcBef>
                <a:spcPts val="600"/>
              </a:spcBef>
              <a:spcAft>
                <a:spcPts val="600"/>
              </a:spcAft>
              <a:buClr>
                <a:srgbClr val="2C3A91"/>
              </a:buClr>
              <a:buFont typeface="Wingdings" panose="05000000000000000000" pitchFamily="2" charset="2"/>
              <a:buChar char="§"/>
              <a:defRPr sz="1600">
                <a:solidFill>
                  <a:srgbClr val="2C3A91"/>
                </a:solidFill>
                <a:latin typeface="Calibri"/>
                <a:cs typeface="Calibri"/>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descr="slide_1_ribbons.png"/>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6762750"/>
            <a:ext cx="12192000" cy="95250"/>
          </a:xfrm>
          <a:prstGeom prst="rect">
            <a:avLst/>
          </a:prstGeom>
        </p:spPr>
      </p:pic>
    </p:spTree>
    <p:extLst>
      <p:ext uri="{BB962C8B-B14F-4D97-AF65-F5344CB8AC3E}">
        <p14:creationId xmlns:p14="http://schemas.microsoft.com/office/powerpoint/2010/main" val="2026090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42"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anim calcmode="lin" valueType="num">
                                      <p:cBhvr>
                                        <p:cTn id="21" dur="500" fill="hold"/>
                                        <p:tgtEl>
                                          <p:spTgt spid="10"/>
                                        </p:tgtEl>
                                        <p:attrNameLst>
                                          <p:attrName>ppt_x</p:attrName>
                                        </p:attrNameLst>
                                      </p:cBhvr>
                                      <p:tavLst>
                                        <p:tav tm="0">
                                          <p:val>
                                            <p:strVal val="#ppt_x"/>
                                          </p:val>
                                        </p:tav>
                                        <p:tav tm="100000">
                                          <p:val>
                                            <p:strVal val="#ppt_x"/>
                                          </p:val>
                                        </p:tav>
                                      </p:tavLst>
                                    </p:anim>
                                    <p:anim calcmode="lin" valueType="num">
                                      <p:cBhvr>
                                        <p:cTn id="22" dur="500" fill="hold"/>
                                        <p:tgtEl>
                                          <p:spTgt spid="10"/>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anim calcmode="lin" valueType="num">
                                      <p:cBhvr>
                                        <p:cTn id="27" dur="500" fill="hold"/>
                                        <p:tgtEl>
                                          <p:spTgt spid="7"/>
                                        </p:tgtEl>
                                        <p:attrNameLst>
                                          <p:attrName>ppt_x</p:attrName>
                                        </p:attrNameLst>
                                      </p:cBhvr>
                                      <p:tavLst>
                                        <p:tav tm="0">
                                          <p:val>
                                            <p:strVal val="#ppt_x"/>
                                          </p:val>
                                        </p:tav>
                                        <p:tav tm="100000">
                                          <p:val>
                                            <p:strVal val="#ppt_x"/>
                                          </p:val>
                                        </p:tav>
                                      </p:tavLst>
                                    </p:anim>
                                    <p:anim calcmode="lin" valueType="num">
                                      <p:cBhvr>
                                        <p:cTn id="28"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6437D-77E2-8F4E-90F5-B6175E92C6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39ACD-851E-C446-84A2-D55F38AA0630}"/>
              </a:ext>
            </a:extLst>
          </p:cNvPr>
          <p:cNvSpPr>
            <a:spLocks noGrp="1"/>
          </p:cNvSpPr>
          <p:nvPr>
            <p:ph idx="1"/>
          </p:nvPr>
        </p:nvSpPr>
        <p:spPr>
          <a:xfrm>
            <a:off x="838200" y="1825625"/>
            <a:ext cx="10515600" cy="42264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4">
            <a:extLst>
              <a:ext uri="{FF2B5EF4-FFF2-40B4-BE49-F238E27FC236}">
                <a16:creationId xmlns:a16="http://schemas.microsoft.com/office/drawing/2014/main" id="{BBC62F45-8185-B04B-A82C-4691E95E71A4}"/>
              </a:ext>
            </a:extLst>
          </p:cNvPr>
          <p:cNvSpPr>
            <a:spLocks noGrp="1"/>
          </p:cNvSpPr>
          <p:nvPr>
            <p:ph type="sldNum" sz="quarter" idx="12"/>
          </p:nvPr>
        </p:nvSpPr>
        <p:spPr>
          <a:xfrm>
            <a:off x="285307" y="6311946"/>
            <a:ext cx="766979" cy="365125"/>
          </a:xfrm>
          <a:prstGeom prst="rect">
            <a:avLst/>
          </a:prstGeom>
        </p:spPr>
        <p:txBody>
          <a:bodyPr/>
          <a:lstStyle>
            <a:lvl1pPr>
              <a:defRPr>
                <a:solidFill>
                  <a:srgbClr val="039EDD"/>
                </a:solidFill>
              </a:defRPr>
            </a:lvl1pPr>
          </a:lstStyle>
          <a:p>
            <a:fld id="{B0AF2983-4713-074B-8971-5C1C8A8E14E9}" type="slidenum">
              <a:rPr lang="en-US" smtClean="0"/>
              <a:pPr/>
              <a:t>‹#›</a:t>
            </a:fld>
            <a:endParaRPr lang="en-US" dirty="0"/>
          </a:p>
        </p:txBody>
      </p:sp>
      <p:pic>
        <p:nvPicPr>
          <p:cNvPr id="12" name="Picture 11">
            <a:extLst>
              <a:ext uri="{FF2B5EF4-FFF2-40B4-BE49-F238E27FC236}">
                <a16:creationId xmlns:a16="http://schemas.microsoft.com/office/drawing/2014/main" id="{783BB985-86F3-0140-A42F-23DEAEA7B7CB}"/>
              </a:ext>
            </a:extLst>
          </p:cNvPr>
          <p:cNvPicPr>
            <a:picLocks noChangeAspect="1"/>
          </p:cNvPicPr>
          <p:nvPr userDrawn="1"/>
        </p:nvPicPr>
        <p:blipFill>
          <a:blip r:embed="rId3"/>
          <a:stretch>
            <a:fillRect/>
          </a:stretch>
        </p:blipFill>
        <p:spPr>
          <a:xfrm>
            <a:off x="10880549" y="6331522"/>
            <a:ext cx="730880" cy="377228"/>
          </a:xfrm>
          <a:prstGeom prst="rect">
            <a:avLst/>
          </a:prstGeom>
        </p:spPr>
      </p:pic>
      <p:pic>
        <p:nvPicPr>
          <p:cNvPr id="13" name="Picture 12">
            <a:extLst>
              <a:ext uri="{FF2B5EF4-FFF2-40B4-BE49-F238E27FC236}">
                <a16:creationId xmlns:a16="http://schemas.microsoft.com/office/drawing/2014/main" id="{53BF9B16-6CD3-994A-BF2A-9C301089A76F}"/>
              </a:ext>
            </a:extLst>
          </p:cNvPr>
          <p:cNvPicPr>
            <a:picLocks noChangeAspect="1"/>
          </p:cNvPicPr>
          <p:nvPr userDrawn="1"/>
        </p:nvPicPr>
        <p:blipFill>
          <a:blip r:embed="rId4"/>
          <a:stretch>
            <a:fillRect/>
          </a:stretch>
        </p:blipFill>
        <p:spPr>
          <a:xfrm>
            <a:off x="1406641" y="6261808"/>
            <a:ext cx="1559700" cy="462133"/>
          </a:xfrm>
          <a:prstGeom prst="rect">
            <a:avLst/>
          </a:prstGeom>
        </p:spPr>
      </p:pic>
      <p:pic>
        <p:nvPicPr>
          <p:cNvPr id="15" name="Picture 14">
            <a:extLst>
              <a:ext uri="{FF2B5EF4-FFF2-40B4-BE49-F238E27FC236}">
                <a16:creationId xmlns:a16="http://schemas.microsoft.com/office/drawing/2014/main" id="{F8904265-A6F7-8D42-96B0-DDE7CB0FEDEC}"/>
              </a:ext>
            </a:extLst>
          </p:cNvPr>
          <p:cNvPicPr>
            <a:picLocks noChangeAspect="1"/>
          </p:cNvPicPr>
          <p:nvPr userDrawn="1"/>
        </p:nvPicPr>
        <p:blipFill>
          <a:blip r:embed="rId5"/>
          <a:stretch>
            <a:fillRect/>
          </a:stretch>
        </p:blipFill>
        <p:spPr>
          <a:xfrm>
            <a:off x="3567792" y="6389151"/>
            <a:ext cx="1282700" cy="292100"/>
          </a:xfrm>
          <a:prstGeom prst="rect">
            <a:avLst/>
          </a:prstGeom>
        </p:spPr>
      </p:pic>
      <p:pic>
        <p:nvPicPr>
          <p:cNvPr id="16" name="Picture 15">
            <a:extLst>
              <a:ext uri="{FF2B5EF4-FFF2-40B4-BE49-F238E27FC236}">
                <a16:creationId xmlns:a16="http://schemas.microsoft.com/office/drawing/2014/main" id="{85539BC3-1C89-B44C-90E4-FA46786DB497}"/>
              </a:ext>
            </a:extLst>
          </p:cNvPr>
          <p:cNvPicPr>
            <a:picLocks noChangeAspect="1"/>
          </p:cNvPicPr>
          <p:nvPr userDrawn="1"/>
        </p:nvPicPr>
        <p:blipFill>
          <a:blip r:embed="rId6"/>
          <a:stretch>
            <a:fillRect/>
          </a:stretch>
        </p:blipFill>
        <p:spPr>
          <a:xfrm>
            <a:off x="5155877" y="6408705"/>
            <a:ext cx="672565" cy="257578"/>
          </a:xfrm>
          <a:prstGeom prst="rect">
            <a:avLst/>
          </a:prstGeom>
        </p:spPr>
      </p:pic>
    </p:spTree>
    <p:extLst>
      <p:ext uri="{BB962C8B-B14F-4D97-AF65-F5344CB8AC3E}">
        <p14:creationId xmlns:p14="http://schemas.microsoft.com/office/powerpoint/2010/main" val="318904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89982A-FC28-8844-9E7C-05BB1B6E5B78}"/>
              </a:ext>
            </a:extLst>
          </p:cNvPr>
          <p:cNvSpPr>
            <a:spLocks noGrp="1"/>
          </p:cNvSpPr>
          <p:nvPr>
            <p:ph type="sldNum" sz="quarter" idx="12"/>
          </p:nvPr>
        </p:nvSpPr>
        <p:spPr>
          <a:xfrm>
            <a:off x="285307" y="6311946"/>
            <a:ext cx="766979" cy="365125"/>
          </a:xfrm>
          <a:prstGeom prst="rect">
            <a:avLst/>
          </a:prstGeom>
        </p:spPr>
        <p:txBody>
          <a:bodyPr/>
          <a:lstStyle>
            <a:lvl1pPr>
              <a:defRPr>
                <a:solidFill>
                  <a:srgbClr val="039EDD"/>
                </a:solidFill>
              </a:defRPr>
            </a:lvl1pPr>
          </a:lstStyle>
          <a:p>
            <a:fld id="{B0AF2983-4713-074B-8971-5C1C8A8E14E9}" type="slidenum">
              <a:rPr lang="en-US" smtClean="0"/>
              <a:pPr/>
              <a:t>‹#›</a:t>
            </a:fld>
            <a:endParaRPr lang="en-US" dirty="0"/>
          </a:p>
        </p:txBody>
      </p:sp>
      <p:pic>
        <p:nvPicPr>
          <p:cNvPr id="19" name="Picture 18">
            <a:extLst>
              <a:ext uri="{FF2B5EF4-FFF2-40B4-BE49-F238E27FC236}">
                <a16:creationId xmlns:a16="http://schemas.microsoft.com/office/drawing/2014/main" id="{EB13BBB8-92AF-C44A-88CC-1A77C24E049F}"/>
              </a:ext>
            </a:extLst>
          </p:cNvPr>
          <p:cNvPicPr>
            <a:picLocks noChangeAspect="1"/>
          </p:cNvPicPr>
          <p:nvPr userDrawn="1"/>
        </p:nvPicPr>
        <p:blipFill>
          <a:blip r:embed="rId3"/>
          <a:stretch>
            <a:fillRect/>
          </a:stretch>
        </p:blipFill>
        <p:spPr>
          <a:xfrm>
            <a:off x="10880549" y="6331522"/>
            <a:ext cx="730880" cy="377228"/>
          </a:xfrm>
          <a:prstGeom prst="rect">
            <a:avLst/>
          </a:prstGeom>
        </p:spPr>
      </p:pic>
      <p:pic>
        <p:nvPicPr>
          <p:cNvPr id="20" name="Picture 19">
            <a:extLst>
              <a:ext uri="{FF2B5EF4-FFF2-40B4-BE49-F238E27FC236}">
                <a16:creationId xmlns:a16="http://schemas.microsoft.com/office/drawing/2014/main" id="{387F496C-F28D-B847-9855-BC55EE803399}"/>
              </a:ext>
            </a:extLst>
          </p:cNvPr>
          <p:cNvPicPr>
            <a:picLocks noChangeAspect="1"/>
          </p:cNvPicPr>
          <p:nvPr userDrawn="1"/>
        </p:nvPicPr>
        <p:blipFill>
          <a:blip r:embed="rId4"/>
          <a:stretch>
            <a:fillRect/>
          </a:stretch>
        </p:blipFill>
        <p:spPr>
          <a:xfrm>
            <a:off x="1406641" y="6261808"/>
            <a:ext cx="1559700" cy="462133"/>
          </a:xfrm>
          <a:prstGeom prst="rect">
            <a:avLst/>
          </a:prstGeom>
        </p:spPr>
      </p:pic>
      <p:pic>
        <p:nvPicPr>
          <p:cNvPr id="21" name="Picture 20">
            <a:extLst>
              <a:ext uri="{FF2B5EF4-FFF2-40B4-BE49-F238E27FC236}">
                <a16:creationId xmlns:a16="http://schemas.microsoft.com/office/drawing/2014/main" id="{6850D558-D0CF-2142-B42D-2AE48A15B9D6}"/>
              </a:ext>
            </a:extLst>
          </p:cNvPr>
          <p:cNvPicPr>
            <a:picLocks noChangeAspect="1"/>
          </p:cNvPicPr>
          <p:nvPr userDrawn="1"/>
        </p:nvPicPr>
        <p:blipFill>
          <a:blip r:embed="rId5"/>
          <a:stretch>
            <a:fillRect/>
          </a:stretch>
        </p:blipFill>
        <p:spPr>
          <a:xfrm>
            <a:off x="3567792" y="6389151"/>
            <a:ext cx="1282700" cy="292100"/>
          </a:xfrm>
          <a:prstGeom prst="rect">
            <a:avLst/>
          </a:prstGeom>
        </p:spPr>
      </p:pic>
      <p:pic>
        <p:nvPicPr>
          <p:cNvPr id="22" name="Picture 21">
            <a:extLst>
              <a:ext uri="{FF2B5EF4-FFF2-40B4-BE49-F238E27FC236}">
                <a16:creationId xmlns:a16="http://schemas.microsoft.com/office/drawing/2014/main" id="{4223A667-37D2-F048-BA2B-45D1CDF19B2C}"/>
              </a:ext>
            </a:extLst>
          </p:cNvPr>
          <p:cNvPicPr>
            <a:picLocks noChangeAspect="1"/>
          </p:cNvPicPr>
          <p:nvPr userDrawn="1"/>
        </p:nvPicPr>
        <p:blipFill>
          <a:blip r:embed="rId6"/>
          <a:stretch>
            <a:fillRect/>
          </a:stretch>
        </p:blipFill>
        <p:spPr>
          <a:xfrm>
            <a:off x="5155877" y="6408705"/>
            <a:ext cx="672565" cy="257578"/>
          </a:xfrm>
          <a:prstGeom prst="rect">
            <a:avLst/>
          </a:prstGeom>
        </p:spPr>
      </p:pic>
    </p:spTree>
    <p:extLst>
      <p:ext uri="{BB962C8B-B14F-4D97-AF65-F5344CB8AC3E}">
        <p14:creationId xmlns:p14="http://schemas.microsoft.com/office/powerpoint/2010/main" val="92746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52E2F3B-FA48-9B42-96C3-9E918E8D0E8E}"/>
              </a:ext>
            </a:extLst>
          </p:cNvPr>
          <p:cNvSpPr/>
          <p:nvPr userDrawn="1"/>
        </p:nvSpPr>
        <p:spPr>
          <a:xfrm flipH="1">
            <a:off x="6850742" y="-21771"/>
            <a:ext cx="5341257" cy="6042025"/>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6509C478-2979-044D-8BED-E21C05C2B603}"/>
              </a:ext>
            </a:extLst>
          </p:cNvPr>
          <p:cNvSpPr>
            <a:spLocks noGrp="1"/>
          </p:cNvSpPr>
          <p:nvPr>
            <p:ph type="title" hasCustomPrompt="1"/>
          </p:nvPr>
        </p:nvSpPr>
        <p:spPr>
          <a:xfrm>
            <a:off x="672425" y="1108546"/>
            <a:ext cx="5065555" cy="1588157"/>
          </a:xfrm>
        </p:spPr>
        <p:txBody>
          <a:bodyPr anchor="t">
            <a:noAutofit/>
          </a:bodyPr>
          <a:lstStyle/>
          <a:p>
            <a:pPr>
              <a:lnSpc>
                <a:spcPct val="80000"/>
              </a:lnSpc>
            </a:pPr>
            <a:r>
              <a:rPr lang="en-US" sz="6600" dirty="0" err="1"/>
              <a:t>Firstname</a:t>
            </a:r>
            <a:r>
              <a:rPr lang="en-US" sz="6600" dirty="0"/>
              <a:t> </a:t>
            </a:r>
            <a:r>
              <a:rPr lang="en-US" sz="6600" dirty="0" err="1"/>
              <a:t>Lastname</a:t>
            </a:r>
            <a:endParaRPr lang="en-US" sz="6600" dirty="0"/>
          </a:p>
        </p:txBody>
      </p:sp>
      <p:pic>
        <p:nvPicPr>
          <p:cNvPr id="13" name="Picture 12">
            <a:extLst>
              <a:ext uri="{FF2B5EF4-FFF2-40B4-BE49-F238E27FC236}">
                <a16:creationId xmlns:a16="http://schemas.microsoft.com/office/drawing/2014/main" id="{73454EA4-E7DB-7A49-AE8D-7990F62ABE08}"/>
              </a:ext>
            </a:extLst>
          </p:cNvPr>
          <p:cNvPicPr>
            <a:picLocks noChangeAspect="1"/>
          </p:cNvPicPr>
          <p:nvPr userDrawn="1"/>
        </p:nvPicPr>
        <p:blipFill>
          <a:blip r:embed="rId3"/>
          <a:stretch>
            <a:fillRect/>
          </a:stretch>
        </p:blipFill>
        <p:spPr>
          <a:xfrm>
            <a:off x="752959" y="4363012"/>
            <a:ext cx="556647" cy="556647"/>
          </a:xfrm>
          <a:prstGeom prst="rect">
            <a:avLst/>
          </a:prstGeom>
        </p:spPr>
      </p:pic>
      <p:sp>
        <p:nvSpPr>
          <p:cNvPr id="21" name="Text Placeholder 20">
            <a:extLst>
              <a:ext uri="{FF2B5EF4-FFF2-40B4-BE49-F238E27FC236}">
                <a16:creationId xmlns:a16="http://schemas.microsoft.com/office/drawing/2014/main" id="{32B05DDB-22B2-634D-9DB4-3405A26E348F}"/>
              </a:ext>
            </a:extLst>
          </p:cNvPr>
          <p:cNvSpPr>
            <a:spLocks noGrp="1"/>
          </p:cNvSpPr>
          <p:nvPr>
            <p:ph type="body" sz="quarter" idx="13" hasCustomPrompt="1"/>
          </p:nvPr>
        </p:nvSpPr>
        <p:spPr>
          <a:xfrm>
            <a:off x="673139" y="2888797"/>
            <a:ext cx="5064125" cy="828439"/>
          </a:xfrm>
        </p:spPr>
        <p:txBody>
          <a:bodyPr/>
          <a:lstStyle>
            <a:lvl1pPr marL="0" indent="0">
              <a:buNone/>
              <a:defRPr>
                <a:solidFill>
                  <a:srgbClr val="039EDD"/>
                </a:solidFill>
              </a:defRPr>
            </a:lvl1pPr>
          </a:lstStyle>
          <a:p>
            <a:pPr lvl="0"/>
            <a:r>
              <a:rPr lang="en-US" dirty="0"/>
              <a:t>Title, Organization</a:t>
            </a:r>
          </a:p>
        </p:txBody>
      </p:sp>
      <p:sp>
        <p:nvSpPr>
          <p:cNvPr id="22" name="Text Placeholder 20">
            <a:extLst>
              <a:ext uri="{FF2B5EF4-FFF2-40B4-BE49-F238E27FC236}">
                <a16:creationId xmlns:a16="http://schemas.microsoft.com/office/drawing/2014/main" id="{7FB3B39F-35CC-FE44-A9B5-58533F889C44}"/>
              </a:ext>
            </a:extLst>
          </p:cNvPr>
          <p:cNvSpPr>
            <a:spLocks noGrp="1"/>
          </p:cNvSpPr>
          <p:nvPr>
            <p:ph type="body" sz="quarter" idx="14" hasCustomPrompt="1"/>
          </p:nvPr>
        </p:nvSpPr>
        <p:spPr>
          <a:xfrm>
            <a:off x="1518129" y="4378513"/>
            <a:ext cx="4219136" cy="828439"/>
          </a:xfrm>
        </p:spPr>
        <p:txBody>
          <a:bodyPr>
            <a:normAutofit/>
          </a:bodyPr>
          <a:lstStyle>
            <a:lvl1pPr marL="0" indent="0">
              <a:buNone/>
              <a:defRPr sz="2400">
                <a:solidFill>
                  <a:srgbClr val="039EDD"/>
                </a:solidFill>
              </a:defRPr>
            </a:lvl1pPr>
          </a:lstStyle>
          <a:p>
            <a:pPr lvl="0"/>
            <a:r>
              <a:rPr lang="en-US" dirty="0" err="1"/>
              <a:t>email@email.com</a:t>
            </a:r>
            <a:endParaRPr lang="en-US" dirty="0"/>
          </a:p>
        </p:txBody>
      </p:sp>
      <p:pic>
        <p:nvPicPr>
          <p:cNvPr id="15" name="Picture 14">
            <a:extLst>
              <a:ext uri="{FF2B5EF4-FFF2-40B4-BE49-F238E27FC236}">
                <a16:creationId xmlns:a16="http://schemas.microsoft.com/office/drawing/2014/main" id="{12B09FA8-EFE7-1E43-8BFE-DB29D1F8C50F}"/>
              </a:ext>
            </a:extLst>
          </p:cNvPr>
          <p:cNvPicPr>
            <a:picLocks noChangeAspect="1"/>
          </p:cNvPicPr>
          <p:nvPr userDrawn="1"/>
        </p:nvPicPr>
        <p:blipFill>
          <a:blip r:embed="rId4"/>
          <a:stretch>
            <a:fillRect/>
          </a:stretch>
        </p:blipFill>
        <p:spPr>
          <a:xfrm>
            <a:off x="7228182" y="616966"/>
            <a:ext cx="4378237" cy="4712454"/>
          </a:xfrm>
          <a:prstGeom prst="rect">
            <a:avLst/>
          </a:prstGeom>
        </p:spPr>
      </p:pic>
      <p:sp>
        <p:nvSpPr>
          <p:cNvPr id="9" name="Slide Number Placeholder 4">
            <a:extLst>
              <a:ext uri="{FF2B5EF4-FFF2-40B4-BE49-F238E27FC236}">
                <a16:creationId xmlns:a16="http://schemas.microsoft.com/office/drawing/2014/main" id="{EF6BD210-0CF6-A544-9AEF-0BAB87B7E45E}"/>
              </a:ext>
            </a:extLst>
          </p:cNvPr>
          <p:cNvSpPr>
            <a:spLocks noGrp="1"/>
          </p:cNvSpPr>
          <p:nvPr>
            <p:ph type="sldNum" sz="quarter" idx="12"/>
          </p:nvPr>
        </p:nvSpPr>
        <p:spPr>
          <a:xfrm>
            <a:off x="285307" y="6311946"/>
            <a:ext cx="766979" cy="365125"/>
          </a:xfrm>
          <a:prstGeom prst="rect">
            <a:avLst/>
          </a:prstGeom>
        </p:spPr>
        <p:txBody>
          <a:bodyPr/>
          <a:lstStyle>
            <a:lvl1pPr>
              <a:defRPr>
                <a:solidFill>
                  <a:srgbClr val="039EDD"/>
                </a:solidFill>
              </a:defRPr>
            </a:lvl1pPr>
          </a:lstStyle>
          <a:p>
            <a:fld id="{B0AF2983-4713-074B-8971-5C1C8A8E14E9}" type="slidenum">
              <a:rPr lang="en-US" smtClean="0"/>
              <a:pPr/>
              <a:t>‹#›</a:t>
            </a:fld>
            <a:endParaRPr lang="en-US" dirty="0"/>
          </a:p>
        </p:txBody>
      </p:sp>
      <p:pic>
        <p:nvPicPr>
          <p:cNvPr id="11" name="Picture 10">
            <a:extLst>
              <a:ext uri="{FF2B5EF4-FFF2-40B4-BE49-F238E27FC236}">
                <a16:creationId xmlns:a16="http://schemas.microsoft.com/office/drawing/2014/main" id="{5BC2B047-52AB-BD41-AC92-6667CC9A9898}"/>
              </a:ext>
            </a:extLst>
          </p:cNvPr>
          <p:cNvPicPr>
            <a:picLocks noChangeAspect="1"/>
          </p:cNvPicPr>
          <p:nvPr userDrawn="1"/>
        </p:nvPicPr>
        <p:blipFill>
          <a:blip r:embed="rId5"/>
          <a:stretch>
            <a:fillRect/>
          </a:stretch>
        </p:blipFill>
        <p:spPr>
          <a:xfrm>
            <a:off x="10880549" y="6331522"/>
            <a:ext cx="730880" cy="377228"/>
          </a:xfrm>
          <a:prstGeom prst="rect">
            <a:avLst/>
          </a:prstGeom>
        </p:spPr>
      </p:pic>
      <p:pic>
        <p:nvPicPr>
          <p:cNvPr id="14" name="Picture 13">
            <a:extLst>
              <a:ext uri="{FF2B5EF4-FFF2-40B4-BE49-F238E27FC236}">
                <a16:creationId xmlns:a16="http://schemas.microsoft.com/office/drawing/2014/main" id="{D85836E1-18DC-C447-A9DE-B4FBD3012DEB}"/>
              </a:ext>
            </a:extLst>
          </p:cNvPr>
          <p:cNvPicPr>
            <a:picLocks noChangeAspect="1"/>
          </p:cNvPicPr>
          <p:nvPr userDrawn="1"/>
        </p:nvPicPr>
        <p:blipFill>
          <a:blip r:embed="rId6"/>
          <a:stretch>
            <a:fillRect/>
          </a:stretch>
        </p:blipFill>
        <p:spPr>
          <a:xfrm>
            <a:off x="1406641" y="6261808"/>
            <a:ext cx="1559700" cy="462133"/>
          </a:xfrm>
          <a:prstGeom prst="rect">
            <a:avLst/>
          </a:prstGeom>
        </p:spPr>
      </p:pic>
      <p:pic>
        <p:nvPicPr>
          <p:cNvPr id="16" name="Picture 15">
            <a:extLst>
              <a:ext uri="{FF2B5EF4-FFF2-40B4-BE49-F238E27FC236}">
                <a16:creationId xmlns:a16="http://schemas.microsoft.com/office/drawing/2014/main" id="{4BD38A4D-CE4C-1742-96A1-69BA9F357300}"/>
              </a:ext>
            </a:extLst>
          </p:cNvPr>
          <p:cNvPicPr>
            <a:picLocks noChangeAspect="1"/>
          </p:cNvPicPr>
          <p:nvPr userDrawn="1"/>
        </p:nvPicPr>
        <p:blipFill>
          <a:blip r:embed="rId7"/>
          <a:stretch>
            <a:fillRect/>
          </a:stretch>
        </p:blipFill>
        <p:spPr>
          <a:xfrm>
            <a:off x="3567792" y="6389151"/>
            <a:ext cx="1282700" cy="292100"/>
          </a:xfrm>
          <a:prstGeom prst="rect">
            <a:avLst/>
          </a:prstGeom>
        </p:spPr>
      </p:pic>
      <p:pic>
        <p:nvPicPr>
          <p:cNvPr id="17" name="Picture 16">
            <a:extLst>
              <a:ext uri="{FF2B5EF4-FFF2-40B4-BE49-F238E27FC236}">
                <a16:creationId xmlns:a16="http://schemas.microsoft.com/office/drawing/2014/main" id="{593456EC-9911-3549-B25F-59ED16F3B5B5}"/>
              </a:ext>
            </a:extLst>
          </p:cNvPr>
          <p:cNvPicPr>
            <a:picLocks noChangeAspect="1"/>
          </p:cNvPicPr>
          <p:nvPr userDrawn="1"/>
        </p:nvPicPr>
        <p:blipFill>
          <a:blip r:embed="rId8"/>
          <a:stretch>
            <a:fillRect/>
          </a:stretch>
        </p:blipFill>
        <p:spPr>
          <a:xfrm>
            <a:off x="5155877" y="6408705"/>
            <a:ext cx="672565" cy="257578"/>
          </a:xfrm>
          <a:prstGeom prst="rect">
            <a:avLst/>
          </a:prstGeom>
        </p:spPr>
      </p:pic>
    </p:spTree>
    <p:extLst>
      <p:ext uri="{BB962C8B-B14F-4D97-AF65-F5344CB8AC3E}">
        <p14:creationId xmlns:p14="http://schemas.microsoft.com/office/powerpoint/2010/main" val="2262554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3" r:id="rId1"/>
    <p:sldLayoutId id="2147483754" r:id="rId2"/>
    <p:sldLayoutId id="2147483756" r:id="rId3"/>
    <p:sldLayoutId id="2147483757" r:id="rId4"/>
    <p:sldLayoutId id="2147483758" r:id="rId5"/>
  </p:sldLayoutIdLst>
  <p:txStyles>
    <p:titleStyle>
      <a:lvl1pPr algn="l" rtl="0" eaLnBrk="0" fontAlgn="base" hangingPunct="0">
        <a:lnSpc>
          <a:spcPct val="145000"/>
        </a:lnSpc>
        <a:spcBef>
          <a:spcPct val="0"/>
        </a:spcBef>
        <a:spcAft>
          <a:spcPct val="0"/>
        </a:spcAft>
        <a:buClr>
          <a:srgbClr val="FFBB00"/>
        </a:buClr>
        <a:buFont typeface="Wingdings" pitchFamily="2" charset="2"/>
        <a:defRPr lang="en-GB" sz="2800" kern="1200">
          <a:solidFill>
            <a:schemeClr val="bg1"/>
          </a:solidFill>
          <a:effectLst>
            <a:outerShdw blurRad="38100" dist="38100" dir="2700000" algn="tl">
              <a:srgbClr val="000000">
                <a:alpha val="43137"/>
              </a:srgbClr>
            </a:outerShdw>
          </a:effectLst>
          <a:latin typeface="+mn-lt"/>
          <a:ea typeface="ＭＳ Ｐゴシック" charset="0"/>
          <a:cs typeface="+mn-cs"/>
        </a:defRPr>
      </a:lvl1pPr>
      <a:lvl2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2pPr>
      <a:lvl3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3pPr>
      <a:lvl4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4pPr>
      <a:lvl5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lnSpc>
          <a:spcPts val="2400"/>
        </a:lnSpc>
        <a:spcBef>
          <a:spcPts val="600"/>
        </a:spcBef>
        <a:spcAft>
          <a:spcPts val="600"/>
        </a:spcAft>
        <a:buClr>
          <a:srgbClr val="002277"/>
        </a:buClr>
        <a:buBlip>
          <a:blip r:embed="rId8"/>
        </a:buBlip>
        <a:defRPr lang="en-GB" sz="2000" kern="1200">
          <a:solidFill>
            <a:srgbClr val="002277"/>
          </a:solidFill>
          <a:latin typeface="+mn-lt"/>
          <a:ea typeface="ＭＳ Ｐゴシック" charset="0"/>
          <a:cs typeface="+mn-cs"/>
        </a:defRPr>
      </a:lvl1pPr>
      <a:lvl2pPr marL="742950" indent="-285750" algn="l" rtl="0" eaLnBrk="0" fontAlgn="base" hangingPunct="0">
        <a:lnSpc>
          <a:spcPts val="2400"/>
        </a:lnSpc>
        <a:spcBef>
          <a:spcPts val="600"/>
        </a:spcBef>
        <a:spcAft>
          <a:spcPts val="600"/>
        </a:spcAft>
        <a:buClr>
          <a:srgbClr val="002277"/>
        </a:buClr>
        <a:buBlip>
          <a:blip r:embed="rId8"/>
        </a:buBlip>
        <a:defRPr lang="en-GB" sz="2000" kern="1200">
          <a:solidFill>
            <a:srgbClr val="002277"/>
          </a:solidFill>
          <a:latin typeface="+mn-lt"/>
          <a:ea typeface="ＭＳ Ｐゴシック" charset="0"/>
          <a:cs typeface="+mn-cs"/>
        </a:defRPr>
      </a:lvl2pPr>
      <a:lvl3pPr marL="1143000" indent="-228600" algn="l" rtl="0" eaLnBrk="0" fontAlgn="base" hangingPunct="0">
        <a:lnSpc>
          <a:spcPts val="2400"/>
        </a:lnSpc>
        <a:spcBef>
          <a:spcPts val="600"/>
        </a:spcBef>
        <a:spcAft>
          <a:spcPts val="600"/>
        </a:spcAft>
        <a:buClr>
          <a:srgbClr val="002277"/>
        </a:buClr>
        <a:buBlip>
          <a:blip r:embed="rId8"/>
        </a:buBlip>
        <a:defRPr lang="en-GB" kern="1200">
          <a:solidFill>
            <a:srgbClr val="002277"/>
          </a:solidFill>
          <a:latin typeface="+mn-lt"/>
          <a:ea typeface="ＭＳ Ｐゴシック" charset="0"/>
          <a:cs typeface="+mn-cs"/>
        </a:defRPr>
      </a:lvl3pPr>
      <a:lvl4pPr marL="1600200" indent="-228600" algn="l" rtl="0" eaLnBrk="0" fontAlgn="base" hangingPunct="0">
        <a:lnSpc>
          <a:spcPts val="2400"/>
        </a:lnSpc>
        <a:spcBef>
          <a:spcPts val="600"/>
        </a:spcBef>
        <a:spcAft>
          <a:spcPts val="600"/>
        </a:spcAft>
        <a:buClr>
          <a:srgbClr val="002277"/>
        </a:buClr>
        <a:buBlip>
          <a:blip r:embed="rId8"/>
        </a:buBlip>
        <a:defRPr lang="en-GB" sz="1600" kern="1200">
          <a:solidFill>
            <a:srgbClr val="002277"/>
          </a:solidFill>
          <a:latin typeface="+mn-lt"/>
          <a:ea typeface="ＭＳ Ｐゴシック" charset="0"/>
          <a:cs typeface="+mn-cs"/>
        </a:defRPr>
      </a:lvl4pPr>
      <a:lvl5pPr marL="2057400" indent="-228600" algn="l" rtl="0" eaLnBrk="0" fontAlgn="base" hangingPunct="0">
        <a:lnSpc>
          <a:spcPts val="2400"/>
        </a:lnSpc>
        <a:spcBef>
          <a:spcPts val="600"/>
        </a:spcBef>
        <a:spcAft>
          <a:spcPts val="600"/>
        </a:spcAft>
        <a:buClr>
          <a:srgbClr val="002277"/>
        </a:buClr>
        <a:buBlip>
          <a:blip r:embed="rId8"/>
        </a:buBlip>
        <a:defRPr lang="en-GB" sz="1600" kern="1200">
          <a:solidFill>
            <a:srgbClr val="002277"/>
          </a:solidFill>
          <a:latin typeface="+mn-lt"/>
          <a:ea typeface="ＭＳ Ｐゴシック" charset="0"/>
          <a:cs typeface="+mn-cs"/>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7">
            <a:extLst>
              <a:ext uri="{FF2B5EF4-FFF2-40B4-BE49-F238E27FC236}">
                <a16:creationId xmlns:a16="http://schemas.microsoft.com/office/drawing/2014/main" id="{10231928-E1A9-46E1-AA1A-CDE4EA6E4D5A}"/>
              </a:ext>
            </a:extLst>
          </p:cNvPr>
          <p:cNvSpPr txBox="1">
            <a:spLocks/>
          </p:cNvSpPr>
          <p:nvPr/>
        </p:nvSpPr>
        <p:spPr>
          <a:xfrm>
            <a:off x="5360566" y="2710225"/>
            <a:ext cx="5328592" cy="1328375"/>
          </a:xfrm>
          <a:prstGeom prst="rect">
            <a:avLst/>
          </a:prstGeom>
          <a:effectLst>
            <a:outerShdw blurRad="25400" dist="25400" dir="2700000" sx="2000" sy="2000" algn="ctr" rotWithShape="0">
              <a:srgbClr val="000000">
                <a:alpha val="43137"/>
              </a:srgbClr>
            </a:outerShdw>
          </a:effectLst>
        </p:spPr>
        <p:txBody>
          <a:bodyPr/>
          <a:lstStyle>
            <a:lvl1pPr marL="342900" indent="-342900" algn="l" rtl="0" eaLnBrk="0" fontAlgn="base" hangingPunct="0">
              <a:lnSpc>
                <a:spcPts val="2400"/>
              </a:lnSpc>
              <a:spcBef>
                <a:spcPts val="600"/>
              </a:spcBef>
              <a:spcAft>
                <a:spcPts val="600"/>
              </a:spcAft>
              <a:buClr>
                <a:srgbClr val="002277"/>
              </a:buClr>
              <a:buBlip>
                <a:blip r:embed="rId3"/>
              </a:buBlip>
              <a:defRPr lang="en-GB" sz="2000" kern="1200">
                <a:solidFill>
                  <a:srgbClr val="002277"/>
                </a:solidFill>
                <a:latin typeface="+mn-lt"/>
                <a:ea typeface="ＭＳ Ｐゴシック" charset="0"/>
                <a:cs typeface="+mn-cs"/>
              </a:defRPr>
            </a:lvl1pPr>
            <a:lvl2pPr marL="742950" indent="-285750" algn="l" rtl="0" eaLnBrk="0" fontAlgn="base" hangingPunct="0">
              <a:lnSpc>
                <a:spcPts val="2400"/>
              </a:lnSpc>
              <a:spcBef>
                <a:spcPts val="600"/>
              </a:spcBef>
              <a:spcAft>
                <a:spcPts val="600"/>
              </a:spcAft>
              <a:buClr>
                <a:srgbClr val="002277"/>
              </a:buClr>
              <a:buBlip>
                <a:blip r:embed="rId3"/>
              </a:buBlip>
              <a:defRPr lang="en-GB" sz="2000" kern="1200">
                <a:solidFill>
                  <a:srgbClr val="002277"/>
                </a:solidFill>
                <a:latin typeface="+mn-lt"/>
                <a:ea typeface="ＭＳ Ｐゴシック" charset="0"/>
                <a:cs typeface="+mn-cs"/>
              </a:defRPr>
            </a:lvl2pPr>
            <a:lvl3pPr marL="1143000" indent="-228600" algn="l" rtl="0" eaLnBrk="0" fontAlgn="base" hangingPunct="0">
              <a:lnSpc>
                <a:spcPts val="2400"/>
              </a:lnSpc>
              <a:spcBef>
                <a:spcPts val="600"/>
              </a:spcBef>
              <a:spcAft>
                <a:spcPts val="600"/>
              </a:spcAft>
              <a:buClr>
                <a:srgbClr val="002277"/>
              </a:buClr>
              <a:buBlip>
                <a:blip r:embed="rId3"/>
              </a:buBlip>
              <a:defRPr lang="en-GB" kern="1200">
                <a:solidFill>
                  <a:srgbClr val="002277"/>
                </a:solidFill>
                <a:latin typeface="+mn-lt"/>
                <a:ea typeface="ＭＳ Ｐゴシック" charset="0"/>
                <a:cs typeface="+mn-cs"/>
              </a:defRPr>
            </a:lvl3pPr>
            <a:lvl4pPr marL="1600200" indent="-228600" algn="l" rtl="0" eaLnBrk="0" fontAlgn="base" hangingPunct="0">
              <a:lnSpc>
                <a:spcPts val="2400"/>
              </a:lnSpc>
              <a:spcBef>
                <a:spcPts val="600"/>
              </a:spcBef>
              <a:spcAft>
                <a:spcPts val="600"/>
              </a:spcAft>
              <a:buClr>
                <a:srgbClr val="002277"/>
              </a:buClr>
              <a:buBlip>
                <a:blip r:embed="rId3"/>
              </a:buBlip>
              <a:defRPr lang="en-GB" sz="1600" kern="1200">
                <a:solidFill>
                  <a:srgbClr val="002277"/>
                </a:solidFill>
                <a:latin typeface="+mn-lt"/>
                <a:ea typeface="ＭＳ Ｐゴシック" charset="0"/>
                <a:cs typeface="+mn-cs"/>
              </a:defRPr>
            </a:lvl4pPr>
            <a:lvl5pPr marL="2057400" indent="-228600" algn="l" rtl="0" eaLnBrk="0" fontAlgn="base" hangingPunct="0">
              <a:lnSpc>
                <a:spcPts val="2400"/>
              </a:lnSpc>
              <a:spcBef>
                <a:spcPts val="600"/>
              </a:spcBef>
              <a:spcAft>
                <a:spcPts val="600"/>
              </a:spcAft>
              <a:buClr>
                <a:srgbClr val="002277"/>
              </a:buClr>
              <a:buBlip>
                <a:blip r:embed="rId3"/>
              </a:buBlip>
              <a:defRPr lang="en-GB" sz="1600" kern="1200">
                <a:solidFill>
                  <a:srgbClr val="002277"/>
                </a:solidFill>
                <a:latin typeface="+mn-lt"/>
                <a:ea typeface="ＭＳ Ｐゴシック" charset="0"/>
                <a:cs typeface="+mn-cs"/>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endParaRPr/>
          </a:p>
        </p:txBody>
      </p:sp>
      <p:sp>
        <p:nvSpPr>
          <p:cNvPr id="5" name="Title 1">
            <a:extLst>
              <a:ext uri="{FF2B5EF4-FFF2-40B4-BE49-F238E27FC236}">
                <a16:creationId xmlns:a16="http://schemas.microsoft.com/office/drawing/2014/main" id="{098B86D8-568A-410C-A413-65DC5A6ED123}"/>
              </a:ext>
            </a:extLst>
          </p:cNvPr>
          <p:cNvSpPr txBox="1">
            <a:spLocks/>
          </p:cNvSpPr>
          <p:nvPr/>
        </p:nvSpPr>
        <p:spPr>
          <a:xfrm>
            <a:off x="5074920" y="1353312"/>
            <a:ext cx="5760720" cy="548640"/>
          </a:xfrm>
          <a:prstGeom prst="rect">
            <a:avLst/>
          </a:prstGeom>
          <a:effectLst/>
        </p:spPr>
        <p:txBody>
          <a:bodyPr/>
          <a:lstStyle>
            <a:lvl1pPr algn="l" rtl="0" eaLnBrk="0" fontAlgn="base" hangingPunct="0">
              <a:lnSpc>
                <a:spcPct val="145000"/>
              </a:lnSpc>
              <a:spcBef>
                <a:spcPct val="0"/>
              </a:spcBef>
              <a:spcAft>
                <a:spcPct val="0"/>
              </a:spcAft>
              <a:buClr>
                <a:srgbClr val="FFBB00"/>
              </a:buClr>
              <a:buFont typeface="Wingdings" pitchFamily="2" charset="2"/>
              <a:defRPr lang="en-GB" sz="2800" kern="1200">
                <a:solidFill>
                  <a:schemeClr val="bg1"/>
                </a:solidFill>
                <a:effectLst>
                  <a:outerShdw blurRad="38100" dist="38100" dir="2700000" algn="tl">
                    <a:srgbClr val="000000">
                      <a:alpha val="43137"/>
                    </a:srgbClr>
                  </a:outerShdw>
                </a:effectLst>
                <a:latin typeface="+mn-lt"/>
                <a:ea typeface="ＭＳ Ｐゴシック" charset="0"/>
                <a:cs typeface="+mn-cs"/>
              </a:defRPr>
            </a:lvl1pPr>
            <a:lvl2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2pPr>
            <a:lvl3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3pPr>
            <a:lvl4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4pPr>
            <a:lvl5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sz="2400">
                <a:solidFill>
                  <a:srgbClr val="666666"/>
                </a:solidFill>
              </a:rPr>
              <a:t>Proposal Professional Impact Paper</a:t>
            </a:r>
          </a:p>
        </p:txBody>
      </p:sp>
      <p:sp>
        <p:nvSpPr>
          <p:cNvPr id="6" name="Title 3"/>
          <p:cNvSpPr txBox="1">
            <a:spLocks/>
          </p:cNvSpPr>
          <p:nvPr/>
        </p:nvSpPr>
        <p:spPr>
          <a:xfrm>
            <a:off x="5404557" y="2629023"/>
            <a:ext cx="5684217" cy="3524042"/>
          </a:xfrm>
          <a:prstGeom prst="rect">
            <a:avLst/>
          </a:prstGeom>
          <a:noFill/>
          <a:ln w="9525">
            <a:noFill/>
            <a:miter lim="800000"/>
            <a:headEnd/>
            <a:tailEnd/>
          </a:ln>
        </p:spPr>
        <p:txBody>
          <a:bodyPr wrap="square" lIns="0" tIns="0" rIns="0" bIns="0">
            <a:spAutoFit/>
          </a:bodyPr>
          <a:lstStyle>
            <a:lvl1pPr algn="l" rtl="0" eaLnBrk="0" fontAlgn="base" hangingPunct="0">
              <a:lnSpc>
                <a:spcPct val="145000"/>
              </a:lnSpc>
              <a:spcBef>
                <a:spcPct val="0"/>
              </a:spcBef>
              <a:spcAft>
                <a:spcPct val="0"/>
              </a:spcAft>
              <a:buClr>
                <a:srgbClr val="FFBB00"/>
              </a:buClr>
              <a:buFont typeface="Wingdings" pitchFamily="2" charset="2"/>
              <a:buNone/>
              <a:defRPr lang="en-GB" sz="4000" b="0" i="0" kern="1200" spc="-150" baseline="0">
                <a:solidFill>
                  <a:schemeClr val="bg1"/>
                </a:solidFill>
                <a:effectLst/>
                <a:latin typeface="Calibri"/>
                <a:ea typeface="+mn-ea"/>
                <a:cs typeface="Calibri"/>
              </a:defRPr>
            </a:lvl1pPr>
            <a:lvl2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2pPr>
            <a:lvl3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3pPr>
            <a:lvl4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4pPr>
            <a:lvl5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endParaRPr/>
          </a:p>
        </p:txBody>
      </p:sp>
      <p:sp>
        <p:nvSpPr>
          <p:cNvPr id="21" name="TextBox 20"/>
          <p:cNvSpPr txBox="1"/>
          <p:nvPr/>
        </p:nvSpPr>
        <p:spPr>
          <a:xfrm>
            <a:off x="5102352" y="1993392"/>
            <a:ext cx="5486400" cy="646331"/>
          </a:xfrm>
          <a:prstGeom prst="rect">
            <a:avLst/>
          </a:prstGeom>
          <a:noFill/>
        </p:spPr>
        <p:txBody>
          <a:bodyPr wrap="square" anchor="t">
            <a:spAutoFit/>
          </a:bodyPr>
          <a:lstStyle/>
          <a:p>
            <a:pPr algn="l"/>
            <a:r>
              <a:rPr sz="1800" b="0" i="0" dirty="0">
                <a:solidFill>
                  <a:srgbClr val="1F4E79"/>
                </a:solidFill>
              </a:rPr>
              <a:t>Detroit</a:t>
            </a:r>
            <a:r>
              <a:rPr lang="en-US" sz="1800" b="0" i="0" dirty="0">
                <a:solidFill>
                  <a:srgbClr val="1F4E79"/>
                </a:solidFill>
              </a:rPr>
              <a:t> Publi</a:t>
            </a:r>
            <a:r>
              <a:rPr lang="en-US" dirty="0">
                <a:solidFill>
                  <a:srgbClr val="1F4E79"/>
                </a:solidFill>
              </a:rPr>
              <a:t>c Schools</a:t>
            </a:r>
            <a:r>
              <a:rPr sz="1800" b="0" i="0" dirty="0">
                <a:solidFill>
                  <a:srgbClr val="1F4E79"/>
                </a:solidFill>
              </a:rPr>
              <a:t>/RNA Recompete Bid Rescue and Reuse</a:t>
            </a:r>
          </a:p>
        </p:txBody>
      </p:sp>
      <p:sp>
        <p:nvSpPr>
          <p:cNvPr id="22" name="TextBox 21"/>
          <p:cNvSpPr txBox="1"/>
          <p:nvPr/>
        </p:nvSpPr>
        <p:spPr>
          <a:xfrm>
            <a:off x="5120640" y="3154680"/>
            <a:ext cx="4937760" cy="1280160"/>
          </a:xfrm>
          <a:prstGeom prst="rect">
            <a:avLst/>
          </a:prstGeom>
          <a:noFill/>
        </p:spPr>
        <p:txBody>
          <a:bodyPr wrap="square" anchor="t">
            <a:spAutoFit/>
          </a:bodyPr>
          <a:lstStyle/>
          <a:p>
            <a:pPr algn="l"/>
            <a:r>
              <a:rPr sz="1400" b="0" i="0">
                <a:solidFill>
                  <a:srgbClr val="1F1F1F"/>
                </a:solidFill>
              </a:rPr>
              <a:t>Candidate Name: Timothy Semenza
APMP Candidate Number: 28366
Timeframe: November 2025 to January 2026</a:t>
            </a:r>
          </a:p>
        </p:txBody>
      </p:sp>
    </p:spTree>
    <p:extLst>
      <p:ext uri="{BB962C8B-B14F-4D97-AF65-F5344CB8AC3E}">
        <p14:creationId xmlns:p14="http://schemas.microsoft.com/office/powerpoint/2010/main" val="414394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nodePh="1">
                                  <p:stCondLst>
                                    <p:cond delay="0"/>
                                  </p:stCondLst>
                                  <p:endCondLst>
                                    <p:cond evt="begin" delay="0">
                                      <p:tn val="11"/>
                                    </p:cond>
                                  </p:end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fill="hold"/>
                                        <p:tgtEl>
                                          <p:spTgt spid="4"/>
                                        </p:tgtEl>
                                        <p:attrNameLst>
                                          <p:attrName>ppt_x</p:attrName>
                                        </p:attrNameLst>
                                      </p:cBhvr>
                                      <p:tavLst>
                                        <p:tav tm="0">
                                          <p:val>
                                            <p:strVal val="#ppt_x"/>
                                          </p:val>
                                        </p:tav>
                                        <p:tav tm="100000">
                                          <p:val>
                                            <p:strVal val="#ppt_x"/>
                                          </p:val>
                                        </p:tav>
                                      </p:tavLst>
                                    </p:anim>
                                    <p:anim calcmode="lin" valueType="num">
                                      <p:cBhvr>
                                        <p:cTn id="15"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B83FC-53AF-4DD6-86E2-69B724171789}"/>
              </a:ext>
            </a:extLst>
          </p:cNvPr>
          <p:cNvSpPr>
            <a:spLocks noGrp="1"/>
          </p:cNvSpPr>
          <p:nvPr>
            <p:ph type="title"/>
          </p:nvPr>
        </p:nvSpPr>
        <p:spPr>
          <a:xfrm>
            <a:off x="609599" y="206561"/>
            <a:ext cx="10972800" cy="1143000"/>
          </a:xfrm>
        </p:spPr>
        <p:txBody>
          <a:bodyPr/>
          <a:lstStyle/>
          <a:p>
            <a:r>
              <a:t>Summary of Impact</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dirty="0">
                <a:solidFill>
                  <a:srgbClr val="1F1F1F"/>
                </a:solidFill>
              </a:rPr>
              <a:t>In 20 working days, I took control of an unprepared $85M Detroit Public Schools recompete, coordinated about 15 stakeholders, reached 2 finalist presentations, and turned the work into reusable RNA school-bid infrastructure.</a:t>
            </a:r>
          </a:p>
        </p:txBody>
      </p:sp>
      <p:graphicFrame>
        <p:nvGraphicFramePr>
          <p:cNvPr id="4" name="Table 3"/>
          <p:cNvGraphicFramePr>
            <a:graphicFrameLocks noGrp="1"/>
          </p:cNvGraphicFramePr>
          <p:nvPr>
            <p:extLst>
              <p:ext uri="{D42A27DB-BD31-4B8C-83A1-F6EECF244321}">
                <p14:modId xmlns:p14="http://schemas.microsoft.com/office/powerpoint/2010/main" val="1599992124"/>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749807">
                <a:tc>
                  <a:txBody>
                    <a:bodyPr/>
                    <a:lstStyle/>
                    <a:p>
                      <a:r>
                        <a:rPr sz="1200" b="1" dirty="0">
                          <a:solidFill>
                            <a:srgbClr val="FFFFFF"/>
                          </a:solidFill>
                        </a:rPr>
                        <a:t>Category</a:t>
                      </a:r>
                    </a:p>
                  </a:txBody>
                  <a:tcPr>
                    <a:solidFill>
                      <a:srgbClr val="1F4E79"/>
                    </a:solidFill>
                  </a:tcPr>
                </a:tc>
                <a:tc>
                  <a:txBody>
                    <a:bodyPr/>
                    <a:lstStyle/>
                    <a:p>
                      <a:r>
                        <a:rPr sz="1200" b="1">
                          <a:solidFill>
                            <a:srgbClr val="FFFFFF"/>
                          </a:solidFill>
                        </a:rPr>
                        <a:t>Evidence</a:t>
                      </a:r>
                    </a:p>
                  </a:txBody>
                  <a:tcPr>
                    <a:solidFill>
                      <a:srgbClr val="1F4E79"/>
                    </a:solidFill>
                  </a:tcPr>
                </a:tc>
                <a:extLst>
                  <a:ext uri="{0D108BD9-81ED-4DB2-BD59-A6C34878D82A}">
                    <a16:rowId xmlns:a16="http://schemas.microsoft.com/office/drawing/2014/main" val="10000"/>
                  </a:ext>
                </a:extLst>
              </a:tr>
              <a:tr h="749807">
                <a:tc>
                  <a:txBody>
                    <a:bodyPr/>
                    <a:lstStyle/>
                    <a:p>
                      <a:r>
                        <a:rPr sz="1100">
                          <a:solidFill>
                            <a:srgbClr val="000000"/>
                          </a:solidFill>
                        </a:rPr>
                        <a:t>Strategic importance</a:t>
                      </a:r>
                    </a:p>
                  </a:txBody>
                  <a:tcPr/>
                </a:tc>
                <a:tc>
                  <a:txBody>
                    <a:bodyPr/>
                    <a:lstStyle/>
                    <a:p>
                      <a:r>
                        <a:rPr sz="1100">
                          <a:solidFill>
                            <a:srgbClr val="000000"/>
                          </a:solidFill>
                        </a:rPr>
                        <a:t>Incumbent work represented more than 25% of RNA's book of business and expanded from about $14M current scope to an $85M target</a:t>
                      </a:r>
                    </a:p>
                  </a:txBody>
                  <a:tcPr/>
                </a:tc>
                <a:extLst>
                  <a:ext uri="{0D108BD9-81ED-4DB2-BD59-A6C34878D82A}">
                    <a16:rowId xmlns:a16="http://schemas.microsoft.com/office/drawing/2014/main" val="10001"/>
                  </a:ext>
                </a:extLst>
              </a:tr>
              <a:tr h="749807">
                <a:tc>
                  <a:txBody>
                    <a:bodyPr/>
                    <a:lstStyle/>
                    <a:p>
                      <a:r>
                        <a:rPr sz="1100">
                          <a:solidFill>
                            <a:srgbClr val="000000"/>
                          </a:solidFill>
                        </a:rPr>
                        <a:t>Leadership role</a:t>
                      </a:r>
                    </a:p>
                  </a:txBody>
                  <a:tcPr/>
                </a:tc>
                <a:tc>
                  <a:txBody>
                    <a:bodyPr/>
                    <a:lstStyle/>
                    <a:p>
                      <a:r>
                        <a:rPr sz="1100" dirty="0">
                          <a:solidFill>
                            <a:srgbClr val="000000"/>
                          </a:solidFill>
                        </a:rPr>
                        <a:t>I led 100% of coordination and about 60% of drafting across executives, pricing, operations, engineering, </a:t>
                      </a:r>
                      <a:r>
                        <a:rPr lang="en-US" sz="1100" dirty="0">
                          <a:solidFill>
                            <a:srgbClr val="000000"/>
                          </a:solidFill>
                        </a:rPr>
                        <a:t>account management</a:t>
                      </a:r>
                      <a:r>
                        <a:rPr sz="1100" dirty="0">
                          <a:solidFill>
                            <a:srgbClr val="000000"/>
                          </a:solidFill>
                        </a:rPr>
                        <a:t>, and an external consultant</a:t>
                      </a:r>
                    </a:p>
                  </a:txBody>
                  <a:tcPr/>
                </a:tc>
                <a:extLst>
                  <a:ext uri="{0D108BD9-81ED-4DB2-BD59-A6C34878D82A}">
                    <a16:rowId xmlns:a16="http://schemas.microsoft.com/office/drawing/2014/main" val="10002"/>
                  </a:ext>
                </a:extLst>
              </a:tr>
              <a:tr h="749807">
                <a:tc>
                  <a:txBody>
                    <a:bodyPr/>
                    <a:lstStyle/>
                    <a:p>
                      <a:r>
                        <a:rPr sz="1100">
                          <a:solidFill>
                            <a:srgbClr val="000000"/>
                          </a:solidFill>
                        </a:rPr>
                        <a:t>Immediate outcome</a:t>
                      </a:r>
                    </a:p>
                  </a:txBody>
                  <a:tcPr/>
                </a:tc>
                <a:tc>
                  <a:txBody>
                    <a:bodyPr/>
                    <a:lstStyle/>
                    <a:p>
                      <a:r>
                        <a:rPr sz="1100">
                          <a:solidFill>
                            <a:srgbClr val="000000"/>
                          </a:solidFill>
                        </a:rPr>
                        <a:t>Compliant submission completed inside about 20 working days and advanced to 2 finalist presentations</a:t>
                      </a:r>
                    </a:p>
                  </a:txBody>
                  <a:tcPr/>
                </a:tc>
                <a:extLst>
                  <a:ext uri="{0D108BD9-81ED-4DB2-BD59-A6C34878D82A}">
                    <a16:rowId xmlns:a16="http://schemas.microsoft.com/office/drawing/2014/main" val="10003"/>
                  </a:ext>
                </a:extLst>
              </a:tr>
              <a:tr h="749811">
                <a:tc>
                  <a:txBody>
                    <a:bodyPr/>
                    <a:lstStyle/>
                    <a:p>
                      <a:r>
                        <a:rPr sz="1100">
                          <a:solidFill>
                            <a:srgbClr val="000000"/>
                          </a:solidFill>
                        </a:rPr>
                        <a:t>Sustained outcome</a:t>
                      </a:r>
                    </a:p>
                  </a:txBody>
                  <a:tcPr/>
                </a:tc>
                <a:tc>
                  <a:txBody>
                    <a:bodyPr/>
                    <a:lstStyle/>
                    <a:p>
                      <a:r>
                        <a:rPr sz="1100" dirty="0">
                          <a:solidFill>
                            <a:srgbClr val="000000"/>
                          </a:solidFill>
                        </a:rPr>
                        <a:t>Detroit-developed content and templates were reused on about 12 later school bids, including about 6 active at once immediately afterward</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A high-risk recompete became a reusable school-bid operating model within one compressed pursuit cycle.</a:t>
            </a:r>
          </a:p>
        </p:txBody>
      </p:sp>
    </p:spTree>
    <p:extLst>
      <p:ext uri="{BB962C8B-B14F-4D97-AF65-F5344CB8AC3E}">
        <p14:creationId xmlns:p14="http://schemas.microsoft.com/office/powerpoint/2010/main" val="1610763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197768"/>
            <a:ext cx="10972800" cy="656474"/>
          </a:xfrm>
          <a:effectLst/>
        </p:spPr>
        <p:txBody>
          <a:bodyPr/>
          <a:lstStyle/>
          <a:p>
            <a:r>
              <a:t>The Situation</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lang="en-US" sz="1400">
                <a:solidFill>
                  <a:srgbClr val="1F1F1F"/>
                </a:solidFill>
                <a:effectLst/>
                <a:latin typeface="Arial" panose="020B0604020202020204" pitchFamily="34" charset="0"/>
              </a:rPr>
              <a:t>RNA encountered a Detroit Public Schools recompete without a clear capture plan, minimal executive involvement in the RFP, and a late external consultant, despite the incumbent work making up over 25% of its business.</a:t>
            </a:r>
            <a:endParaRPr sz="1400" b="0" i="0" dirty="0">
              <a:solidFill>
                <a:srgbClr val="1F1F1F"/>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790497270"/>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937259">
                <a:tc>
                  <a:txBody>
                    <a:bodyPr/>
                    <a:lstStyle/>
                    <a:p>
                      <a:r>
                        <a:rPr sz="1200" b="1" dirty="0">
                          <a:solidFill>
                            <a:srgbClr val="FFFFFF"/>
                          </a:solidFill>
                        </a:rPr>
                        <a:t>Stakeholder Group</a:t>
                      </a:r>
                    </a:p>
                  </a:txBody>
                  <a:tcPr>
                    <a:solidFill>
                      <a:srgbClr val="1F4E79"/>
                    </a:solidFill>
                  </a:tcPr>
                </a:tc>
                <a:tc>
                  <a:txBody>
                    <a:bodyPr/>
                    <a:lstStyle/>
                    <a:p>
                      <a:r>
                        <a:rPr sz="1200" b="1" dirty="0">
                          <a:solidFill>
                            <a:srgbClr val="FFFFFF"/>
                          </a:solidFill>
                        </a:rPr>
                        <a:t>Who Was Involved</a:t>
                      </a:r>
                    </a:p>
                  </a:txBody>
                  <a:tcPr>
                    <a:solidFill>
                      <a:srgbClr val="1F4E79"/>
                    </a:solidFill>
                  </a:tcPr>
                </a:tc>
                <a:tc>
                  <a:txBody>
                    <a:bodyPr/>
                    <a:lstStyle/>
                    <a:p>
                      <a:r>
                        <a:rPr sz="1200" b="1">
                          <a:solidFill>
                            <a:srgbClr val="FFFFFF"/>
                          </a:solidFill>
                        </a:rPr>
                        <a:t>Why They Mattered</a:t>
                      </a:r>
                    </a:p>
                  </a:txBody>
                  <a:tcPr>
                    <a:solidFill>
                      <a:srgbClr val="1F4E79"/>
                    </a:solidFill>
                  </a:tcPr>
                </a:tc>
                <a:extLst>
                  <a:ext uri="{0D108BD9-81ED-4DB2-BD59-A6C34878D82A}">
                    <a16:rowId xmlns:a16="http://schemas.microsoft.com/office/drawing/2014/main" val="10000"/>
                  </a:ext>
                </a:extLst>
              </a:tr>
              <a:tr h="937259">
                <a:tc>
                  <a:txBody>
                    <a:bodyPr/>
                    <a:lstStyle/>
                    <a:p>
                      <a:r>
                        <a:rPr sz="1100">
                          <a:solidFill>
                            <a:srgbClr val="000000"/>
                          </a:solidFill>
                        </a:rPr>
                        <a:t>Senior leaders</a:t>
                      </a:r>
                    </a:p>
                  </a:txBody>
                  <a:tcPr/>
                </a:tc>
                <a:tc>
                  <a:txBody>
                    <a:bodyPr/>
                    <a:lstStyle/>
                    <a:p>
                      <a:r>
                        <a:rPr sz="1100" dirty="0">
                          <a:solidFill>
                            <a:srgbClr val="000000"/>
                          </a:solidFill>
                        </a:rPr>
                        <a:t>Victoria </a:t>
                      </a:r>
                      <a:r>
                        <a:rPr lang="en-US" sz="1100" dirty="0">
                          <a:solidFill>
                            <a:srgbClr val="000000"/>
                          </a:solidFill>
                        </a:rPr>
                        <a:t>Arinze (CRO)</a:t>
                      </a:r>
                    </a:p>
                    <a:p>
                      <a:r>
                        <a:rPr sz="1100" dirty="0">
                          <a:solidFill>
                            <a:srgbClr val="000000"/>
                          </a:solidFill>
                        </a:rPr>
                        <a:t>Mufid Far</a:t>
                      </a:r>
                      <a:r>
                        <a:rPr lang="en-US" sz="1100" dirty="0">
                          <a:solidFill>
                            <a:srgbClr val="000000"/>
                          </a:solidFill>
                        </a:rPr>
                        <a:t>ha (CEO)</a:t>
                      </a:r>
                    </a:p>
                    <a:p>
                      <a:r>
                        <a:rPr sz="1100" dirty="0">
                          <a:solidFill>
                            <a:srgbClr val="000000"/>
                          </a:solidFill>
                        </a:rPr>
                        <a:t>Mohamm</a:t>
                      </a:r>
                      <a:r>
                        <a:rPr lang="en-US" sz="1100" dirty="0">
                          <a:solidFill>
                            <a:srgbClr val="000000"/>
                          </a:solidFill>
                        </a:rPr>
                        <a:t>a</a:t>
                      </a:r>
                      <a:r>
                        <a:rPr sz="1100" dirty="0">
                          <a:solidFill>
                            <a:srgbClr val="000000"/>
                          </a:solidFill>
                        </a:rPr>
                        <a:t>d </a:t>
                      </a:r>
                      <a:r>
                        <a:rPr lang="en-US" sz="1100" dirty="0">
                          <a:solidFill>
                            <a:srgbClr val="000000"/>
                          </a:solidFill>
                        </a:rPr>
                        <a:t>Mufid (COO)</a:t>
                      </a:r>
                    </a:p>
                    <a:p>
                      <a:r>
                        <a:rPr sz="1100" dirty="0">
                          <a:solidFill>
                            <a:srgbClr val="000000"/>
                          </a:solidFill>
                        </a:rPr>
                        <a:t>Brant Miller</a:t>
                      </a:r>
                      <a:r>
                        <a:rPr lang="en-US" sz="1100" dirty="0">
                          <a:solidFill>
                            <a:srgbClr val="000000"/>
                          </a:solidFill>
                        </a:rPr>
                        <a:t> (EVP, Ops)</a:t>
                      </a:r>
                      <a:endParaRPr sz="1100" dirty="0">
                        <a:solidFill>
                          <a:srgbClr val="000000"/>
                        </a:solidFill>
                      </a:endParaRPr>
                    </a:p>
                  </a:txBody>
                  <a:tcPr/>
                </a:tc>
                <a:tc>
                  <a:txBody>
                    <a:bodyPr/>
                    <a:lstStyle/>
                    <a:p>
                      <a:r>
                        <a:rPr sz="1100" dirty="0">
                          <a:solidFill>
                            <a:srgbClr val="000000"/>
                          </a:solidFill>
                        </a:rPr>
                        <a:t>Set direction, made decisions, and represented RNA in finalist activity</a:t>
                      </a:r>
                    </a:p>
                  </a:txBody>
                  <a:tcPr/>
                </a:tc>
                <a:extLst>
                  <a:ext uri="{0D108BD9-81ED-4DB2-BD59-A6C34878D82A}">
                    <a16:rowId xmlns:a16="http://schemas.microsoft.com/office/drawing/2014/main" val="10001"/>
                  </a:ext>
                </a:extLst>
              </a:tr>
              <a:tr h="937259">
                <a:tc>
                  <a:txBody>
                    <a:bodyPr/>
                    <a:lstStyle/>
                    <a:p>
                      <a:r>
                        <a:rPr sz="1100" dirty="0">
                          <a:solidFill>
                            <a:srgbClr val="000000"/>
                          </a:solidFill>
                        </a:rPr>
                        <a:t>Core delivery team</a:t>
                      </a:r>
                    </a:p>
                  </a:txBody>
                  <a:tcPr/>
                </a:tc>
                <a:tc>
                  <a:txBody>
                    <a:bodyPr/>
                    <a:lstStyle/>
                    <a:p>
                      <a:r>
                        <a:rPr sz="1100" dirty="0">
                          <a:solidFill>
                            <a:srgbClr val="000000"/>
                          </a:solidFill>
                        </a:rPr>
                        <a:t>Timothy Semenza</a:t>
                      </a:r>
                      <a:r>
                        <a:rPr lang="en-US" sz="1100" dirty="0">
                          <a:solidFill>
                            <a:srgbClr val="000000"/>
                          </a:solidFill>
                        </a:rPr>
                        <a:t> (Senior Prop. Manager)</a:t>
                      </a:r>
                    </a:p>
                    <a:p>
                      <a:r>
                        <a:rPr sz="1100" dirty="0">
                          <a:solidFill>
                            <a:srgbClr val="000000"/>
                          </a:solidFill>
                        </a:rPr>
                        <a:t>Chris </a:t>
                      </a:r>
                      <a:r>
                        <a:rPr lang="en-US" sz="1100" dirty="0">
                          <a:solidFill>
                            <a:srgbClr val="000000"/>
                          </a:solidFill>
                        </a:rPr>
                        <a:t>Arlen (Proposal Consultant)</a:t>
                      </a:r>
                      <a:endParaRPr sz="1100" dirty="0">
                        <a:solidFill>
                          <a:srgbClr val="000000"/>
                        </a:solidFill>
                      </a:endParaRPr>
                    </a:p>
                  </a:txBody>
                  <a:tcPr/>
                </a:tc>
                <a:tc>
                  <a:txBody>
                    <a:bodyPr/>
                    <a:lstStyle/>
                    <a:p>
                      <a:r>
                        <a:rPr sz="1100" dirty="0">
                          <a:solidFill>
                            <a:srgbClr val="000000"/>
                          </a:solidFill>
                        </a:rPr>
                        <a:t>Coordinated the pursuit and drafted the response</a:t>
                      </a:r>
                    </a:p>
                  </a:txBody>
                  <a:tcPr/>
                </a:tc>
                <a:extLst>
                  <a:ext uri="{0D108BD9-81ED-4DB2-BD59-A6C34878D82A}">
                    <a16:rowId xmlns:a16="http://schemas.microsoft.com/office/drawing/2014/main" val="10002"/>
                  </a:ext>
                </a:extLst>
              </a:tr>
              <a:tr h="937262">
                <a:tc>
                  <a:txBody>
                    <a:bodyPr/>
                    <a:lstStyle/>
                    <a:p>
                      <a:r>
                        <a:rPr sz="1100" dirty="0">
                          <a:solidFill>
                            <a:srgbClr val="000000"/>
                          </a:solidFill>
                        </a:rPr>
                        <a:t>Solution contributors</a:t>
                      </a:r>
                    </a:p>
                  </a:txBody>
                  <a:tcPr/>
                </a:tc>
                <a:tc>
                  <a:txBody>
                    <a:bodyPr/>
                    <a:lstStyle/>
                    <a:p>
                      <a:r>
                        <a:rPr sz="1100" dirty="0">
                          <a:solidFill>
                            <a:srgbClr val="000000"/>
                          </a:solidFill>
                        </a:rPr>
                        <a:t>Ann Couzins</a:t>
                      </a:r>
                      <a:r>
                        <a:rPr lang="en-US" sz="1100" dirty="0">
                          <a:solidFill>
                            <a:srgbClr val="000000"/>
                          </a:solidFill>
                        </a:rPr>
                        <a:t> (Senior Pricing Manager)</a:t>
                      </a:r>
                    </a:p>
                    <a:p>
                      <a:r>
                        <a:rPr sz="1100" dirty="0">
                          <a:solidFill>
                            <a:srgbClr val="000000"/>
                          </a:solidFill>
                        </a:rPr>
                        <a:t>Cheryl Hol</a:t>
                      </a:r>
                      <a:r>
                        <a:rPr lang="en-US" sz="1100" dirty="0">
                          <a:solidFill>
                            <a:srgbClr val="000000"/>
                          </a:solidFill>
                        </a:rPr>
                        <a:t>ley-</a:t>
                      </a:r>
                      <a:r>
                        <a:rPr sz="1100" dirty="0">
                          <a:solidFill>
                            <a:srgbClr val="000000"/>
                          </a:solidFill>
                        </a:rPr>
                        <a:t>Stant</a:t>
                      </a:r>
                      <a:r>
                        <a:rPr lang="en-US" sz="1100" dirty="0">
                          <a:solidFill>
                            <a:srgbClr val="000000"/>
                          </a:solidFill>
                        </a:rPr>
                        <a:t>on (Account Manager) </a:t>
                      </a:r>
                    </a:p>
                    <a:p>
                      <a:r>
                        <a:rPr lang="en-US" sz="1100" dirty="0">
                          <a:solidFill>
                            <a:srgbClr val="000000"/>
                          </a:solidFill>
                        </a:rPr>
                        <a:t>F</a:t>
                      </a:r>
                      <a:r>
                        <a:rPr sz="1100" dirty="0">
                          <a:solidFill>
                            <a:srgbClr val="000000"/>
                          </a:solidFill>
                        </a:rPr>
                        <a:t>inance, operations, IT</a:t>
                      </a:r>
                    </a:p>
                  </a:txBody>
                  <a:tcPr/>
                </a:tc>
                <a:tc>
                  <a:txBody>
                    <a:bodyPr/>
                    <a:lstStyle/>
                    <a:p>
                      <a:r>
                        <a:rPr sz="1100" dirty="0">
                          <a:solidFill>
                            <a:srgbClr val="000000"/>
                          </a:solidFill>
                        </a:rPr>
                        <a:t>Supplied pricing, staffing, operational, and engineering inputs needed for a credible response</a:t>
                      </a: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Proposal governance had to replace missing capture discipline before the team could compete credibly.</a:t>
            </a:r>
          </a:p>
        </p:txBody>
      </p:sp>
    </p:spTree>
    <p:extLst>
      <p:ext uri="{BB962C8B-B14F-4D97-AF65-F5344CB8AC3E}">
        <p14:creationId xmlns:p14="http://schemas.microsoft.com/office/powerpoint/2010/main" val="38939723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Stakeholder Engagement and Communication</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Direct engagement with senior and additional stakeholders was critical because the organization had limited preparation and I had to lead without formal authority.</a:t>
            </a:r>
          </a:p>
        </p:txBody>
      </p:sp>
      <p:graphicFrame>
        <p:nvGraphicFramePr>
          <p:cNvPr id="4" name="Table 3"/>
          <p:cNvGraphicFramePr>
            <a:graphicFrameLocks noGrp="1"/>
          </p:cNvGraphicFramePr>
          <p:nvPr>
            <p:extLst>
              <p:ext uri="{D42A27DB-BD31-4B8C-83A1-F6EECF244321}">
                <p14:modId xmlns:p14="http://schemas.microsoft.com/office/powerpoint/2010/main" val="1301859362"/>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937259">
                <a:tc>
                  <a:txBody>
                    <a:bodyPr/>
                    <a:lstStyle/>
                    <a:p>
                      <a:r>
                        <a:rPr sz="1200" b="1" dirty="0">
                          <a:solidFill>
                            <a:srgbClr val="FFFFFF"/>
                          </a:solidFill>
                        </a:rPr>
                        <a:t>Stakeholder Group</a:t>
                      </a:r>
                    </a:p>
                  </a:txBody>
                  <a:tcPr>
                    <a:solidFill>
                      <a:srgbClr val="1F4E79"/>
                    </a:solidFill>
                  </a:tcPr>
                </a:tc>
                <a:tc>
                  <a:txBody>
                    <a:bodyPr/>
                    <a:lstStyle/>
                    <a:p>
                      <a:r>
                        <a:rPr sz="1200" b="1">
                          <a:solidFill>
                            <a:srgbClr val="FFFFFF"/>
                          </a:solidFill>
                        </a:rPr>
                        <a:t>How I Engaged Them</a:t>
                      </a:r>
                    </a:p>
                  </a:txBody>
                  <a:tcPr>
                    <a:solidFill>
                      <a:srgbClr val="1F4E79"/>
                    </a:solidFill>
                  </a:tcPr>
                </a:tc>
                <a:tc>
                  <a:txBody>
                    <a:bodyPr/>
                    <a:lstStyle/>
                    <a:p>
                      <a:r>
                        <a:rPr sz="1200" b="1">
                          <a:solidFill>
                            <a:srgbClr val="FFFFFF"/>
                          </a:solidFill>
                        </a:rPr>
                        <a:t>Evidence of Leadership</a:t>
                      </a:r>
                    </a:p>
                  </a:txBody>
                  <a:tcPr>
                    <a:solidFill>
                      <a:srgbClr val="1F4E79"/>
                    </a:solidFill>
                  </a:tcPr>
                </a:tc>
                <a:extLst>
                  <a:ext uri="{0D108BD9-81ED-4DB2-BD59-A6C34878D82A}">
                    <a16:rowId xmlns:a16="http://schemas.microsoft.com/office/drawing/2014/main" val="10000"/>
                  </a:ext>
                </a:extLst>
              </a:tr>
              <a:tr h="937259">
                <a:tc>
                  <a:txBody>
                    <a:bodyPr/>
                    <a:lstStyle/>
                    <a:p>
                      <a:r>
                        <a:rPr sz="1100">
                          <a:solidFill>
                            <a:srgbClr val="000000"/>
                          </a:solidFill>
                        </a:rPr>
                        <a:t>Senior leaders</a:t>
                      </a:r>
                    </a:p>
                  </a:txBody>
                  <a:tcPr/>
                </a:tc>
                <a:tc>
                  <a:txBody>
                    <a:bodyPr/>
                    <a:lstStyle/>
                    <a:p>
                      <a:r>
                        <a:rPr sz="1100">
                          <a:solidFill>
                            <a:srgbClr val="000000"/>
                          </a:solidFill>
                        </a:rPr>
                        <a:t>Frequent working sessions, at peak as much as twice daily, plus live decision and review sessions</a:t>
                      </a:r>
                    </a:p>
                  </a:txBody>
                  <a:tcPr/>
                </a:tc>
                <a:tc>
                  <a:txBody>
                    <a:bodyPr/>
                    <a:lstStyle/>
                    <a:p>
                      <a:r>
                        <a:rPr sz="1100" dirty="0">
                          <a:solidFill>
                            <a:srgbClr val="000000"/>
                          </a:solidFill>
                        </a:rPr>
                        <a:t>I set direction, aligned next actions, and led the </a:t>
                      </a:r>
                      <a:r>
                        <a:rPr lang="en-US" sz="1100" dirty="0">
                          <a:solidFill>
                            <a:srgbClr val="000000"/>
                          </a:solidFill>
                        </a:rPr>
                        <a:t>live, in-person</a:t>
                      </a:r>
                      <a:r>
                        <a:rPr sz="1100" dirty="0">
                          <a:solidFill>
                            <a:srgbClr val="000000"/>
                          </a:solidFill>
                        </a:rPr>
                        <a:t> finalist strategy discussion under pressure</a:t>
                      </a:r>
                    </a:p>
                  </a:txBody>
                  <a:tcPr/>
                </a:tc>
                <a:extLst>
                  <a:ext uri="{0D108BD9-81ED-4DB2-BD59-A6C34878D82A}">
                    <a16:rowId xmlns:a16="http://schemas.microsoft.com/office/drawing/2014/main" val="10001"/>
                  </a:ext>
                </a:extLst>
              </a:tr>
              <a:tr h="937259">
                <a:tc>
                  <a:txBody>
                    <a:bodyPr/>
                    <a:lstStyle/>
                    <a:p>
                      <a:r>
                        <a:rPr sz="1100">
                          <a:solidFill>
                            <a:srgbClr val="000000"/>
                          </a:solidFill>
                        </a:rPr>
                        <a:t>Pricing and solution contributors</a:t>
                      </a:r>
                    </a:p>
                  </a:txBody>
                  <a:tcPr/>
                </a:tc>
                <a:tc>
                  <a:txBody>
                    <a:bodyPr/>
                    <a:lstStyle/>
                    <a:p>
                      <a:r>
                        <a:rPr sz="1100">
                          <a:solidFill>
                            <a:srgbClr val="000000"/>
                          </a:solidFill>
                        </a:rPr>
                        <a:t>Live interviews, pricing and staffing mediation, compliance tracking, and focused review of bid-specific changes</a:t>
                      </a:r>
                    </a:p>
                  </a:txBody>
                  <a:tcPr/>
                </a:tc>
                <a:tc>
                  <a:txBody>
                    <a:bodyPr/>
                    <a:lstStyle/>
                    <a:p>
                      <a:r>
                        <a:rPr sz="1100">
                          <a:solidFill>
                            <a:srgbClr val="000000"/>
                          </a:solidFill>
                        </a:rPr>
                        <a:t>I translated pricing and operational discussion into compliant narrative and kept disputed issues from stalling the bid</a:t>
                      </a:r>
                    </a:p>
                  </a:txBody>
                  <a:tcPr/>
                </a:tc>
                <a:extLst>
                  <a:ext uri="{0D108BD9-81ED-4DB2-BD59-A6C34878D82A}">
                    <a16:rowId xmlns:a16="http://schemas.microsoft.com/office/drawing/2014/main" val="10002"/>
                  </a:ext>
                </a:extLst>
              </a:tr>
              <a:tr h="937262">
                <a:tc>
                  <a:txBody>
                    <a:bodyPr/>
                    <a:lstStyle/>
                    <a:p>
                      <a:r>
                        <a:rPr sz="1100">
                          <a:solidFill>
                            <a:srgbClr val="000000"/>
                          </a:solidFill>
                        </a:rPr>
                        <a:t>Consultant and support team</a:t>
                      </a:r>
                    </a:p>
                  </a:txBody>
                  <a:tcPr/>
                </a:tc>
                <a:tc>
                  <a:txBody>
                    <a:bodyPr/>
                    <a:lstStyle/>
                    <a:p>
                      <a:r>
                        <a:rPr sz="1100">
                          <a:solidFill>
                            <a:srgbClr val="000000"/>
                          </a:solidFill>
                        </a:rPr>
                        <a:t>Shared company context, managed drafting split, and maintained SharePoint submission structure</a:t>
                      </a:r>
                    </a:p>
                  </a:txBody>
                  <a:tcPr/>
                </a:tc>
                <a:tc>
                  <a:txBody>
                    <a:bodyPr/>
                    <a:lstStyle/>
                    <a:p>
                      <a:r>
                        <a:rPr sz="1100" dirty="0">
                          <a:solidFill>
                            <a:srgbClr val="000000"/>
                          </a:solidFill>
                        </a:rPr>
                        <a:t>I remained the single point of coordination while enabling useful support from Chris </a:t>
                      </a:r>
                      <a:r>
                        <a:rPr lang="en-US" sz="1100" dirty="0">
                          <a:solidFill>
                            <a:srgbClr val="000000"/>
                          </a:solidFill>
                        </a:rPr>
                        <a:t>Arlen</a:t>
                      </a:r>
                      <a:endParaRPr sz="1100" dirty="0">
                        <a:solidFill>
                          <a:srgbClr val="000000"/>
                        </a:solidFill>
                      </a:endParaRP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Direct engagement and communication created alignment where authority alone would not.</a:t>
            </a:r>
          </a:p>
        </p:txBody>
      </p:sp>
    </p:spTree>
    <p:extLst>
      <p:ext uri="{BB962C8B-B14F-4D97-AF65-F5344CB8AC3E}">
        <p14:creationId xmlns:p14="http://schemas.microsoft.com/office/powerpoint/2010/main" val="350797039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B83FC-53AF-4DD6-86E2-69B724171789}"/>
              </a:ext>
            </a:extLst>
          </p:cNvPr>
          <p:cNvSpPr>
            <a:spLocks noGrp="1"/>
          </p:cNvSpPr>
          <p:nvPr>
            <p:ph type="title"/>
          </p:nvPr>
        </p:nvSpPr>
        <p:spPr>
          <a:xfrm>
            <a:off x="609599" y="206561"/>
            <a:ext cx="10972800" cy="1143000"/>
          </a:xfrm>
        </p:spPr>
        <p:txBody>
          <a:bodyPr/>
          <a:lstStyle/>
          <a:p>
            <a:r>
              <a:t>Tasks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dirty="0">
                <a:solidFill>
                  <a:srgbClr val="1F1F1F"/>
                </a:solidFill>
              </a:rPr>
              <a:t>I stabilized the pursuit through five leadership tasks that gave the team structure, accountability, and decision discipline.</a:t>
            </a:r>
          </a:p>
        </p:txBody>
      </p:sp>
      <p:graphicFrame>
        <p:nvGraphicFramePr>
          <p:cNvPr id="4" name="Table 3"/>
          <p:cNvGraphicFramePr>
            <a:graphicFrameLocks noGrp="1"/>
          </p:cNvGraphicFramePr>
          <p:nvPr>
            <p:extLst>
              <p:ext uri="{D42A27DB-BD31-4B8C-83A1-F6EECF244321}">
                <p14:modId xmlns:p14="http://schemas.microsoft.com/office/powerpoint/2010/main" val="9440320"/>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24839">
                <a:tc>
                  <a:txBody>
                    <a:bodyPr/>
                    <a:lstStyle/>
                    <a:p>
                      <a:r>
                        <a:rPr sz="1200" b="1" dirty="0">
                          <a:solidFill>
                            <a:srgbClr val="FFFFFF"/>
                          </a:solidFill>
                        </a:rPr>
                        <a:t>Task</a:t>
                      </a:r>
                    </a:p>
                  </a:txBody>
                  <a:tcPr>
                    <a:solidFill>
                      <a:srgbClr val="1F4E79"/>
                    </a:solidFill>
                  </a:tcPr>
                </a:tc>
                <a:tc>
                  <a:txBody>
                    <a:bodyPr/>
                    <a:lstStyle/>
                    <a:p>
                      <a:r>
                        <a:rPr sz="1200" b="1">
                          <a:solidFill>
                            <a:srgbClr val="FFFFFF"/>
                          </a:solidFill>
                        </a:rPr>
                        <a:t>Why It Was Necessary</a:t>
                      </a:r>
                    </a:p>
                  </a:txBody>
                  <a:tcPr>
                    <a:solidFill>
                      <a:srgbClr val="1F4E79"/>
                    </a:solidFill>
                  </a:tcPr>
                </a:tc>
                <a:tc>
                  <a:txBody>
                    <a:bodyPr/>
                    <a:lstStyle/>
                    <a:p>
                      <a:r>
                        <a:rPr sz="1200" b="1">
                          <a:solidFill>
                            <a:srgbClr val="FFFFFF"/>
                          </a:solidFill>
                        </a:rPr>
                        <a:t>Main Stakeholders Impacted</a:t>
                      </a:r>
                    </a:p>
                  </a:txBody>
                  <a:tcPr>
                    <a:solidFill>
                      <a:srgbClr val="1F4E79"/>
                    </a:solidFill>
                  </a:tcPr>
                </a:tc>
                <a:extLst>
                  <a:ext uri="{0D108BD9-81ED-4DB2-BD59-A6C34878D82A}">
                    <a16:rowId xmlns:a16="http://schemas.microsoft.com/office/drawing/2014/main" val="10000"/>
                  </a:ext>
                </a:extLst>
              </a:tr>
              <a:tr h="624839">
                <a:tc>
                  <a:txBody>
                    <a:bodyPr/>
                    <a:lstStyle/>
                    <a:p>
                      <a:r>
                        <a:rPr sz="1100" dirty="0">
                          <a:solidFill>
                            <a:srgbClr val="000000"/>
                          </a:solidFill>
                        </a:rPr>
                        <a:t>Establish bid governance and schedule</a:t>
                      </a:r>
                    </a:p>
                  </a:txBody>
                  <a:tcPr/>
                </a:tc>
                <a:tc>
                  <a:txBody>
                    <a:bodyPr/>
                    <a:lstStyle/>
                    <a:p>
                      <a:r>
                        <a:rPr sz="1100">
                          <a:solidFill>
                            <a:srgbClr val="000000"/>
                          </a:solidFill>
                        </a:rPr>
                        <a:t>No usable capture plan or agreed review cadence existed at release</a:t>
                      </a:r>
                    </a:p>
                  </a:txBody>
                  <a:tcPr/>
                </a:tc>
                <a:tc>
                  <a:txBody>
                    <a:bodyPr/>
                    <a:lstStyle/>
                    <a:p>
                      <a:r>
                        <a:rPr sz="1100">
                          <a:solidFill>
                            <a:srgbClr val="000000"/>
                          </a:solidFill>
                        </a:rPr>
                        <a:t>All senior stakeholders and the external consultant</a:t>
                      </a:r>
                    </a:p>
                  </a:txBody>
                  <a:tcPr/>
                </a:tc>
                <a:extLst>
                  <a:ext uri="{0D108BD9-81ED-4DB2-BD59-A6C34878D82A}">
                    <a16:rowId xmlns:a16="http://schemas.microsoft.com/office/drawing/2014/main" val="10001"/>
                  </a:ext>
                </a:extLst>
              </a:tr>
              <a:tr h="624839">
                <a:tc>
                  <a:txBody>
                    <a:bodyPr/>
                    <a:lstStyle/>
                    <a:p>
                      <a:r>
                        <a:rPr sz="1100">
                          <a:solidFill>
                            <a:srgbClr val="000000"/>
                          </a:solidFill>
                        </a:rPr>
                        <a:t>Develop evaluator and win-theme strategy</a:t>
                      </a:r>
                    </a:p>
                  </a:txBody>
                  <a:tcPr/>
                </a:tc>
                <a:tc>
                  <a:txBody>
                    <a:bodyPr/>
                    <a:lstStyle/>
                    <a:p>
                      <a:r>
                        <a:rPr sz="1100">
                          <a:solidFill>
                            <a:srgbClr val="000000"/>
                          </a:solidFill>
                        </a:rPr>
                        <a:t>The team needed a customer-centered strategy instead of an internally driven narrative</a:t>
                      </a:r>
                    </a:p>
                  </a:txBody>
                  <a:tcPr/>
                </a:tc>
                <a:tc>
                  <a:txBody>
                    <a:bodyPr/>
                    <a:lstStyle/>
                    <a:p>
                      <a:r>
                        <a:rPr sz="1100" dirty="0">
                          <a:solidFill>
                            <a:srgbClr val="000000"/>
                          </a:solidFill>
                        </a:rPr>
                        <a:t>RNA executives, </a:t>
                      </a:r>
                      <a:r>
                        <a:rPr lang="en-US" sz="1100" dirty="0">
                          <a:solidFill>
                            <a:srgbClr val="000000"/>
                          </a:solidFill>
                        </a:rPr>
                        <a:t>Account Management</a:t>
                      </a:r>
                      <a:r>
                        <a:rPr sz="1100" dirty="0">
                          <a:solidFill>
                            <a:srgbClr val="000000"/>
                          </a:solidFill>
                        </a:rPr>
                        <a:t>, and presentation speakers</a:t>
                      </a:r>
                    </a:p>
                  </a:txBody>
                  <a:tcPr/>
                </a:tc>
                <a:extLst>
                  <a:ext uri="{0D108BD9-81ED-4DB2-BD59-A6C34878D82A}">
                    <a16:rowId xmlns:a16="http://schemas.microsoft.com/office/drawing/2014/main" val="10002"/>
                  </a:ext>
                </a:extLst>
              </a:tr>
              <a:tr h="624839">
                <a:tc>
                  <a:txBody>
                    <a:bodyPr/>
                    <a:lstStyle/>
                    <a:p>
                      <a:r>
                        <a:rPr sz="1100">
                          <a:solidFill>
                            <a:srgbClr val="000000"/>
                          </a:solidFill>
                        </a:rPr>
                        <a:t>Elicit and structure SME input</a:t>
                      </a:r>
                    </a:p>
                  </a:txBody>
                  <a:tcPr/>
                </a:tc>
                <a:tc>
                  <a:txBody>
                    <a:bodyPr/>
                    <a:lstStyle/>
                    <a:p>
                      <a:r>
                        <a:rPr sz="1100">
                          <a:solidFill>
                            <a:srgbClr val="000000"/>
                          </a:solidFill>
                        </a:rPr>
                        <a:t>Live operational knowledge had to be turned into compliant proposal content</a:t>
                      </a:r>
                    </a:p>
                  </a:txBody>
                  <a:tcPr/>
                </a:tc>
                <a:tc>
                  <a:txBody>
                    <a:bodyPr/>
                    <a:lstStyle/>
                    <a:p>
                      <a:r>
                        <a:rPr sz="1100" dirty="0">
                          <a:solidFill>
                            <a:srgbClr val="000000"/>
                          </a:solidFill>
                        </a:rPr>
                        <a:t>Pricing, operations, engineering, and </a:t>
                      </a:r>
                      <a:r>
                        <a:rPr lang="en-US" sz="1100" dirty="0">
                          <a:solidFill>
                            <a:srgbClr val="000000"/>
                          </a:solidFill>
                        </a:rPr>
                        <a:t>Account Management</a:t>
                      </a:r>
                      <a:endParaRPr sz="1100" dirty="0">
                        <a:solidFill>
                          <a:srgbClr val="000000"/>
                        </a:solidFill>
                      </a:endParaRPr>
                    </a:p>
                  </a:txBody>
                  <a:tcPr/>
                </a:tc>
                <a:extLst>
                  <a:ext uri="{0D108BD9-81ED-4DB2-BD59-A6C34878D82A}">
                    <a16:rowId xmlns:a16="http://schemas.microsoft.com/office/drawing/2014/main" val="10003"/>
                  </a:ext>
                </a:extLst>
              </a:tr>
              <a:tr h="624839">
                <a:tc>
                  <a:txBody>
                    <a:bodyPr/>
                    <a:lstStyle/>
                    <a:p>
                      <a:r>
                        <a:rPr sz="1100">
                          <a:solidFill>
                            <a:srgbClr val="000000"/>
                          </a:solidFill>
                        </a:rPr>
                        <a:t>Draft and quality-control content</a:t>
                      </a:r>
                    </a:p>
                  </a:txBody>
                  <a:tcPr/>
                </a:tc>
                <a:tc>
                  <a:txBody>
                    <a:bodyPr/>
                    <a:lstStyle/>
                    <a:p>
                      <a:r>
                        <a:rPr sz="1100">
                          <a:solidFill>
                            <a:srgbClr val="000000"/>
                          </a:solidFill>
                        </a:rPr>
                        <a:t>The written response and finalist materials had to stay aligned and submission-ready</a:t>
                      </a:r>
                    </a:p>
                  </a:txBody>
                  <a:tcPr/>
                </a:tc>
                <a:tc>
                  <a:txBody>
                    <a:bodyPr/>
                    <a:lstStyle/>
                    <a:p>
                      <a:r>
                        <a:rPr sz="1100">
                          <a:solidFill>
                            <a:srgbClr val="000000"/>
                          </a:solidFill>
                        </a:rPr>
                        <a:t>Consultant, executives, reviewers, and evaluators</a:t>
                      </a:r>
                    </a:p>
                  </a:txBody>
                  <a:tcPr/>
                </a:tc>
                <a:extLst>
                  <a:ext uri="{0D108BD9-81ED-4DB2-BD59-A6C34878D82A}">
                    <a16:rowId xmlns:a16="http://schemas.microsoft.com/office/drawing/2014/main" val="10004"/>
                  </a:ext>
                </a:extLst>
              </a:tr>
              <a:tr h="624844">
                <a:tc>
                  <a:txBody>
                    <a:bodyPr/>
                    <a:lstStyle/>
                    <a:p>
                      <a:r>
                        <a:rPr sz="1100">
                          <a:solidFill>
                            <a:srgbClr val="000000"/>
                          </a:solidFill>
                        </a:rPr>
                        <a:t>Lead review and submission readiness</a:t>
                      </a:r>
                    </a:p>
                  </a:txBody>
                  <a:tcPr/>
                </a:tc>
                <a:tc>
                  <a:txBody>
                    <a:bodyPr/>
                    <a:lstStyle/>
                    <a:p>
                      <a:r>
                        <a:rPr sz="1100">
                          <a:solidFill>
                            <a:srgbClr val="000000"/>
                          </a:solidFill>
                        </a:rPr>
                        <a:t>Readiness could not be left to last-minute judgment</a:t>
                      </a:r>
                    </a:p>
                  </a:txBody>
                  <a:tcPr/>
                </a:tc>
                <a:tc>
                  <a:txBody>
                    <a:bodyPr/>
                    <a:lstStyle/>
                    <a:p>
                      <a:r>
                        <a:rPr sz="1100">
                          <a:solidFill>
                            <a:srgbClr val="000000"/>
                          </a:solidFill>
                        </a:rPr>
                        <a:t>Executive reviewers, consultant, and submission support</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Clear task ownership turned a fragmented effort into a manageable response.</a:t>
            </a:r>
          </a:p>
        </p:txBody>
      </p:sp>
    </p:spTree>
    <p:extLst>
      <p:ext uri="{BB962C8B-B14F-4D97-AF65-F5344CB8AC3E}">
        <p14:creationId xmlns:p14="http://schemas.microsoft.com/office/powerpoint/2010/main" val="630952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B83FC-53AF-4DD6-86E2-69B724171789}"/>
              </a:ext>
            </a:extLst>
          </p:cNvPr>
          <p:cNvSpPr>
            <a:spLocks noGrp="1"/>
          </p:cNvSpPr>
          <p:nvPr>
            <p:ph type="title"/>
          </p:nvPr>
        </p:nvSpPr>
        <p:spPr/>
        <p:txBody>
          <a:bodyPr/>
          <a:lstStyle/>
          <a:p>
            <a:r>
              <a:t>Activities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I used a milestone-led operating cadence to keep the pursuit on track from RFP receipt through two finalist rounds.</a:t>
            </a:r>
          </a:p>
        </p:txBody>
      </p:sp>
      <p:sp>
        <p:nvSpPr>
          <p:cNvPr id="5" name="TextBox 4"/>
          <p:cNvSpPr txBox="1"/>
          <p:nvPr/>
        </p:nvSpPr>
        <p:spPr>
          <a:xfrm>
            <a:off x="841248" y="5504688"/>
            <a:ext cx="10149840" cy="438912"/>
          </a:xfrm>
          <a:prstGeom prst="rect">
            <a:avLst/>
          </a:prstGeom>
          <a:noFill/>
        </p:spPr>
        <p:txBody>
          <a:bodyPr wrap="square">
            <a:spAutoFit/>
          </a:bodyPr>
          <a:lstStyle/>
          <a:p>
            <a:pPr>
              <a:defRPr sz="1050">
                <a:solidFill>
                  <a:srgbClr val="1F3663"/>
                </a:solidFill>
              </a:defRPr>
            </a:pPr>
            <a:r>
              <a:t>Cadence peaked at twice daily with senior leaders, while AI and automation accelerated planning, compliance extraction, and draft production inside a candidate-led process.</a:t>
            </a:r>
          </a:p>
        </p:txBody>
      </p:sp>
      <p:sp>
        <p:nvSpPr>
          <p:cNvPr id="6" name="TextBox 5"/>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Automated planning and recurring governance made a short public-sector timeline executable.</a:t>
            </a:r>
          </a:p>
        </p:txBody>
      </p:sp>
      <p:cxnSp>
        <p:nvCxnSpPr>
          <p:cNvPr id="7" name="Straight Connector 6">
            <a:extLst>
              <a:ext uri="{FF2B5EF4-FFF2-40B4-BE49-F238E27FC236}">
                <a16:creationId xmlns:a16="http://schemas.microsoft.com/office/drawing/2014/main" id="{CD834EF0-74BD-104D-3149-5C456A8EDB2D}"/>
              </a:ext>
            </a:extLst>
          </p:cNvPr>
          <p:cNvCxnSpPr/>
          <p:nvPr/>
        </p:nvCxnSpPr>
        <p:spPr bwMode="auto">
          <a:xfrm>
            <a:off x="932688" y="2231136"/>
            <a:ext cx="10040112" cy="0"/>
          </a:xfrm>
          <a:prstGeom prst="line">
            <a:avLst/>
          </a:prstGeom>
          <a:solidFill>
            <a:schemeClr val="accent1"/>
          </a:solidFill>
          <a:ln w="15875" cap="flat" cmpd="sng" algn="ctr">
            <a:solidFill>
              <a:srgbClr val="ABBAD0"/>
            </a:solidFill>
            <a:prstDash val="solid"/>
            <a:round/>
            <a:headEnd type="none" w="med" len="med"/>
            <a:tailEnd type="none" w="med" len="med"/>
          </a:ln>
          <a:effectLst/>
        </p:spPr>
      </p:cxnSp>
      <p:sp>
        <p:nvSpPr>
          <p:cNvPr id="8" name="Rectangle: Rounded Corners 7">
            <a:extLst>
              <a:ext uri="{FF2B5EF4-FFF2-40B4-BE49-F238E27FC236}">
                <a16:creationId xmlns:a16="http://schemas.microsoft.com/office/drawing/2014/main" id="{9DFE76CC-83C9-BB4C-76AB-90AA94EA1C18}"/>
              </a:ext>
            </a:extLst>
          </p:cNvPr>
          <p:cNvSpPr/>
          <p:nvPr/>
        </p:nvSpPr>
        <p:spPr bwMode="auto">
          <a:xfrm>
            <a:off x="749808" y="2395728"/>
            <a:ext cx="1993392" cy="2468880"/>
          </a:xfrm>
          <a:prstGeom prst="roundRect">
            <a:avLst/>
          </a:prstGeom>
          <a:solidFill>
            <a:srgbClr val="F8F9FC"/>
          </a:solidFill>
          <a:ln w="19050" cap="flat" cmpd="sng" algn="ctr">
            <a:solidFill>
              <a:srgbClr val="1F4E7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9" name="Rectangle: Rounded Corners 8">
            <a:extLst>
              <a:ext uri="{FF2B5EF4-FFF2-40B4-BE49-F238E27FC236}">
                <a16:creationId xmlns:a16="http://schemas.microsoft.com/office/drawing/2014/main" id="{3F0CABB0-1790-6638-9AB6-7D2E352566D5}"/>
              </a:ext>
            </a:extLst>
          </p:cNvPr>
          <p:cNvSpPr/>
          <p:nvPr/>
        </p:nvSpPr>
        <p:spPr bwMode="auto">
          <a:xfrm>
            <a:off x="877824" y="2084832"/>
            <a:ext cx="1737360" cy="256032"/>
          </a:xfrm>
          <a:prstGeom prst="roundRect">
            <a:avLst/>
          </a:prstGeom>
          <a:solidFill>
            <a:srgbClr val="1F4E79"/>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Day 1</a:t>
            </a:r>
          </a:p>
        </p:txBody>
      </p:sp>
      <p:sp>
        <p:nvSpPr>
          <p:cNvPr id="10" name="TextBox 9">
            <a:extLst>
              <a:ext uri="{FF2B5EF4-FFF2-40B4-BE49-F238E27FC236}">
                <a16:creationId xmlns:a16="http://schemas.microsoft.com/office/drawing/2014/main" id="{779A4426-6A82-8F15-144E-3C9D0EF75CEA}"/>
              </a:ext>
            </a:extLst>
          </p:cNvPr>
          <p:cNvSpPr txBox="1"/>
          <p:nvPr/>
        </p:nvSpPr>
        <p:spPr>
          <a:xfrm>
            <a:off x="859536" y="2779776"/>
            <a:ext cx="1773936" cy="287258"/>
          </a:xfrm>
          <a:prstGeom prst="rect">
            <a:avLst/>
          </a:prstGeom>
          <a:noFill/>
        </p:spPr>
        <p:txBody>
          <a:bodyPr vert="horz" wrap="square" lIns="76200" tIns="50800" rIns="76200" bIns="50800" rtlCol="0">
            <a:spAutoFit/>
          </a:bodyPr>
          <a:lstStyle/>
          <a:p>
            <a:r>
              <a:rPr lang="en-US" sz="1200" b="1">
                <a:solidFill>
                  <a:srgbClr val="23497E"/>
                </a:solidFill>
              </a:rPr>
              <a:t>Plan</a:t>
            </a:r>
          </a:p>
        </p:txBody>
      </p:sp>
      <p:sp>
        <p:nvSpPr>
          <p:cNvPr id="11" name="TextBox 10">
            <a:extLst>
              <a:ext uri="{FF2B5EF4-FFF2-40B4-BE49-F238E27FC236}">
                <a16:creationId xmlns:a16="http://schemas.microsoft.com/office/drawing/2014/main" id="{7E867407-1925-97FE-CECA-7141EC1A9B07}"/>
              </a:ext>
            </a:extLst>
          </p:cNvPr>
          <p:cNvSpPr txBox="1"/>
          <p:nvPr/>
        </p:nvSpPr>
        <p:spPr>
          <a:xfrm>
            <a:off x="859536" y="3273552"/>
            <a:ext cx="1773936" cy="564257"/>
          </a:xfrm>
          <a:prstGeom prst="rect">
            <a:avLst/>
          </a:prstGeom>
          <a:noFill/>
        </p:spPr>
        <p:txBody>
          <a:bodyPr vert="horz" wrap="square" lIns="76200" tIns="50800" rIns="76200" bIns="50800" rtlCol="0">
            <a:spAutoFit/>
          </a:bodyPr>
          <a:lstStyle/>
          <a:p>
            <a:r>
              <a:rPr lang="en-US" sz="1000">
                <a:solidFill>
                  <a:srgbClr val="2D2D2D"/>
                </a:solidFill>
              </a:rPr>
              <a:t>- Auto-build schedule</a:t>
            </a:r>
          </a:p>
          <a:p>
            <a:r>
              <a:rPr lang="en-US" sz="1000">
                <a:solidFill>
                  <a:srgbClr val="2D2D2D"/>
                </a:solidFill>
              </a:rPr>
              <a:t>- Issue project plan</a:t>
            </a:r>
          </a:p>
          <a:p>
            <a:r>
              <a:rPr lang="en-US" sz="1000">
                <a:solidFill>
                  <a:srgbClr val="2D2D2D"/>
                </a:solidFill>
              </a:rPr>
              <a:t>- Set review cadence</a:t>
            </a:r>
          </a:p>
        </p:txBody>
      </p:sp>
      <p:sp>
        <p:nvSpPr>
          <p:cNvPr id="12" name="Rectangle: Rounded Corners 11">
            <a:extLst>
              <a:ext uri="{FF2B5EF4-FFF2-40B4-BE49-F238E27FC236}">
                <a16:creationId xmlns:a16="http://schemas.microsoft.com/office/drawing/2014/main" id="{23E0F304-215F-9E21-1C80-2B80CA1576F5}"/>
              </a:ext>
            </a:extLst>
          </p:cNvPr>
          <p:cNvSpPr/>
          <p:nvPr/>
        </p:nvSpPr>
        <p:spPr bwMode="auto">
          <a:xfrm>
            <a:off x="2852928" y="2395728"/>
            <a:ext cx="1993392" cy="2468880"/>
          </a:xfrm>
          <a:prstGeom prst="roundRect">
            <a:avLst/>
          </a:prstGeom>
          <a:solidFill>
            <a:srgbClr val="F8F9FC"/>
          </a:solid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13" name="Rectangle: Rounded Corners 12">
            <a:extLst>
              <a:ext uri="{FF2B5EF4-FFF2-40B4-BE49-F238E27FC236}">
                <a16:creationId xmlns:a16="http://schemas.microsoft.com/office/drawing/2014/main" id="{25CB6AB4-8799-53B2-34D8-C124F0125AC0}"/>
              </a:ext>
            </a:extLst>
          </p:cNvPr>
          <p:cNvSpPr/>
          <p:nvPr/>
        </p:nvSpPr>
        <p:spPr bwMode="auto">
          <a:xfrm>
            <a:off x="2980944" y="2084832"/>
            <a:ext cx="1737360" cy="256032"/>
          </a:xfrm>
          <a:prstGeom prst="roundRect">
            <a:avLst/>
          </a:prstGeom>
          <a:solidFill>
            <a:srgbClr val="0070C0"/>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Days 1-5</a:t>
            </a:r>
          </a:p>
        </p:txBody>
      </p:sp>
      <p:sp>
        <p:nvSpPr>
          <p:cNvPr id="14" name="TextBox 13">
            <a:extLst>
              <a:ext uri="{FF2B5EF4-FFF2-40B4-BE49-F238E27FC236}">
                <a16:creationId xmlns:a16="http://schemas.microsoft.com/office/drawing/2014/main" id="{2C1A0CC5-7F58-FB79-9707-69E2FECB4ED8}"/>
              </a:ext>
            </a:extLst>
          </p:cNvPr>
          <p:cNvSpPr txBox="1"/>
          <p:nvPr/>
        </p:nvSpPr>
        <p:spPr>
          <a:xfrm>
            <a:off x="2962656" y="2779776"/>
            <a:ext cx="1773936" cy="287258"/>
          </a:xfrm>
          <a:prstGeom prst="rect">
            <a:avLst/>
          </a:prstGeom>
          <a:noFill/>
        </p:spPr>
        <p:txBody>
          <a:bodyPr vert="horz" wrap="square" lIns="76200" tIns="50800" rIns="76200" bIns="50800" rtlCol="0">
            <a:spAutoFit/>
          </a:bodyPr>
          <a:lstStyle/>
          <a:p>
            <a:r>
              <a:rPr lang="en-US" sz="1200" b="1">
                <a:solidFill>
                  <a:srgbClr val="23497E"/>
                </a:solidFill>
              </a:rPr>
              <a:t>Align</a:t>
            </a:r>
          </a:p>
        </p:txBody>
      </p:sp>
      <p:sp>
        <p:nvSpPr>
          <p:cNvPr id="15" name="TextBox 14">
            <a:extLst>
              <a:ext uri="{FF2B5EF4-FFF2-40B4-BE49-F238E27FC236}">
                <a16:creationId xmlns:a16="http://schemas.microsoft.com/office/drawing/2014/main" id="{16501D30-9283-A58E-2A3B-31AFA54CD3A3}"/>
              </a:ext>
            </a:extLst>
          </p:cNvPr>
          <p:cNvSpPr txBox="1"/>
          <p:nvPr/>
        </p:nvSpPr>
        <p:spPr>
          <a:xfrm>
            <a:off x="2962656" y="3273552"/>
            <a:ext cx="1773936" cy="564257"/>
          </a:xfrm>
          <a:prstGeom prst="rect">
            <a:avLst/>
          </a:prstGeom>
          <a:noFill/>
        </p:spPr>
        <p:txBody>
          <a:bodyPr vert="horz" wrap="square" lIns="76200" tIns="50800" rIns="76200" bIns="50800" rtlCol="0">
            <a:spAutoFit/>
          </a:bodyPr>
          <a:lstStyle/>
          <a:p>
            <a:r>
              <a:rPr lang="en-US" sz="1000">
                <a:solidFill>
                  <a:srgbClr val="2D2D2D"/>
                </a:solidFill>
              </a:rPr>
              <a:t>- Kickoff around customer</a:t>
            </a:r>
          </a:p>
          <a:p>
            <a:r>
              <a:rPr lang="en-US" sz="1000">
                <a:solidFill>
                  <a:srgbClr val="2D2D2D"/>
                </a:solidFill>
              </a:rPr>
              <a:t>- Research evaluators</a:t>
            </a:r>
          </a:p>
          <a:p>
            <a:r>
              <a:rPr lang="en-US" sz="1000">
                <a:solidFill>
                  <a:srgbClr val="2D2D2D"/>
                </a:solidFill>
              </a:rPr>
              <a:t>- Build compliance matrix</a:t>
            </a:r>
          </a:p>
        </p:txBody>
      </p:sp>
      <p:sp>
        <p:nvSpPr>
          <p:cNvPr id="16" name="Rectangle: Rounded Corners 15">
            <a:extLst>
              <a:ext uri="{FF2B5EF4-FFF2-40B4-BE49-F238E27FC236}">
                <a16:creationId xmlns:a16="http://schemas.microsoft.com/office/drawing/2014/main" id="{94198A17-C8C3-82D6-5E20-69BC77D4726C}"/>
              </a:ext>
            </a:extLst>
          </p:cNvPr>
          <p:cNvSpPr/>
          <p:nvPr/>
        </p:nvSpPr>
        <p:spPr bwMode="auto">
          <a:xfrm>
            <a:off x="4956048" y="2395728"/>
            <a:ext cx="1993392" cy="2468880"/>
          </a:xfrm>
          <a:prstGeom prst="roundRect">
            <a:avLst/>
          </a:prstGeom>
          <a:solidFill>
            <a:srgbClr val="F8F9FC"/>
          </a:solidFill>
          <a:ln w="19050" cap="flat" cmpd="sng" algn="ctr">
            <a:solidFill>
              <a:srgbClr val="2D8CA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17" name="Rectangle: Rounded Corners 16">
            <a:extLst>
              <a:ext uri="{FF2B5EF4-FFF2-40B4-BE49-F238E27FC236}">
                <a16:creationId xmlns:a16="http://schemas.microsoft.com/office/drawing/2014/main" id="{58379072-257A-67F6-9E44-C48F38F267DA}"/>
              </a:ext>
            </a:extLst>
          </p:cNvPr>
          <p:cNvSpPr/>
          <p:nvPr/>
        </p:nvSpPr>
        <p:spPr bwMode="auto">
          <a:xfrm>
            <a:off x="5084064" y="2084832"/>
            <a:ext cx="1737360" cy="256032"/>
          </a:xfrm>
          <a:prstGeom prst="roundRect">
            <a:avLst/>
          </a:prstGeom>
          <a:solidFill>
            <a:srgbClr val="2D8CA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Days 6-12</a:t>
            </a:r>
          </a:p>
        </p:txBody>
      </p:sp>
      <p:sp>
        <p:nvSpPr>
          <p:cNvPr id="18" name="TextBox 17">
            <a:extLst>
              <a:ext uri="{FF2B5EF4-FFF2-40B4-BE49-F238E27FC236}">
                <a16:creationId xmlns:a16="http://schemas.microsoft.com/office/drawing/2014/main" id="{3E82A093-78AA-74AD-2088-6AF3368A9BD9}"/>
              </a:ext>
            </a:extLst>
          </p:cNvPr>
          <p:cNvSpPr txBox="1"/>
          <p:nvPr/>
        </p:nvSpPr>
        <p:spPr>
          <a:xfrm>
            <a:off x="5065776" y="2779776"/>
            <a:ext cx="1773936" cy="287258"/>
          </a:xfrm>
          <a:prstGeom prst="rect">
            <a:avLst/>
          </a:prstGeom>
          <a:noFill/>
        </p:spPr>
        <p:txBody>
          <a:bodyPr vert="horz" wrap="square" lIns="76200" tIns="50800" rIns="76200" bIns="50800" rtlCol="0">
            <a:spAutoFit/>
          </a:bodyPr>
          <a:lstStyle/>
          <a:p>
            <a:r>
              <a:rPr lang="en-US" sz="1200" b="1">
                <a:solidFill>
                  <a:srgbClr val="23497E"/>
                </a:solidFill>
              </a:rPr>
              <a:t>Build</a:t>
            </a:r>
          </a:p>
        </p:txBody>
      </p:sp>
      <p:sp>
        <p:nvSpPr>
          <p:cNvPr id="19" name="TextBox 18">
            <a:extLst>
              <a:ext uri="{FF2B5EF4-FFF2-40B4-BE49-F238E27FC236}">
                <a16:creationId xmlns:a16="http://schemas.microsoft.com/office/drawing/2014/main" id="{49BEF527-9453-8713-6E42-2ED3AFD60C3F}"/>
              </a:ext>
            </a:extLst>
          </p:cNvPr>
          <p:cNvSpPr txBox="1"/>
          <p:nvPr/>
        </p:nvSpPr>
        <p:spPr>
          <a:xfrm>
            <a:off x="5065776" y="3273552"/>
            <a:ext cx="1773936" cy="564257"/>
          </a:xfrm>
          <a:prstGeom prst="rect">
            <a:avLst/>
          </a:prstGeom>
          <a:noFill/>
        </p:spPr>
        <p:txBody>
          <a:bodyPr vert="horz" wrap="square" lIns="76200" tIns="50800" rIns="76200" bIns="50800" rtlCol="0">
            <a:spAutoFit/>
          </a:bodyPr>
          <a:lstStyle/>
          <a:p>
            <a:r>
              <a:rPr lang="en-US" sz="1000">
                <a:solidFill>
                  <a:srgbClr val="2D2D2D"/>
                </a:solidFill>
              </a:rPr>
              <a:t>- Draft sections</a:t>
            </a:r>
          </a:p>
          <a:p>
            <a:r>
              <a:rPr lang="en-US" sz="1000">
                <a:solidFill>
                  <a:srgbClr val="2D2D2D"/>
                </a:solidFill>
              </a:rPr>
              <a:t>- Integrate consultant</a:t>
            </a:r>
          </a:p>
          <a:p>
            <a:r>
              <a:rPr lang="en-US" sz="1000">
                <a:solidFill>
                  <a:srgbClr val="2D2D2D"/>
                </a:solidFill>
              </a:rPr>
              <a:t>- Run QA and reviews</a:t>
            </a:r>
          </a:p>
        </p:txBody>
      </p:sp>
      <p:sp>
        <p:nvSpPr>
          <p:cNvPr id="20" name="Rectangle: Rounded Corners 19">
            <a:extLst>
              <a:ext uri="{FF2B5EF4-FFF2-40B4-BE49-F238E27FC236}">
                <a16:creationId xmlns:a16="http://schemas.microsoft.com/office/drawing/2014/main" id="{9AF3761B-D725-5202-80D6-219220924844}"/>
              </a:ext>
            </a:extLst>
          </p:cNvPr>
          <p:cNvSpPr/>
          <p:nvPr/>
        </p:nvSpPr>
        <p:spPr bwMode="auto">
          <a:xfrm>
            <a:off x="7059168" y="2395728"/>
            <a:ext cx="1993393" cy="2468880"/>
          </a:xfrm>
          <a:prstGeom prst="roundRect">
            <a:avLst/>
          </a:prstGeom>
          <a:solidFill>
            <a:srgbClr val="F8F9FC"/>
          </a:solidFill>
          <a:ln w="19050" cap="flat" cmpd="sng" algn="ctr">
            <a:solidFill>
              <a:srgbClr val="59595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21" name="Rectangle: Rounded Corners 20">
            <a:extLst>
              <a:ext uri="{FF2B5EF4-FFF2-40B4-BE49-F238E27FC236}">
                <a16:creationId xmlns:a16="http://schemas.microsoft.com/office/drawing/2014/main" id="{8970F0D7-A298-6AEA-1625-2FF4317A8578}"/>
              </a:ext>
            </a:extLst>
          </p:cNvPr>
          <p:cNvSpPr/>
          <p:nvPr/>
        </p:nvSpPr>
        <p:spPr bwMode="auto">
          <a:xfrm>
            <a:off x="7187184" y="2084832"/>
            <a:ext cx="1737360" cy="256032"/>
          </a:xfrm>
          <a:prstGeom prst="roundRect">
            <a:avLst/>
          </a:prstGeom>
          <a:solidFill>
            <a:srgbClr val="595959"/>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Days 13-20</a:t>
            </a:r>
          </a:p>
        </p:txBody>
      </p:sp>
      <p:sp>
        <p:nvSpPr>
          <p:cNvPr id="22" name="TextBox 21">
            <a:extLst>
              <a:ext uri="{FF2B5EF4-FFF2-40B4-BE49-F238E27FC236}">
                <a16:creationId xmlns:a16="http://schemas.microsoft.com/office/drawing/2014/main" id="{3911FC2E-8ABF-1EB0-B1F3-548E2CC3CB25}"/>
              </a:ext>
            </a:extLst>
          </p:cNvPr>
          <p:cNvSpPr txBox="1"/>
          <p:nvPr/>
        </p:nvSpPr>
        <p:spPr>
          <a:xfrm>
            <a:off x="7168896" y="2779776"/>
            <a:ext cx="1773936" cy="287258"/>
          </a:xfrm>
          <a:prstGeom prst="rect">
            <a:avLst/>
          </a:prstGeom>
          <a:noFill/>
        </p:spPr>
        <p:txBody>
          <a:bodyPr vert="horz" wrap="square" lIns="76200" tIns="50800" rIns="76200" bIns="50800" rtlCol="0">
            <a:spAutoFit/>
          </a:bodyPr>
          <a:lstStyle/>
          <a:p>
            <a:r>
              <a:rPr lang="en-US" sz="1200" b="1">
                <a:solidFill>
                  <a:srgbClr val="23497E"/>
                </a:solidFill>
              </a:rPr>
              <a:t>Submit</a:t>
            </a:r>
          </a:p>
        </p:txBody>
      </p:sp>
      <p:sp>
        <p:nvSpPr>
          <p:cNvPr id="23" name="TextBox 22">
            <a:extLst>
              <a:ext uri="{FF2B5EF4-FFF2-40B4-BE49-F238E27FC236}">
                <a16:creationId xmlns:a16="http://schemas.microsoft.com/office/drawing/2014/main" id="{7E9DB323-52FF-6711-41EF-02E2F05D3124}"/>
              </a:ext>
            </a:extLst>
          </p:cNvPr>
          <p:cNvSpPr txBox="1"/>
          <p:nvPr/>
        </p:nvSpPr>
        <p:spPr>
          <a:xfrm>
            <a:off x="7168896" y="3273552"/>
            <a:ext cx="1773936" cy="564257"/>
          </a:xfrm>
          <a:prstGeom prst="rect">
            <a:avLst/>
          </a:prstGeom>
          <a:noFill/>
        </p:spPr>
        <p:txBody>
          <a:bodyPr vert="horz" wrap="square" lIns="76200" tIns="50800" rIns="76200" bIns="50800" rtlCol="0">
            <a:spAutoFit/>
          </a:bodyPr>
          <a:lstStyle/>
          <a:p>
            <a:r>
              <a:rPr lang="en-US" sz="1000">
                <a:solidFill>
                  <a:srgbClr val="2D2D2D"/>
                </a:solidFill>
              </a:rPr>
              <a:t>- Package final files</a:t>
            </a:r>
          </a:p>
          <a:p>
            <a:r>
              <a:rPr lang="en-US" sz="1000">
                <a:solidFill>
                  <a:srgbClr val="2D2D2D"/>
                </a:solidFill>
              </a:rPr>
              <a:t>- Align executives</a:t>
            </a:r>
          </a:p>
          <a:p>
            <a:r>
              <a:rPr lang="en-US" sz="1000">
                <a:solidFill>
                  <a:srgbClr val="2D2D2D"/>
                </a:solidFill>
              </a:rPr>
              <a:t>- Protect handoff and submit</a:t>
            </a:r>
          </a:p>
        </p:txBody>
      </p:sp>
      <p:sp>
        <p:nvSpPr>
          <p:cNvPr id="24" name="Rectangle: Rounded Corners 23">
            <a:extLst>
              <a:ext uri="{FF2B5EF4-FFF2-40B4-BE49-F238E27FC236}">
                <a16:creationId xmlns:a16="http://schemas.microsoft.com/office/drawing/2014/main" id="{2C7F0939-2EAF-36D7-ED11-5AF9E1954187}"/>
              </a:ext>
            </a:extLst>
          </p:cNvPr>
          <p:cNvSpPr/>
          <p:nvPr/>
        </p:nvSpPr>
        <p:spPr bwMode="auto">
          <a:xfrm>
            <a:off x="9162288" y="2395728"/>
            <a:ext cx="1993392" cy="2468880"/>
          </a:xfrm>
          <a:prstGeom prst="roundRect">
            <a:avLst/>
          </a:prstGeom>
          <a:solidFill>
            <a:srgbClr val="F8F9FC"/>
          </a:solidFill>
          <a:ln w="19050" cap="flat" cmpd="sng" algn="ctr">
            <a:solidFill>
              <a:srgbClr val="2980B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25" name="Rectangle: Rounded Corners 24">
            <a:extLst>
              <a:ext uri="{FF2B5EF4-FFF2-40B4-BE49-F238E27FC236}">
                <a16:creationId xmlns:a16="http://schemas.microsoft.com/office/drawing/2014/main" id="{5F8B4309-DF86-F6F0-A010-5853AF170AB7}"/>
              </a:ext>
            </a:extLst>
          </p:cNvPr>
          <p:cNvSpPr/>
          <p:nvPr/>
        </p:nvSpPr>
        <p:spPr bwMode="auto">
          <a:xfrm>
            <a:off x="9290304" y="2084832"/>
            <a:ext cx="1737360" cy="256032"/>
          </a:xfrm>
          <a:prstGeom prst="roundRect">
            <a:avLst/>
          </a:prstGeom>
          <a:solidFill>
            <a:srgbClr val="2980B9"/>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Post-submission</a:t>
            </a:r>
          </a:p>
        </p:txBody>
      </p:sp>
      <p:sp>
        <p:nvSpPr>
          <p:cNvPr id="26" name="TextBox 25">
            <a:extLst>
              <a:ext uri="{FF2B5EF4-FFF2-40B4-BE49-F238E27FC236}">
                <a16:creationId xmlns:a16="http://schemas.microsoft.com/office/drawing/2014/main" id="{3940EAE8-1069-0155-7777-E3025318AE44}"/>
              </a:ext>
            </a:extLst>
          </p:cNvPr>
          <p:cNvSpPr txBox="1"/>
          <p:nvPr/>
        </p:nvSpPr>
        <p:spPr>
          <a:xfrm>
            <a:off x="9272016" y="2779776"/>
            <a:ext cx="1773936" cy="287258"/>
          </a:xfrm>
          <a:prstGeom prst="rect">
            <a:avLst/>
          </a:prstGeom>
          <a:noFill/>
        </p:spPr>
        <p:txBody>
          <a:bodyPr vert="horz" wrap="square" lIns="76200" tIns="50800" rIns="76200" bIns="50800" rtlCol="0">
            <a:spAutoFit/>
          </a:bodyPr>
          <a:lstStyle/>
          <a:p>
            <a:r>
              <a:rPr lang="en-US" sz="1200" b="1">
                <a:solidFill>
                  <a:srgbClr val="23497E"/>
                </a:solidFill>
              </a:rPr>
              <a:t>Present</a:t>
            </a:r>
          </a:p>
        </p:txBody>
      </p:sp>
      <p:sp>
        <p:nvSpPr>
          <p:cNvPr id="27" name="TextBox 26">
            <a:extLst>
              <a:ext uri="{FF2B5EF4-FFF2-40B4-BE49-F238E27FC236}">
                <a16:creationId xmlns:a16="http://schemas.microsoft.com/office/drawing/2014/main" id="{A7535765-E7B0-1924-84DE-02B139A44415}"/>
              </a:ext>
            </a:extLst>
          </p:cNvPr>
          <p:cNvSpPr txBox="1"/>
          <p:nvPr/>
        </p:nvSpPr>
        <p:spPr>
          <a:xfrm>
            <a:off x="9272016" y="3273552"/>
            <a:ext cx="1773936" cy="564257"/>
          </a:xfrm>
          <a:prstGeom prst="rect">
            <a:avLst/>
          </a:prstGeom>
          <a:noFill/>
        </p:spPr>
        <p:txBody>
          <a:bodyPr vert="horz" wrap="square" lIns="76200" tIns="50800" rIns="76200" bIns="50800" rtlCol="0">
            <a:spAutoFit/>
          </a:bodyPr>
          <a:lstStyle/>
          <a:p>
            <a:r>
              <a:rPr lang="en-US" sz="1000">
                <a:solidFill>
                  <a:srgbClr val="2D2D2D"/>
                </a:solidFill>
              </a:rPr>
              <a:t>- Prepare slide story</a:t>
            </a:r>
          </a:p>
          <a:p>
            <a:r>
              <a:rPr lang="en-US" sz="1000">
                <a:solidFill>
                  <a:srgbClr val="2D2D2D"/>
                </a:solidFill>
              </a:rPr>
              <a:t>- Draft Q&amp;A and notes</a:t>
            </a:r>
          </a:p>
          <a:p>
            <a:r>
              <a:rPr lang="en-US" sz="1000">
                <a:solidFill>
                  <a:srgbClr val="2D2D2D"/>
                </a:solidFill>
              </a:rPr>
              <a:t>- Support 2 finalist rounds</a:t>
            </a:r>
          </a:p>
        </p:txBody>
      </p:sp>
      <p:sp>
        <p:nvSpPr>
          <p:cNvPr id="28" name="TextBox 27">
            <a:extLst>
              <a:ext uri="{FF2B5EF4-FFF2-40B4-BE49-F238E27FC236}">
                <a16:creationId xmlns:a16="http://schemas.microsoft.com/office/drawing/2014/main" id="{B8F0E4C6-1C2D-7A0B-1FD8-780A93C2D92D}"/>
              </a:ext>
            </a:extLst>
          </p:cNvPr>
          <p:cNvSpPr txBox="1"/>
          <p:nvPr/>
        </p:nvSpPr>
        <p:spPr>
          <a:xfrm>
            <a:off x="786384" y="5074920"/>
            <a:ext cx="10241280" cy="287258"/>
          </a:xfrm>
          <a:prstGeom prst="rect">
            <a:avLst/>
          </a:prstGeom>
          <a:noFill/>
        </p:spPr>
        <p:txBody>
          <a:bodyPr vert="horz" wrap="square" lIns="76200" tIns="50800" rIns="76200" bIns="50800" rtlCol="0">
            <a:spAutoFit/>
          </a:bodyPr>
          <a:lstStyle/>
          <a:p>
            <a:r>
              <a:rPr lang="en-US" sz="1200">
                <a:solidFill>
                  <a:srgbClr val="23497E"/>
                </a:solidFill>
              </a:rPr>
              <a:t>Five operating checkpoints replaced a dense activity table and show how governance moved from planning to finalist delivery.</a:t>
            </a:r>
          </a:p>
        </p:txBody>
      </p:sp>
    </p:spTree>
    <p:extLst>
      <p:ext uri="{BB962C8B-B14F-4D97-AF65-F5344CB8AC3E}">
        <p14:creationId xmlns:p14="http://schemas.microsoft.com/office/powerpoint/2010/main" val="631142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I measured the impact through finalist progression, reuse, draft speed, and executive review effort rather than through final award visibility.</a:t>
            </a:r>
          </a:p>
        </p:txBody>
      </p:sp>
      <p:sp>
        <p:nvSpPr>
          <p:cNvPr id="6" name="TextBox 5"/>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Even without final award visibility, the pursuit produced measurable reuse, speed, credibility, and submission outcomes.</a:t>
            </a:r>
          </a:p>
        </p:txBody>
      </p:sp>
      <p:sp>
        <p:nvSpPr>
          <p:cNvPr id="7" name="Rectangle: Rounded Corners 6">
            <a:extLst>
              <a:ext uri="{FF2B5EF4-FFF2-40B4-BE49-F238E27FC236}">
                <a16:creationId xmlns:a16="http://schemas.microsoft.com/office/drawing/2014/main" id="{CC941067-5C4F-F76E-3F47-6E5F487749DD}"/>
              </a:ext>
            </a:extLst>
          </p:cNvPr>
          <p:cNvSpPr/>
          <p:nvPr/>
        </p:nvSpPr>
        <p:spPr bwMode="auto">
          <a:xfrm>
            <a:off x="749808" y="1828800"/>
            <a:ext cx="5047488" cy="1938528"/>
          </a:xfrm>
          <a:prstGeom prst="roundRect">
            <a:avLst/>
          </a:prstGeom>
          <a:solidFill>
            <a:srgbClr val="F8F9FC"/>
          </a:solidFill>
          <a:ln w="19050" cap="flat" cmpd="sng" algn="ctr">
            <a:solidFill>
              <a:srgbClr val="1F4E7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8" name="Rectangle: Rounded Corners 7">
            <a:extLst>
              <a:ext uri="{FF2B5EF4-FFF2-40B4-BE49-F238E27FC236}">
                <a16:creationId xmlns:a16="http://schemas.microsoft.com/office/drawing/2014/main" id="{BD8FCEA0-D75F-9586-4094-057E84642494}"/>
              </a:ext>
            </a:extLst>
          </p:cNvPr>
          <p:cNvSpPr/>
          <p:nvPr/>
        </p:nvSpPr>
        <p:spPr bwMode="auto">
          <a:xfrm>
            <a:off x="859536" y="1901952"/>
            <a:ext cx="4828032" cy="237744"/>
          </a:xfrm>
          <a:prstGeom prst="roundRect">
            <a:avLst/>
          </a:prstGeom>
          <a:solidFill>
            <a:srgbClr val="1F4E79"/>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Finalist progression</a:t>
            </a:r>
          </a:p>
        </p:txBody>
      </p:sp>
      <p:sp>
        <p:nvSpPr>
          <p:cNvPr id="9" name="TextBox 8">
            <a:extLst>
              <a:ext uri="{FF2B5EF4-FFF2-40B4-BE49-F238E27FC236}">
                <a16:creationId xmlns:a16="http://schemas.microsoft.com/office/drawing/2014/main" id="{0BD8FC9B-B39F-AD3D-BDB8-D6285BD56EC8}"/>
              </a:ext>
            </a:extLst>
          </p:cNvPr>
          <p:cNvSpPr txBox="1"/>
          <p:nvPr/>
        </p:nvSpPr>
        <p:spPr>
          <a:xfrm>
            <a:off x="877824" y="2249424"/>
            <a:ext cx="822960" cy="225703"/>
          </a:xfrm>
          <a:prstGeom prst="rect">
            <a:avLst/>
          </a:prstGeom>
          <a:noFill/>
        </p:spPr>
        <p:txBody>
          <a:bodyPr vert="horz" wrap="square" lIns="76200" tIns="50800" rIns="76200" bIns="50800" rtlCol="0">
            <a:spAutoFit/>
          </a:bodyPr>
          <a:lstStyle/>
          <a:p>
            <a:r>
              <a:rPr lang="en-US" sz="800" b="1">
                <a:solidFill>
                  <a:srgbClr val="707070"/>
                </a:solidFill>
              </a:rPr>
              <a:t>Baseline</a:t>
            </a:r>
          </a:p>
        </p:txBody>
      </p:sp>
      <p:sp>
        <p:nvSpPr>
          <p:cNvPr id="10" name="TextBox 9">
            <a:extLst>
              <a:ext uri="{FF2B5EF4-FFF2-40B4-BE49-F238E27FC236}">
                <a16:creationId xmlns:a16="http://schemas.microsoft.com/office/drawing/2014/main" id="{E3ADB4CE-FCDA-0B20-AE06-20B555DD39A4}"/>
              </a:ext>
            </a:extLst>
          </p:cNvPr>
          <p:cNvSpPr txBox="1"/>
          <p:nvPr/>
        </p:nvSpPr>
        <p:spPr>
          <a:xfrm>
            <a:off x="877824" y="2395728"/>
            <a:ext cx="4791456" cy="233397"/>
          </a:xfrm>
          <a:prstGeom prst="rect">
            <a:avLst/>
          </a:prstGeom>
          <a:noFill/>
        </p:spPr>
        <p:txBody>
          <a:bodyPr vert="horz" wrap="square" lIns="76200" tIns="50800" rIns="76200" bIns="50800" rtlCol="0">
            <a:spAutoFit/>
          </a:bodyPr>
          <a:lstStyle/>
          <a:p>
            <a:r>
              <a:rPr lang="en-US" sz="850">
                <a:solidFill>
                  <a:srgbClr val="3C3C3C"/>
                </a:solidFill>
              </a:rPr>
              <a:t>No assured advancement from an unprepared start</a:t>
            </a:r>
          </a:p>
        </p:txBody>
      </p:sp>
      <p:sp>
        <p:nvSpPr>
          <p:cNvPr id="11" name="TextBox 10">
            <a:extLst>
              <a:ext uri="{FF2B5EF4-FFF2-40B4-BE49-F238E27FC236}">
                <a16:creationId xmlns:a16="http://schemas.microsoft.com/office/drawing/2014/main" id="{A64CA21B-F1A8-F5CB-6081-35E0E7126FB7}"/>
              </a:ext>
            </a:extLst>
          </p:cNvPr>
          <p:cNvSpPr txBox="1"/>
          <p:nvPr/>
        </p:nvSpPr>
        <p:spPr>
          <a:xfrm>
            <a:off x="877824" y="2724912"/>
            <a:ext cx="822960" cy="225703"/>
          </a:xfrm>
          <a:prstGeom prst="rect">
            <a:avLst/>
          </a:prstGeom>
          <a:noFill/>
        </p:spPr>
        <p:txBody>
          <a:bodyPr vert="horz" wrap="square" lIns="76200" tIns="50800" rIns="76200" bIns="50800" rtlCol="0">
            <a:spAutoFit/>
          </a:bodyPr>
          <a:lstStyle/>
          <a:p>
            <a:r>
              <a:rPr lang="en-US" sz="800" b="1">
                <a:solidFill>
                  <a:srgbClr val="1F4E79"/>
                </a:solidFill>
              </a:rPr>
              <a:t>Result</a:t>
            </a:r>
          </a:p>
        </p:txBody>
      </p:sp>
      <p:sp>
        <p:nvSpPr>
          <p:cNvPr id="12" name="TextBox 11">
            <a:extLst>
              <a:ext uri="{FF2B5EF4-FFF2-40B4-BE49-F238E27FC236}">
                <a16:creationId xmlns:a16="http://schemas.microsoft.com/office/drawing/2014/main" id="{2AA7DCC7-BABD-85E5-A60F-283A1991671A}"/>
              </a:ext>
            </a:extLst>
          </p:cNvPr>
          <p:cNvSpPr txBox="1"/>
          <p:nvPr/>
        </p:nvSpPr>
        <p:spPr>
          <a:xfrm>
            <a:off x="877824" y="2871216"/>
            <a:ext cx="4791456" cy="248786"/>
          </a:xfrm>
          <a:prstGeom prst="rect">
            <a:avLst/>
          </a:prstGeom>
          <a:noFill/>
        </p:spPr>
        <p:txBody>
          <a:bodyPr vert="horz" wrap="square" lIns="76200" tIns="50800" rIns="76200" bIns="50800" rtlCol="0">
            <a:spAutoFit/>
          </a:bodyPr>
          <a:lstStyle/>
          <a:p>
            <a:r>
              <a:rPr lang="en-US" sz="950" b="1">
                <a:solidFill>
                  <a:srgbClr val="23497E"/>
                </a:solidFill>
              </a:rPr>
              <a:t>Reached 2 finalist presentations</a:t>
            </a:r>
          </a:p>
        </p:txBody>
      </p:sp>
      <p:cxnSp>
        <p:nvCxnSpPr>
          <p:cNvPr id="13" name="Straight Connector 12">
            <a:extLst>
              <a:ext uri="{FF2B5EF4-FFF2-40B4-BE49-F238E27FC236}">
                <a16:creationId xmlns:a16="http://schemas.microsoft.com/office/drawing/2014/main" id="{CFAA2283-A42E-75E1-192E-B3FDAEE0DB17}"/>
              </a:ext>
            </a:extLst>
          </p:cNvPr>
          <p:cNvCxnSpPr/>
          <p:nvPr/>
        </p:nvCxnSpPr>
        <p:spPr bwMode="auto">
          <a:xfrm>
            <a:off x="877824" y="3310128"/>
            <a:ext cx="4791456" cy="0"/>
          </a:xfrm>
          <a:prstGeom prst="line">
            <a:avLst/>
          </a:prstGeom>
          <a:solidFill>
            <a:schemeClr val="accent1"/>
          </a:solidFill>
          <a:ln w="12700" cap="flat" cmpd="sng" algn="ctr">
            <a:solidFill>
              <a:srgbClr val="D7DCE6"/>
            </a:solidFill>
            <a:prstDash val="solid"/>
            <a:round/>
            <a:headEnd type="none" w="med" len="med"/>
            <a:tailEnd type="none" w="med" len="med"/>
          </a:ln>
          <a:effectLst/>
        </p:spPr>
      </p:cxnSp>
      <p:sp>
        <p:nvSpPr>
          <p:cNvPr id="14" name="TextBox 13">
            <a:extLst>
              <a:ext uri="{FF2B5EF4-FFF2-40B4-BE49-F238E27FC236}">
                <a16:creationId xmlns:a16="http://schemas.microsoft.com/office/drawing/2014/main" id="{C6B3123E-23EF-B9D3-A334-0E0F9712924A}"/>
              </a:ext>
            </a:extLst>
          </p:cNvPr>
          <p:cNvSpPr txBox="1"/>
          <p:nvPr/>
        </p:nvSpPr>
        <p:spPr>
          <a:xfrm>
            <a:off x="877824" y="3364992"/>
            <a:ext cx="1005840" cy="225703"/>
          </a:xfrm>
          <a:prstGeom prst="rect">
            <a:avLst/>
          </a:prstGeom>
          <a:noFill/>
        </p:spPr>
        <p:txBody>
          <a:bodyPr vert="horz" wrap="square" lIns="76200" tIns="50800" rIns="76200" bIns="50800" rtlCol="0">
            <a:spAutoFit/>
          </a:bodyPr>
          <a:lstStyle/>
          <a:p>
            <a:r>
              <a:rPr lang="en-US" sz="800" b="1">
                <a:solidFill>
                  <a:srgbClr val="707070"/>
                </a:solidFill>
              </a:rPr>
              <a:t>Measured by</a:t>
            </a:r>
          </a:p>
        </p:txBody>
      </p:sp>
      <p:sp>
        <p:nvSpPr>
          <p:cNvPr id="15" name="TextBox 14">
            <a:extLst>
              <a:ext uri="{FF2B5EF4-FFF2-40B4-BE49-F238E27FC236}">
                <a16:creationId xmlns:a16="http://schemas.microsoft.com/office/drawing/2014/main" id="{BD990047-ED64-ABED-08F4-B44E00631BBA}"/>
              </a:ext>
            </a:extLst>
          </p:cNvPr>
          <p:cNvSpPr txBox="1"/>
          <p:nvPr/>
        </p:nvSpPr>
        <p:spPr>
          <a:xfrm>
            <a:off x="877824" y="3511296"/>
            <a:ext cx="4791456" cy="225703"/>
          </a:xfrm>
          <a:prstGeom prst="rect">
            <a:avLst/>
          </a:prstGeom>
          <a:noFill/>
        </p:spPr>
        <p:txBody>
          <a:bodyPr vert="horz" wrap="square" lIns="76200" tIns="50800" rIns="76200" bIns="50800" rtlCol="0">
            <a:spAutoFit/>
          </a:bodyPr>
          <a:lstStyle/>
          <a:p>
            <a:r>
              <a:rPr lang="en-US" sz="800">
                <a:solidFill>
                  <a:srgbClr val="464646"/>
                </a:solidFill>
              </a:rPr>
              <a:t>Invitations to 2 finalist rounds</a:t>
            </a:r>
          </a:p>
        </p:txBody>
      </p:sp>
      <p:sp>
        <p:nvSpPr>
          <p:cNvPr id="16" name="Rectangle: Rounded Corners 15">
            <a:extLst>
              <a:ext uri="{FF2B5EF4-FFF2-40B4-BE49-F238E27FC236}">
                <a16:creationId xmlns:a16="http://schemas.microsoft.com/office/drawing/2014/main" id="{76AACE3E-43D8-DC31-39C1-B50F2EE7FFC7}"/>
              </a:ext>
            </a:extLst>
          </p:cNvPr>
          <p:cNvSpPr/>
          <p:nvPr/>
        </p:nvSpPr>
        <p:spPr bwMode="auto">
          <a:xfrm>
            <a:off x="5980176" y="1828800"/>
            <a:ext cx="5047488" cy="1938528"/>
          </a:xfrm>
          <a:prstGeom prst="roundRect">
            <a:avLst/>
          </a:prstGeom>
          <a:solidFill>
            <a:srgbClr val="F8F9FC"/>
          </a:solid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17" name="Rectangle: Rounded Corners 16">
            <a:extLst>
              <a:ext uri="{FF2B5EF4-FFF2-40B4-BE49-F238E27FC236}">
                <a16:creationId xmlns:a16="http://schemas.microsoft.com/office/drawing/2014/main" id="{25E5E650-D61C-F99D-2814-235283DD490B}"/>
              </a:ext>
            </a:extLst>
          </p:cNvPr>
          <p:cNvSpPr/>
          <p:nvPr/>
        </p:nvSpPr>
        <p:spPr bwMode="auto">
          <a:xfrm>
            <a:off x="6089904" y="1901952"/>
            <a:ext cx="4828032" cy="237744"/>
          </a:xfrm>
          <a:prstGeom prst="roundRect">
            <a:avLst/>
          </a:prstGeom>
          <a:solidFill>
            <a:srgbClr val="0070C0"/>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Reusable bid base</a:t>
            </a:r>
          </a:p>
        </p:txBody>
      </p:sp>
      <p:sp>
        <p:nvSpPr>
          <p:cNvPr id="18" name="TextBox 17">
            <a:extLst>
              <a:ext uri="{FF2B5EF4-FFF2-40B4-BE49-F238E27FC236}">
                <a16:creationId xmlns:a16="http://schemas.microsoft.com/office/drawing/2014/main" id="{4C72D172-A9E3-B5F9-8BA2-BD5C6F0737BB}"/>
              </a:ext>
            </a:extLst>
          </p:cNvPr>
          <p:cNvSpPr txBox="1"/>
          <p:nvPr/>
        </p:nvSpPr>
        <p:spPr>
          <a:xfrm>
            <a:off x="6108192" y="2249424"/>
            <a:ext cx="822960" cy="225703"/>
          </a:xfrm>
          <a:prstGeom prst="rect">
            <a:avLst/>
          </a:prstGeom>
          <a:noFill/>
        </p:spPr>
        <p:txBody>
          <a:bodyPr vert="horz" wrap="square" lIns="76200" tIns="50800" rIns="76200" bIns="50800" rtlCol="0">
            <a:spAutoFit/>
          </a:bodyPr>
          <a:lstStyle/>
          <a:p>
            <a:r>
              <a:rPr lang="en-US" sz="800" b="1">
                <a:solidFill>
                  <a:srgbClr val="707070"/>
                </a:solidFill>
              </a:rPr>
              <a:t>Baseline</a:t>
            </a:r>
          </a:p>
        </p:txBody>
      </p:sp>
      <p:sp>
        <p:nvSpPr>
          <p:cNvPr id="19" name="TextBox 18">
            <a:extLst>
              <a:ext uri="{FF2B5EF4-FFF2-40B4-BE49-F238E27FC236}">
                <a16:creationId xmlns:a16="http://schemas.microsoft.com/office/drawing/2014/main" id="{C06A257B-1772-E0E2-465E-8BFBB78D0AB1}"/>
              </a:ext>
            </a:extLst>
          </p:cNvPr>
          <p:cNvSpPr txBox="1"/>
          <p:nvPr/>
        </p:nvSpPr>
        <p:spPr>
          <a:xfrm>
            <a:off x="6108192" y="2395728"/>
            <a:ext cx="4791456" cy="233397"/>
          </a:xfrm>
          <a:prstGeom prst="rect">
            <a:avLst/>
          </a:prstGeom>
          <a:noFill/>
        </p:spPr>
        <p:txBody>
          <a:bodyPr vert="horz" wrap="square" lIns="76200" tIns="50800" rIns="76200" bIns="50800" rtlCol="0">
            <a:spAutoFit/>
          </a:bodyPr>
          <a:lstStyle/>
          <a:p>
            <a:r>
              <a:rPr lang="en-US" sz="850">
                <a:solidFill>
                  <a:srgbClr val="3C3C3C"/>
                </a:solidFill>
              </a:rPr>
              <a:t>Each school bid rebuilt structure and messaging</a:t>
            </a:r>
          </a:p>
        </p:txBody>
      </p:sp>
      <p:sp>
        <p:nvSpPr>
          <p:cNvPr id="20" name="TextBox 19">
            <a:extLst>
              <a:ext uri="{FF2B5EF4-FFF2-40B4-BE49-F238E27FC236}">
                <a16:creationId xmlns:a16="http://schemas.microsoft.com/office/drawing/2014/main" id="{DFFCE18D-D1D2-3B82-0359-E6BFCC5BCA9B}"/>
              </a:ext>
            </a:extLst>
          </p:cNvPr>
          <p:cNvSpPr txBox="1"/>
          <p:nvPr/>
        </p:nvSpPr>
        <p:spPr>
          <a:xfrm>
            <a:off x="6108192" y="2724912"/>
            <a:ext cx="822960" cy="225703"/>
          </a:xfrm>
          <a:prstGeom prst="rect">
            <a:avLst/>
          </a:prstGeom>
          <a:noFill/>
        </p:spPr>
        <p:txBody>
          <a:bodyPr vert="horz" wrap="square" lIns="76200" tIns="50800" rIns="76200" bIns="50800" rtlCol="0">
            <a:spAutoFit/>
          </a:bodyPr>
          <a:lstStyle/>
          <a:p>
            <a:r>
              <a:rPr lang="en-US" sz="800" b="1">
                <a:solidFill>
                  <a:srgbClr val="0070C0"/>
                </a:solidFill>
              </a:rPr>
              <a:t>Result</a:t>
            </a:r>
          </a:p>
        </p:txBody>
      </p:sp>
      <p:sp>
        <p:nvSpPr>
          <p:cNvPr id="21" name="TextBox 20">
            <a:extLst>
              <a:ext uri="{FF2B5EF4-FFF2-40B4-BE49-F238E27FC236}">
                <a16:creationId xmlns:a16="http://schemas.microsoft.com/office/drawing/2014/main" id="{F5EC6685-8060-F849-3F73-6001A6C4CBAA}"/>
              </a:ext>
            </a:extLst>
          </p:cNvPr>
          <p:cNvSpPr txBox="1"/>
          <p:nvPr/>
        </p:nvSpPr>
        <p:spPr>
          <a:xfrm>
            <a:off x="6108192" y="2871216"/>
            <a:ext cx="4791456" cy="248786"/>
          </a:xfrm>
          <a:prstGeom prst="rect">
            <a:avLst/>
          </a:prstGeom>
          <a:noFill/>
        </p:spPr>
        <p:txBody>
          <a:bodyPr vert="horz" wrap="square" lIns="76200" tIns="50800" rIns="76200" bIns="50800" rtlCol="0">
            <a:spAutoFit/>
          </a:bodyPr>
          <a:lstStyle/>
          <a:p>
            <a:r>
              <a:rPr lang="en-US" sz="950" b="1">
                <a:solidFill>
                  <a:srgbClr val="23497E"/>
                </a:solidFill>
              </a:rPr>
              <a:t>About 12 later RNA school bids reused Detroit assets, with about 6 active at once</a:t>
            </a:r>
          </a:p>
        </p:txBody>
      </p:sp>
      <p:cxnSp>
        <p:nvCxnSpPr>
          <p:cNvPr id="22" name="Straight Connector 21">
            <a:extLst>
              <a:ext uri="{FF2B5EF4-FFF2-40B4-BE49-F238E27FC236}">
                <a16:creationId xmlns:a16="http://schemas.microsoft.com/office/drawing/2014/main" id="{93B1BDC9-C570-960E-8740-3D9B569CFCD1}"/>
              </a:ext>
            </a:extLst>
          </p:cNvPr>
          <p:cNvCxnSpPr/>
          <p:nvPr/>
        </p:nvCxnSpPr>
        <p:spPr bwMode="auto">
          <a:xfrm>
            <a:off x="6108192" y="3310128"/>
            <a:ext cx="4791456" cy="0"/>
          </a:xfrm>
          <a:prstGeom prst="line">
            <a:avLst/>
          </a:prstGeom>
          <a:solidFill>
            <a:schemeClr val="accent1"/>
          </a:solidFill>
          <a:ln w="12700" cap="flat" cmpd="sng" algn="ctr">
            <a:solidFill>
              <a:srgbClr val="D7DCE6"/>
            </a:solidFill>
            <a:prstDash val="solid"/>
            <a:round/>
            <a:headEnd type="none" w="med" len="med"/>
            <a:tailEnd type="none" w="med" len="med"/>
          </a:ln>
          <a:effectLst/>
        </p:spPr>
      </p:cxnSp>
      <p:sp>
        <p:nvSpPr>
          <p:cNvPr id="23" name="TextBox 22">
            <a:extLst>
              <a:ext uri="{FF2B5EF4-FFF2-40B4-BE49-F238E27FC236}">
                <a16:creationId xmlns:a16="http://schemas.microsoft.com/office/drawing/2014/main" id="{53E68A89-0EF9-254F-3E9E-D760DF311C9B}"/>
              </a:ext>
            </a:extLst>
          </p:cNvPr>
          <p:cNvSpPr txBox="1"/>
          <p:nvPr/>
        </p:nvSpPr>
        <p:spPr>
          <a:xfrm>
            <a:off x="6108192" y="3364992"/>
            <a:ext cx="1005840" cy="225703"/>
          </a:xfrm>
          <a:prstGeom prst="rect">
            <a:avLst/>
          </a:prstGeom>
          <a:noFill/>
        </p:spPr>
        <p:txBody>
          <a:bodyPr vert="horz" wrap="square" lIns="76200" tIns="50800" rIns="76200" bIns="50800" rtlCol="0">
            <a:spAutoFit/>
          </a:bodyPr>
          <a:lstStyle/>
          <a:p>
            <a:r>
              <a:rPr lang="en-US" sz="800" b="1">
                <a:solidFill>
                  <a:srgbClr val="707070"/>
                </a:solidFill>
              </a:rPr>
              <a:t>Measured by</a:t>
            </a:r>
          </a:p>
        </p:txBody>
      </p:sp>
      <p:sp>
        <p:nvSpPr>
          <p:cNvPr id="24" name="TextBox 23">
            <a:extLst>
              <a:ext uri="{FF2B5EF4-FFF2-40B4-BE49-F238E27FC236}">
                <a16:creationId xmlns:a16="http://schemas.microsoft.com/office/drawing/2014/main" id="{DE4A71BB-2A9B-083E-1AE5-04268D64281E}"/>
              </a:ext>
            </a:extLst>
          </p:cNvPr>
          <p:cNvSpPr txBox="1"/>
          <p:nvPr/>
        </p:nvSpPr>
        <p:spPr>
          <a:xfrm>
            <a:off x="6108192" y="3511296"/>
            <a:ext cx="4791456" cy="225703"/>
          </a:xfrm>
          <a:prstGeom prst="rect">
            <a:avLst/>
          </a:prstGeom>
          <a:noFill/>
        </p:spPr>
        <p:txBody>
          <a:bodyPr vert="horz" wrap="square" lIns="76200" tIns="50800" rIns="76200" bIns="50800" rtlCol="0">
            <a:spAutoFit/>
          </a:bodyPr>
          <a:lstStyle/>
          <a:p>
            <a:r>
              <a:rPr lang="en-US" sz="800">
                <a:solidFill>
                  <a:srgbClr val="464646"/>
                </a:solidFill>
              </a:rPr>
              <a:t>Observed live reuse across later school-bid production</a:t>
            </a:r>
          </a:p>
        </p:txBody>
      </p:sp>
      <p:sp>
        <p:nvSpPr>
          <p:cNvPr id="25" name="Rectangle: Rounded Corners 24">
            <a:extLst>
              <a:ext uri="{FF2B5EF4-FFF2-40B4-BE49-F238E27FC236}">
                <a16:creationId xmlns:a16="http://schemas.microsoft.com/office/drawing/2014/main" id="{7555CF07-D086-3172-CB5E-25B12CF2F4A0}"/>
              </a:ext>
            </a:extLst>
          </p:cNvPr>
          <p:cNvSpPr/>
          <p:nvPr/>
        </p:nvSpPr>
        <p:spPr bwMode="auto">
          <a:xfrm>
            <a:off x="749808" y="3913632"/>
            <a:ext cx="5047488" cy="1938528"/>
          </a:xfrm>
          <a:prstGeom prst="roundRect">
            <a:avLst/>
          </a:prstGeom>
          <a:solidFill>
            <a:srgbClr val="F8F9FC"/>
          </a:solidFill>
          <a:ln w="19050" cap="flat" cmpd="sng" algn="ctr">
            <a:solidFill>
              <a:srgbClr val="2D8CA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26" name="Rectangle: Rounded Corners 25">
            <a:extLst>
              <a:ext uri="{FF2B5EF4-FFF2-40B4-BE49-F238E27FC236}">
                <a16:creationId xmlns:a16="http://schemas.microsoft.com/office/drawing/2014/main" id="{A6F0D361-0EC5-2773-C575-C9F25949CB41}"/>
              </a:ext>
            </a:extLst>
          </p:cNvPr>
          <p:cNvSpPr/>
          <p:nvPr/>
        </p:nvSpPr>
        <p:spPr bwMode="auto">
          <a:xfrm>
            <a:off x="859536" y="3986784"/>
            <a:ext cx="4828032" cy="237744"/>
          </a:xfrm>
          <a:prstGeom prst="roundRect">
            <a:avLst/>
          </a:prstGeom>
          <a:solidFill>
            <a:srgbClr val="2D8CA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First-draft speed</a:t>
            </a:r>
          </a:p>
        </p:txBody>
      </p:sp>
      <p:sp>
        <p:nvSpPr>
          <p:cNvPr id="27" name="TextBox 26">
            <a:extLst>
              <a:ext uri="{FF2B5EF4-FFF2-40B4-BE49-F238E27FC236}">
                <a16:creationId xmlns:a16="http://schemas.microsoft.com/office/drawing/2014/main" id="{9F28D988-A003-6351-7DB2-8D95FC59BBB7}"/>
              </a:ext>
            </a:extLst>
          </p:cNvPr>
          <p:cNvSpPr txBox="1"/>
          <p:nvPr/>
        </p:nvSpPr>
        <p:spPr>
          <a:xfrm>
            <a:off x="877824" y="4334256"/>
            <a:ext cx="822960" cy="225703"/>
          </a:xfrm>
          <a:prstGeom prst="rect">
            <a:avLst/>
          </a:prstGeom>
          <a:noFill/>
        </p:spPr>
        <p:txBody>
          <a:bodyPr vert="horz" wrap="square" lIns="76200" tIns="50800" rIns="76200" bIns="50800" rtlCol="0">
            <a:spAutoFit/>
          </a:bodyPr>
          <a:lstStyle/>
          <a:p>
            <a:r>
              <a:rPr lang="en-US" sz="800" b="1">
                <a:solidFill>
                  <a:srgbClr val="707070"/>
                </a:solidFill>
              </a:rPr>
              <a:t>Baseline</a:t>
            </a:r>
          </a:p>
        </p:txBody>
      </p:sp>
      <p:sp>
        <p:nvSpPr>
          <p:cNvPr id="28" name="TextBox 27">
            <a:extLst>
              <a:ext uri="{FF2B5EF4-FFF2-40B4-BE49-F238E27FC236}">
                <a16:creationId xmlns:a16="http://schemas.microsoft.com/office/drawing/2014/main" id="{EB45AA5C-AC4F-3ADE-C752-BD283F0A6C7E}"/>
              </a:ext>
            </a:extLst>
          </p:cNvPr>
          <p:cNvSpPr txBox="1"/>
          <p:nvPr/>
        </p:nvSpPr>
        <p:spPr>
          <a:xfrm>
            <a:off x="877824" y="4480560"/>
            <a:ext cx="4791456" cy="233397"/>
          </a:xfrm>
          <a:prstGeom prst="rect">
            <a:avLst/>
          </a:prstGeom>
          <a:noFill/>
        </p:spPr>
        <p:txBody>
          <a:bodyPr vert="horz" wrap="square" lIns="76200" tIns="50800" rIns="76200" bIns="50800" rtlCol="0">
            <a:spAutoFit/>
          </a:bodyPr>
          <a:lstStyle/>
          <a:p>
            <a:r>
              <a:rPr lang="en-US" sz="850">
                <a:solidFill>
                  <a:srgbClr val="3C3C3C"/>
                </a:solidFill>
              </a:rPr>
              <a:t>About 4 hours to reach a first compliant draft</a:t>
            </a:r>
          </a:p>
        </p:txBody>
      </p:sp>
      <p:sp>
        <p:nvSpPr>
          <p:cNvPr id="29" name="TextBox 28">
            <a:extLst>
              <a:ext uri="{FF2B5EF4-FFF2-40B4-BE49-F238E27FC236}">
                <a16:creationId xmlns:a16="http://schemas.microsoft.com/office/drawing/2014/main" id="{DACDCCE8-C7A4-934E-4884-B19176CCF0BB}"/>
              </a:ext>
            </a:extLst>
          </p:cNvPr>
          <p:cNvSpPr txBox="1"/>
          <p:nvPr/>
        </p:nvSpPr>
        <p:spPr>
          <a:xfrm>
            <a:off x="877824" y="4809744"/>
            <a:ext cx="822960" cy="225703"/>
          </a:xfrm>
          <a:prstGeom prst="rect">
            <a:avLst/>
          </a:prstGeom>
          <a:noFill/>
        </p:spPr>
        <p:txBody>
          <a:bodyPr vert="horz" wrap="square" lIns="76200" tIns="50800" rIns="76200" bIns="50800" rtlCol="0">
            <a:spAutoFit/>
          </a:bodyPr>
          <a:lstStyle/>
          <a:p>
            <a:r>
              <a:rPr lang="en-US" sz="800" b="1">
                <a:solidFill>
                  <a:srgbClr val="2D8CAF"/>
                </a:solidFill>
              </a:rPr>
              <a:t>Result</a:t>
            </a:r>
          </a:p>
        </p:txBody>
      </p:sp>
      <p:sp>
        <p:nvSpPr>
          <p:cNvPr id="30" name="TextBox 29">
            <a:extLst>
              <a:ext uri="{FF2B5EF4-FFF2-40B4-BE49-F238E27FC236}">
                <a16:creationId xmlns:a16="http://schemas.microsoft.com/office/drawing/2014/main" id="{434A208C-663E-77F7-3054-0213DB4BABCB}"/>
              </a:ext>
            </a:extLst>
          </p:cNvPr>
          <p:cNvSpPr txBox="1"/>
          <p:nvPr/>
        </p:nvSpPr>
        <p:spPr>
          <a:xfrm>
            <a:off x="877824" y="4956048"/>
            <a:ext cx="4791456" cy="248786"/>
          </a:xfrm>
          <a:prstGeom prst="rect">
            <a:avLst/>
          </a:prstGeom>
          <a:noFill/>
        </p:spPr>
        <p:txBody>
          <a:bodyPr vert="horz" wrap="square" lIns="76200" tIns="50800" rIns="76200" bIns="50800" rtlCol="0">
            <a:spAutoFit/>
          </a:bodyPr>
          <a:lstStyle/>
          <a:p>
            <a:r>
              <a:rPr lang="en-US" sz="950" b="1">
                <a:solidFill>
                  <a:srgbClr val="23497E"/>
                </a:solidFill>
              </a:rPr>
              <a:t>An about 80% draft could be reached in roughly 5 minutes before tailoring</a:t>
            </a:r>
          </a:p>
        </p:txBody>
      </p:sp>
      <p:cxnSp>
        <p:nvCxnSpPr>
          <p:cNvPr id="31" name="Straight Connector 30">
            <a:extLst>
              <a:ext uri="{FF2B5EF4-FFF2-40B4-BE49-F238E27FC236}">
                <a16:creationId xmlns:a16="http://schemas.microsoft.com/office/drawing/2014/main" id="{49969F86-AD48-4833-0AC5-8C657302B5C3}"/>
              </a:ext>
            </a:extLst>
          </p:cNvPr>
          <p:cNvCxnSpPr/>
          <p:nvPr/>
        </p:nvCxnSpPr>
        <p:spPr bwMode="auto">
          <a:xfrm>
            <a:off x="877824" y="5394960"/>
            <a:ext cx="4791456" cy="0"/>
          </a:xfrm>
          <a:prstGeom prst="line">
            <a:avLst/>
          </a:prstGeom>
          <a:solidFill>
            <a:schemeClr val="accent1"/>
          </a:solidFill>
          <a:ln w="12700" cap="flat" cmpd="sng" algn="ctr">
            <a:solidFill>
              <a:srgbClr val="D7DCE6"/>
            </a:solidFill>
            <a:prstDash val="solid"/>
            <a:round/>
            <a:headEnd type="none" w="med" len="med"/>
            <a:tailEnd type="none" w="med" len="med"/>
          </a:ln>
          <a:effectLst/>
        </p:spPr>
      </p:cxnSp>
      <p:sp>
        <p:nvSpPr>
          <p:cNvPr id="32" name="TextBox 31">
            <a:extLst>
              <a:ext uri="{FF2B5EF4-FFF2-40B4-BE49-F238E27FC236}">
                <a16:creationId xmlns:a16="http://schemas.microsoft.com/office/drawing/2014/main" id="{3745FE10-8D1A-1797-EA32-9B563F9B9564}"/>
              </a:ext>
            </a:extLst>
          </p:cNvPr>
          <p:cNvSpPr txBox="1"/>
          <p:nvPr/>
        </p:nvSpPr>
        <p:spPr>
          <a:xfrm>
            <a:off x="877824" y="5449824"/>
            <a:ext cx="1005840" cy="225703"/>
          </a:xfrm>
          <a:prstGeom prst="rect">
            <a:avLst/>
          </a:prstGeom>
          <a:noFill/>
        </p:spPr>
        <p:txBody>
          <a:bodyPr vert="horz" wrap="square" lIns="76200" tIns="50800" rIns="76200" bIns="50800" rtlCol="0">
            <a:spAutoFit/>
          </a:bodyPr>
          <a:lstStyle/>
          <a:p>
            <a:r>
              <a:rPr lang="en-US" sz="800" b="1">
                <a:solidFill>
                  <a:srgbClr val="707070"/>
                </a:solidFill>
              </a:rPr>
              <a:t>Measured by</a:t>
            </a:r>
          </a:p>
        </p:txBody>
      </p:sp>
      <p:sp>
        <p:nvSpPr>
          <p:cNvPr id="33" name="TextBox 32">
            <a:extLst>
              <a:ext uri="{FF2B5EF4-FFF2-40B4-BE49-F238E27FC236}">
                <a16:creationId xmlns:a16="http://schemas.microsoft.com/office/drawing/2014/main" id="{16F9A8AA-6AB8-DB2C-2D67-71AD4A2A2DD4}"/>
              </a:ext>
            </a:extLst>
          </p:cNvPr>
          <p:cNvSpPr txBox="1"/>
          <p:nvPr/>
        </p:nvSpPr>
        <p:spPr>
          <a:xfrm>
            <a:off x="877824" y="5596128"/>
            <a:ext cx="4791456" cy="225703"/>
          </a:xfrm>
          <a:prstGeom prst="rect">
            <a:avLst/>
          </a:prstGeom>
          <a:noFill/>
        </p:spPr>
        <p:txBody>
          <a:bodyPr vert="horz" wrap="square" lIns="76200" tIns="50800" rIns="76200" bIns="50800" rtlCol="0">
            <a:spAutoFit/>
          </a:bodyPr>
          <a:lstStyle/>
          <a:p>
            <a:r>
              <a:rPr lang="en-US" sz="800">
                <a:solidFill>
                  <a:srgbClr val="464646"/>
                </a:solidFill>
              </a:rPr>
              <a:t>Compared live prep effort on later similar bids</a:t>
            </a:r>
          </a:p>
        </p:txBody>
      </p:sp>
      <p:sp>
        <p:nvSpPr>
          <p:cNvPr id="34" name="Rectangle: Rounded Corners 33">
            <a:extLst>
              <a:ext uri="{FF2B5EF4-FFF2-40B4-BE49-F238E27FC236}">
                <a16:creationId xmlns:a16="http://schemas.microsoft.com/office/drawing/2014/main" id="{48850D60-AA6E-6C49-8EA2-43D01FEBDF52}"/>
              </a:ext>
            </a:extLst>
          </p:cNvPr>
          <p:cNvSpPr/>
          <p:nvPr/>
        </p:nvSpPr>
        <p:spPr bwMode="auto">
          <a:xfrm>
            <a:off x="5980176" y="3913632"/>
            <a:ext cx="5047488" cy="1938528"/>
          </a:xfrm>
          <a:prstGeom prst="roundRect">
            <a:avLst/>
          </a:prstGeom>
          <a:solidFill>
            <a:srgbClr val="F8F9FC"/>
          </a:solidFill>
          <a:ln w="19050" cap="flat" cmpd="sng" algn="ctr">
            <a:solidFill>
              <a:srgbClr val="59595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35" name="Rectangle: Rounded Corners 34">
            <a:extLst>
              <a:ext uri="{FF2B5EF4-FFF2-40B4-BE49-F238E27FC236}">
                <a16:creationId xmlns:a16="http://schemas.microsoft.com/office/drawing/2014/main" id="{BAC838BA-49FE-6AB4-7039-F0AD894264CF}"/>
              </a:ext>
            </a:extLst>
          </p:cNvPr>
          <p:cNvSpPr/>
          <p:nvPr/>
        </p:nvSpPr>
        <p:spPr bwMode="auto">
          <a:xfrm>
            <a:off x="6089904" y="3986784"/>
            <a:ext cx="4828032" cy="237744"/>
          </a:xfrm>
          <a:prstGeom prst="roundRect">
            <a:avLst/>
          </a:prstGeom>
          <a:solidFill>
            <a:srgbClr val="595959"/>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Executive review burden</a:t>
            </a:r>
          </a:p>
        </p:txBody>
      </p:sp>
      <p:sp>
        <p:nvSpPr>
          <p:cNvPr id="36" name="TextBox 35">
            <a:extLst>
              <a:ext uri="{FF2B5EF4-FFF2-40B4-BE49-F238E27FC236}">
                <a16:creationId xmlns:a16="http://schemas.microsoft.com/office/drawing/2014/main" id="{D1FF51B3-D564-1732-F6CB-A333599C6002}"/>
              </a:ext>
            </a:extLst>
          </p:cNvPr>
          <p:cNvSpPr txBox="1"/>
          <p:nvPr/>
        </p:nvSpPr>
        <p:spPr>
          <a:xfrm>
            <a:off x="6108192" y="4334256"/>
            <a:ext cx="822960" cy="225703"/>
          </a:xfrm>
          <a:prstGeom prst="rect">
            <a:avLst/>
          </a:prstGeom>
          <a:noFill/>
        </p:spPr>
        <p:txBody>
          <a:bodyPr vert="horz" wrap="square" lIns="76200" tIns="50800" rIns="76200" bIns="50800" rtlCol="0">
            <a:spAutoFit/>
          </a:bodyPr>
          <a:lstStyle/>
          <a:p>
            <a:r>
              <a:rPr lang="en-US" sz="800" b="1">
                <a:solidFill>
                  <a:srgbClr val="707070"/>
                </a:solidFill>
              </a:rPr>
              <a:t>Baseline</a:t>
            </a:r>
          </a:p>
        </p:txBody>
      </p:sp>
      <p:sp>
        <p:nvSpPr>
          <p:cNvPr id="37" name="TextBox 36">
            <a:extLst>
              <a:ext uri="{FF2B5EF4-FFF2-40B4-BE49-F238E27FC236}">
                <a16:creationId xmlns:a16="http://schemas.microsoft.com/office/drawing/2014/main" id="{B474E257-50C9-6C9F-8661-F284B26F5EEA}"/>
              </a:ext>
            </a:extLst>
          </p:cNvPr>
          <p:cNvSpPr txBox="1"/>
          <p:nvPr/>
        </p:nvSpPr>
        <p:spPr>
          <a:xfrm>
            <a:off x="6108192" y="4480560"/>
            <a:ext cx="4791456" cy="233397"/>
          </a:xfrm>
          <a:prstGeom prst="rect">
            <a:avLst/>
          </a:prstGeom>
          <a:noFill/>
        </p:spPr>
        <p:txBody>
          <a:bodyPr vert="horz" wrap="square" lIns="76200" tIns="50800" rIns="76200" bIns="50800" rtlCol="0">
            <a:spAutoFit/>
          </a:bodyPr>
          <a:lstStyle/>
          <a:p>
            <a:r>
              <a:rPr lang="en-US" sz="850">
                <a:solidFill>
                  <a:srgbClr val="3C3C3C"/>
                </a:solidFill>
              </a:rPr>
              <a:t>Repeated review of unfamiliar writing and structure</a:t>
            </a:r>
          </a:p>
        </p:txBody>
      </p:sp>
      <p:sp>
        <p:nvSpPr>
          <p:cNvPr id="38" name="TextBox 37">
            <a:extLst>
              <a:ext uri="{FF2B5EF4-FFF2-40B4-BE49-F238E27FC236}">
                <a16:creationId xmlns:a16="http://schemas.microsoft.com/office/drawing/2014/main" id="{9B39B3D9-6274-D851-6904-AF83352E8739}"/>
              </a:ext>
            </a:extLst>
          </p:cNvPr>
          <p:cNvSpPr txBox="1"/>
          <p:nvPr/>
        </p:nvSpPr>
        <p:spPr>
          <a:xfrm>
            <a:off x="6108192" y="4809744"/>
            <a:ext cx="822960" cy="225703"/>
          </a:xfrm>
          <a:prstGeom prst="rect">
            <a:avLst/>
          </a:prstGeom>
          <a:noFill/>
        </p:spPr>
        <p:txBody>
          <a:bodyPr vert="horz" wrap="square" lIns="76200" tIns="50800" rIns="76200" bIns="50800" rtlCol="0">
            <a:spAutoFit/>
          </a:bodyPr>
          <a:lstStyle/>
          <a:p>
            <a:r>
              <a:rPr lang="en-US" sz="800" b="1">
                <a:solidFill>
                  <a:srgbClr val="595959"/>
                </a:solidFill>
              </a:rPr>
              <a:t>Result</a:t>
            </a:r>
          </a:p>
        </p:txBody>
      </p:sp>
      <p:sp>
        <p:nvSpPr>
          <p:cNvPr id="39" name="TextBox 38">
            <a:extLst>
              <a:ext uri="{FF2B5EF4-FFF2-40B4-BE49-F238E27FC236}">
                <a16:creationId xmlns:a16="http://schemas.microsoft.com/office/drawing/2014/main" id="{8F33B899-DBA2-3F39-D50D-9EA277CC8A4E}"/>
              </a:ext>
            </a:extLst>
          </p:cNvPr>
          <p:cNvSpPr txBox="1"/>
          <p:nvPr/>
        </p:nvSpPr>
        <p:spPr>
          <a:xfrm>
            <a:off x="6108192" y="4956048"/>
            <a:ext cx="4791456" cy="394980"/>
          </a:xfrm>
          <a:prstGeom prst="rect">
            <a:avLst/>
          </a:prstGeom>
          <a:noFill/>
        </p:spPr>
        <p:txBody>
          <a:bodyPr vert="horz" wrap="square" lIns="76200" tIns="50800" rIns="76200" bIns="50800" rtlCol="0">
            <a:spAutoFit/>
          </a:bodyPr>
          <a:lstStyle/>
          <a:p>
            <a:r>
              <a:rPr lang="en-US" sz="950" b="1">
                <a:solidFill>
                  <a:srgbClr val="23497E"/>
                </a:solidFill>
              </a:rPr>
              <a:t>Later bids usually needed 1 executive review focused on solution and pricing differences</a:t>
            </a:r>
          </a:p>
        </p:txBody>
      </p:sp>
      <p:cxnSp>
        <p:nvCxnSpPr>
          <p:cNvPr id="40" name="Straight Connector 39">
            <a:extLst>
              <a:ext uri="{FF2B5EF4-FFF2-40B4-BE49-F238E27FC236}">
                <a16:creationId xmlns:a16="http://schemas.microsoft.com/office/drawing/2014/main" id="{CDDAB26A-919D-A541-AF05-262911B74EB1}"/>
              </a:ext>
            </a:extLst>
          </p:cNvPr>
          <p:cNvCxnSpPr/>
          <p:nvPr/>
        </p:nvCxnSpPr>
        <p:spPr bwMode="auto">
          <a:xfrm>
            <a:off x="6108192" y="5394960"/>
            <a:ext cx="4791456" cy="0"/>
          </a:xfrm>
          <a:prstGeom prst="line">
            <a:avLst/>
          </a:prstGeom>
          <a:solidFill>
            <a:schemeClr val="accent1"/>
          </a:solidFill>
          <a:ln w="12700" cap="flat" cmpd="sng" algn="ctr">
            <a:solidFill>
              <a:srgbClr val="D7DCE6"/>
            </a:solidFill>
            <a:prstDash val="solid"/>
            <a:round/>
            <a:headEnd type="none" w="med" len="med"/>
            <a:tailEnd type="none" w="med" len="med"/>
          </a:ln>
          <a:effectLst/>
        </p:spPr>
      </p:cxnSp>
      <p:sp>
        <p:nvSpPr>
          <p:cNvPr id="41" name="TextBox 40">
            <a:extLst>
              <a:ext uri="{FF2B5EF4-FFF2-40B4-BE49-F238E27FC236}">
                <a16:creationId xmlns:a16="http://schemas.microsoft.com/office/drawing/2014/main" id="{55BCFE43-C251-DDF7-9357-E06290A8B3CC}"/>
              </a:ext>
            </a:extLst>
          </p:cNvPr>
          <p:cNvSpPr txBox="1"/>
          <p:nvPr/>
        </p:nvSpPr>
        <p:spPr>
          <a:xfrm>
            <a:off x="6108192" y="5449824"/>
            <a:ext cx="1005840" cy="225703"/>
          </a:xfrm>
          <a:prstGeom prst="rect">
            <a:avLst/>
          </a:prstGeom>
          <a:noFill/>
        </p:spPr>
        <p:txBody>
          <a:bodyPr vert="horz" wrap="square" lIns="76200" tIns="50800" rIns="76200" bIns="50800" rtlCol="0">
            <a:spAutoFit/>
          </a:bodyPr>
          <a:lstStyle/>
          <a:p>
            <a:r>
              <a:rPr lang="en-US" sz="800" b="1">
                <a:solidFill>
                  <a:srgbClr val="707070"/>
                </a:solidFill>
              </a:rPr>
              <a:t>Measured by</a:t>
            </a:r>
          </a:p>
        </p:txBody>
      </p:sp>
      <p:sp>
        <p:nvSpPr>
          <p:cNvPr id="42" name="TextBox 41">
            <a:extLst>
              <a:ext uri="{FF2B5EF4-FFF2-40B4-BE49-F238E27FC236}">
                <a16:creationId xmlns:a16="http://schemas.microsoft.com/office/drawing/2014/main" id="{9833397C-2EC9-ED6C-1EE6-CF72E4D4845D}"/>
              </a:ext>
            </a:extLst>
          </p:cNvPr>
          <p:cNvSpPr txBox="1"/>
          <p:nvPr/>
        </p:nvSpPr>
        <p:spPr>
          <a:xfrm>
            <a:off x="6108192" y="5596128"/>
            <a:ext cx="4791456" cy="225703"/>
          </a:xfrm>
          <a:prstGeom prst="rect">
            <a:avLst/>
          </a:prstGeom>
          <a:noFill/>
        </p:spPr>
        <p:txBody>
          <a:bodyPr vert="horz" wrap="square" lIns="76200" tIns="50800" rIns="76200" bIns="50800" rtlCol="0">
            <a:spAutoFit/>
          </a:bodyPr>
          <a:lstStyle/>
          <a:p>
            <a:r>
              <a:rPr lang="en-US" sz="800">
                <a:solidFill>
                  <a:srgbClr val="464646"/>
                </a:solidFill>
              </a:rPr>
              <a:t>Observed post-Detroit review pattern with executives and pricing</a:t>
            </a:r>
          </a:p>
        </p:txBody>
      </p:sp>
    </p:spTree>
    <p:extLst>
      <p:ext uri="{BB962C8B-B14F-4D97-AF65-F5344CB8AC3E}">
        <p14:creationId xmlns:p14="http://schemas.microsoft.com/office/powerpoint/2010/main" val="217800639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CPD Plan for the Next 24 Months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My next 24 months of development are focused on deepening capture capability, formalizing AI-enabled proposal delivery, and contributing more visibly to the profession.</a:t>
            </a:r>
          </a:p>
        </p:txBody>
      </p:sp>
      <p:graphicFrame>
        <p:nvGraphicFramePr>
          <p:cNvPr id="4" name="Table 3"/>
          <p:cNvGraphicFramePr>
            <a:graphicFrameLocks noGrp="1"/>
          </p:cNvGraphicFramePr>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24839">
                <a:tc>
                  <a:txBody>
                    <a:bodyPr/>
                    <a:lstStyle/>
                    <a:p>
                      <a:r>
                        <a:rPr sz="1200" b="1">
                          <a:solidFill>
                            <a:srgbClr val="FFFFFF"/>
                          </a:solidFill>
                        </a:rPr>
                        <a:t>Timing</a:t>
                      </a:r>
                    </a:p>
                  </a:txBody>
                  <a:tcPr>
                    <a:solidFill>
                      <a:srgbClr val="1F4E79"/>
                    </a:solidFill>
                  </a:tcPr>
                </a:tc>
                <a:tc>
                  <a:txBody>
                    <a:bodyPr/>
                    <a:lstStyle/>
                    <a:p>
                      <a:r>
                        <a:rPr sz="1200" b="1">
                          <a:solidFill>
                            <a:srgbClr val="FFFFFF"/>
                          </a:solidFill>
                        </a:rPr>
                        <a:t>Activity</a:t>
                      </a:r>
                    </a:p>
                  </a:txBody>
                  <a:tcPr>
                    <a:solidFill>
                      <a:srgbClr val="1F4E79"/>
                    </a:solidFill>
                  </a:tcPr>
                </a:tc>
                <a:tc>
                  <a:txBody>
                    <a:bodyPr/>
                    <a:lstStyle/>
                    <a:p>
                      <a:r>
                        <a:rPr sz="1200" b="1">
                          <a:solidFill>
                            <a:srgbClr val="FFFFFF"/>
                          </a:solidFill>
                        </a:rPr>
                        <a:t>Why It Matters</a:t>
                      </a:r>
                    </a:p>
                  </a:txBody>
                  <a:tcPr>
                    <a:solidFill>
                      <a:srgbClr val="1F4E79"/>
                    </a:solidFill>
                  </a:tcPr>
                </a:tc>
                <a:extLst>
                  <a:ext uri="{0D108BD9-81ED-4DB2-BD59-A6C34878D82A}">
                    <a16:rowId xmlns:a16="http://schemas.microsoft.com/office/drawing/2014/main" val="10000"/>
                  </a:ext>
                </a:extLst>
              </a:tr>
              <a:tr h="624839">
                <a:tc>
                  <a:txBody>
                    <a:bodyPr/>
                    <a:lstStyle/>
                    <a:p>
                      <a:r>
                        <a:rPr sz="1100">
                          <a:solidFill>
                            <a:srgbClr val="000000"/>
                          </a:solidFill>
                        </a:rPr>
                        <a:t>March to April 2026</a:t>
                      </a:r>
                    </a:p>
                  </a:txBody>
                  <a:tcPr/>
                </a:tc>
                <a:tc>
                  <a:txBody>
                    <a:bodyPr/>
                    <a:lstStyle/>
                    <a:p>
                      <a:r>
                        <a:rPr sz="1100">
                          <a:solidFill>
                            <a:srgbClr val="000000"/>
                          </a:solidFill>
                        </a:rPr>
                        <a:t>Finish and live-smoke-test my internally developed capture-to-proposal application</a:t>
                      </a:r>
                    </a:p>
                  </a:txBody>
                  <a:tcPr/>
                </a:tc>
                <a:tc>
                  <a:txBody>
                    <a:bodyPr/>
                    <a:lstStyle/>
                    <a:p>
                      <a:r>
                        <a:rPr sz="1100">
                          <a:solidFill>
                            <a:srgbClr val="000000"/>
                          </a:solidFill>
                        </a:rPr>
                        <a:t>Validate a purpose-built operating system for capture and proposal work</a:t>
                      </a:r>
                    </a:p>
                  </a:txBody>
                  <a:tcPr/>
                </a:tc>
                <a:extLst>
                  <a:ext uri="{0D108BD9-81ED-4DB2-BD59-A6C34878D82A}">
                    <a16:rowId xmlns:a16="http://schemas.microsoft.com/office/drawing/2014/main" val="10001"/>
                  </a:ext>
                </a:extLst>
              </a:tr>
              <a:tr h="624839">
                <a:tc>
                  <a:txBody>
                    <a:bodyPr/>
                    <a:lstStyle/>
                    <a:p>
                      <a:r>
                        <a:rPr sz="1100">
                          <a:solidFill>
                            <a:srgbClr val="000000"/>
                          </a:solidFill>
                        </a:rPr>
                        <a:t>April to May 2026</a:t>
                      </a:r>
                    </a:p>
                  </a:txBody>
                  <a:tcPr/>
                </a:tc>
                <a:tc>
                  <a:txBody>
                    <a:bodyPr/>
                    <a:lstStyle/>
                    <a:p>
                      <a:r>
                        <a:rPr sz="1100">
                          <a:solidFill>
                            <a:srgbClr val="000000"/>
                          </a:solidFill>
                        </a:rPr>
                        <a:t>Actively build government-capture capability</a:t>
                      </a:r>
                    </a:p>
                  </a:txBody>
                  <a:tcPr/>
                </a:tc>
                <a:tc>
                  <a:txBody>
                    <a:bodyPr/>
                    <a:lstStyle/>
                    <a:p>
                      <a:r>
                        <a:rPr sz="1100">
                          <a:solidFill>
                            <a:srgbClr val="000000"/>
                          </a:solidFill>
                        </a:rPr>
                        <a:t>Expand facilities-services advisory work further upstream in the selling cycle</a:t>
                      </a:r>
                    </a:p>
                  </a:txBody>
                  <a:tcPr/>
                </a:tc>
                <a:extLst>
                  <a:ext uri="{0D108BD9-81ED-4DB2-BD59-A6C34878D82A}">
                    <a16:rowId xmlns:a16="http://schemas.microsoft.com/office/drawing/2014/main" val="10002"/>
                  </a:ext>
                </a:extLst>
              </a:tr>
              <a:tr h="624839">
                <a:tc>
                  <a:txBody>
                    <a:bodyPr/>
                    <a:lstStyle/>
                    <a:p>
                      <a:r>
                        <a:rPr sz="1100">
                          <a:solidFill>
                            <a:srgbClr val="000000"/>
                          </a:solidFill>
                        </a:rPr>
                        <a:t>March to June 2026</a:t>
                      </a:r>
                    </a:p>
                  </a:txBody>
                  <a:tcPr/>
                </a:tc>
                <a:tc>
                  <a:txBody>
                    <a:bodyPr/>
                    <a:lstStyle/>
                    <a:p>
                      <a:r>
                        <a:rPr sz="1100">
                          <a:solidFill>
                            <a:srgbClr val="000000"/>
                          </a:solidFill>
                        </a:rPr>
                        <a:t>Earn the APMP AI Micro-Certification</a:t>
                      </a:r>
                    </a:p>
                  </a:txBody>
                  <a:tcPr/>
                </a:tc>
                <a:tc>
                  <a:txBody>
                    <a:bodyPr/>
                    <a:lstStyle/>
                    <a:p>
                      <a:r>
                        <a:rPr sz="1100">
                          <a:solidFill>
                            <a:srgbClr val="000000"/>
                          </a:solidFill>
                        </a:rPr>
                        <a:t>Align AI-enabled practice with the official APMP credential</a:t>
                      </a:r>
                    </a:p>
                  </a:txBody>
                  <a:tcPr/>
                </a:tc>
                <a:extLst>
                  <a:ext uri="{0D108BD9-81ED-4DB2-BD59-A6C34878D82A}">
                    <a16:rowId xmlns:a16="http://schemas.microsoft.com/office/drawing/2014/main" val="10003"/>
                  </a:ext>
                </a:extLst>
              </a:tr>
              <a:tr h="624839">
                <a:tc>
                  <a:txBody>
                    <a:bodyPr/>
                    <a:lstStyle/>
                    <a:p>
                      <a:r>
                        <a:rPr sz="1100">
                          <a:solidFill>
                            <a:srgbClr val="000000"/>
                          </a:solidFill>
                        </a:rPr>
                        <a:t>March to September 2026</a:t>
                      </a:r>
                    </a:p>
                  </a:txBody>
                  <a:tcPr/>
                </a:tc>
                <a:tc>
                  <a:txBody>
                    <a:bodyPr/>
                    <a:lstStyle/>
                    <a:p>
                      <a:r>
                        <a:rPr sz="1100">
                          <a:solidFill>
                            <a:srgbClr val="000000"/>
                          </a:solidFill>
                        </a:rPr>
                        <a:t>Increase involvement in the APMP National Capital Area chapter</a:t>
                      </a:r>
                    </a:p>
                  </a:txBody>
                  <a:tcPr/>
                </a:tc>
                <a:tc>
                  <a:txBody>
                    <a:bodyPr/>
                    <a:lstStyle/>
                    <a:p>
                      <a:r>
                        <a:rPr sz="1100">
                          <a:solidFill>
                            <a:srgbClr val="000000"/>
                          </a:solidFill>
                        </a:rPr>
                        <a:t>Contribute more directly through events, speaking, and board-oriented service</a:t>
                      </a:r>
                    </a:p>
                  </a:txBody>
                  <a:tcPr/>
                </a:tc>
                <a:extLst>
                  <a:ext uri="{0D108BD9-81ED-4DB2-BD59-A6C34878D82A}">
                    <a16:rowId xmlns:a16="http://schemas.microsoft.com/office/drawing/2014/main" val="10004"/>
                  </a:ext>
                </a:extLst>
              </a:tr>
              <a:tr h="624844">
                <a:tc>
                  <a:txBody>
                    <a:bodyPr/>
                    <a:lstStyle/>
                    <a:p>
                      <a:r>
                        <a:rPr sz="1100">
                          <a:solidFill>
                            <a:srgbClr val="000000"/>
                          </a:solidFill>
                        </a:rPr>
                        <a:t>By March 2027</a:t>
                      </a:r>
                    </a:p>
                  </a:txBody>
                  <a:tcPr/>
                </a:tc>
                <a:tc>
                  <a:txBody>
                    <a:bodyPr/>
                    <a:lstStyle/>
                    <a:p>
                      <a:r>
                        <a:rPr sz="1100">
                          <a:solidFill>
                            <a:srgbClr val="000000"/>
                          </a:solidFill>
                        </a:rPr>
                        <a:t>Stand up a turnkey AI-enabled consulting model and develop toward a BPC 2027 webinar</a:t>
                      </a:r>
                    </a:p>
                  </a:txBody>
                  <a:tcPr/>
                </a:tc>
                <a:tc>
                  <a:txBody>
                    <a:bodyPr/>
                    <a:lstStyle/>
                    <a:p>
                      <a:r>
                        <a:rPr sz="1100">
                          <a:solidFill>
                            <a:srgbClr val="000000"/>
                          </a:solidFill>
                        </a:rPr>
                        <a:t>Demonstrate a practical end-to-end AI operating model for capture and proposal management</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The CPD plan is tied directly to service expansion, standards alignment, and visible contribution to the profession.</a:t>
            </a:r>
          </a:p>
        </p:txBody>
      </p:sp>
    </p:spTree>
    <p:extLst>
      <p:ext uri="{BB962C8B-B14F-4D97-AF65-F5344CB8AC3E}">
        <p14:creationId xmlns:p14="http://schemas.microsoft.com/office/powerpoint/2010/main" val="269720213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CPD Application and Knowledge Sharing</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I intend to convert learning into reusable capability for clients and into practical advocacy for the proposal profession.</a:t>
            </a:r>
          </a:p>
        </p:txBody>
      </p:sp>
      <p:graphicFrame>
        <p:nvGraphicFramePr>
          <p:cNvPr id="4" name="Table 3"/>
          <p:cNvGraphicFramePr>
            <a:graphicFrameLocks noGrp="1"/>
          </p:cNvGraphicFramePr>
          <p:nvPr/>
        </p:nvGraphicFramePr>
        <p:xfrm>
          <a:off x="640080" y="1828800"/>
          <a:ext cx="10972800" cy="292608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85216">
                <a:tc>
                  <a:txBody>
                    <a:bodyPr/>
                    <a:lstStyle/>
                    <a:p>
                      <a:r>
                        <a:rPr sz="1200" b="1">
                          <a:solidFill>
                            <a:srgbClr val="FFFFFF"/>
                          </a:solidFill>
                        </a:rPr>
                        <a:t>Learning Area</a:t>
                      </a:r>
                    </a:p>
                  </a:txBody>
                  <a:tcPr>
                    <a:solidFill>
                      <a:srgbClr val="1F4E79"/>
                    </a:solidFill>
                  </a:tcPr>
                </a:tc>
                <a:tc>
                  <a:txBody>
                    <a:bodyPr/>
                    <a:lstStyle/>
                    <a:p>
                      <a:r>
                        <a:rPr sz="1200" b="1">
                          <a:solidFill>
                            <a:srgbClr val="FFFFFF"/>
                          </a:solidFill>
                        </a:rPr>
                        <a:t>How I Will Apply It</a:t>
                      </a:r>
                    </a:p>
                  </a:txBody>
                  <a:tcPr>
                    <a:solidFill>
                      <a:srgbClr val="1F4E79"/>
                    </a:solidFill>
                  </a:tcPr>
                </a:tc>
                <a:tc>
                  <a:txBody>
                    <a:bodyPr/>
                    <a:lstStyle/>
                    <a:p>
                      <a:r>
                        <a:rPr sz="1200" b="1">
                          <a:solidFill>
                            <a:srgbClr val="FFFFFF"/>
                          </a:solidFill>
                        </a:rPr>
                        <a:t>How I Will Share It</a:t>
                      </a:r>
                    </a:p>
                  </a:txBody>
                  <a:tcPr>
                    <a:solidFill>
                      <a:srgbClr val="1F4E79"/>
                    </a:solidFill>
                  </a:tcPr>
                </a:tc>
                <a:extLst>
                  <a:ext uri="{0D108BD9-81ED-4DB2-BD59-A6C34878D82A}">
                    <a16:rowId xmlns:a16="http://schemas.microsoft.com/office/drawing/2014/main" val="10000"/>
                  </a:ext>
                </a:extLst>
              </a:tr>
              <a:tr h="585216">
                <a:tc>
                  <a:txBody>
                    <a:bodyPr/>
                    <a:lstStyle/>
                    <a:p>
                      <a:r>
                        <a:rPr sz="1100">
                          <a:solidFill>
                            <a:srgbClr val="000000"/>
                          </a:solidFill>
                        </a:rPr>
                        <a:t>Government capture</a:t>
                      </a:r>
                    </a:p>
                  </a:txBody>
                  <a:tcPr/>
                </a:tc>
                <a:tc>
                  <a:txBody>
                    <a:bodyPr/>
                    <a:lstStyle/>
                    <a:p>
                      <a:r>
                        <a:rPr sz="1100">
                          <a:solidFill>
                            <a:srgbClr val="000000"/>
                          </a:solidFill>
                        </a:rPr>
                        <a:t>Move clients upstream from post-RFP response into earlier capture-stage planning</a:t>
                      </a:r>
                    </a:p>
                  </a:txBody>
                  <a:tcPr/>
                </a:tc>
                <a:tc>
                  <a:txBody>
                    <a:bodyPr/>
                    <a:lstStyle/>
                    <a:p>
                      <a:r>
                        <a:rPr sz="1100">
                          <a:solidFill>
                            <a:srgbClr val="000000"/>
                          </a:solidFill>
                        </a:rPr>
                        <a:t>Publish insight articles on the Boss Key LLC website</a:t>
                      </a:r>
                    </a:p>
                  </a:txBody>
                  <a:tcPr/>
                </a:tc>
                <a:extLst>
                  <a:ext uri="{0D108BD9-81ED-4DB2-BD59-A6C34878D82A}">
                    <a16:rowId xmlns:a16="http://schemas.microsoft.com/office/drawing/2014/main" val="10001"/>
                  </a:ext>
                </a:extLst>
              </a:tr>
              <a:tr h="585216">
                <a:tc>
                  <a:txBody>
                    <a:bodyPr/>
                    <a:lstStyle/>
                    <a:p>
                      <a:r>
                        <a:rPr sz="1100">
                          <a:solidFill>
                            <a:srgbClr val="000000"/>
                          </a:solidFill>
                        </a:rPr>
                        <a:t>AI-enabled proposal operations</a:t>
                      </a:r>
                    </a:p>
                  </a:txBody>
                  <a:tcPr/>
                </a:tc>
                <a:tc>
                  <a:txBody>
                    <a:bodyPr/>
                    <a:lstStyle/>
                    <a:p>
                      <a:r>
                        <a:rPr sz="1100">
                          <a:solidFill>
                            <a:srgbClr val="000000"/>
                          </a:solidFill>
                        </a:rPr>
                        <a:t>Use repo-based conversational AI with human judgment in the loop to accelerate compliant delivery</a:t>
                      </a:r>
                    </a:p>
                  </a:txBody>
                  <a:tcPr/>
                </a:tc>
                <a:tc>
                  <a:txBody>
                    <a:bodyPr/>
                    <a:lstStyle/>
                    <a:p>
                      <a:r>
                        <a:rPr sz="1100">
                          <a:solidFill>
                            <a:srgbClr val="000000"/>
                          </a:solidFill>
                        </a:rPr>
                        <a:t>Share methods with APMP chapter peers and through online presentations</a:t>
                      </a:r>
                    </a:p>
                  </a:txBody>
                  <a:tcPr/>
                </a:tc>
                <a:extLst>
                  <a:ext uri="{0D108BD9-81ED-4DB2-BD59-A6C34878D82A}">
                    <a16:rowId xmlns:a16="http://schemas.microsoft.com/office/drawing/2014/main" val="10002"/>
                  </a:ext>
                </a:extLst>
              </a:tr>
              <a:tr h="585216">
                <a:tc>
                  <a:txBody>
                    <a:bodyPr/>
                    <a:lstStyle/>
                    <a:p>
                      <a:r>
                        <a:rPr sz="1100">
                          <a:solidFill>
                            <a:srgbClr val="000000"/>
                          </a:solidFill>
                        </a:rPr>
                        <a:t>Community leadership</a:t>
                      </a:r>
                    </a:p>
                  </a:txBody>
                  <a:tcPr/>
                </a:tc>
                <a:tc>
                  <a:txBody>
                    <a:bodyPr/>
                    <a:lstStyle/>
                    <a:p>
                      <a:r>
                        <a:rPr sz="1100">
                          <a:solidFill>
                            <a:srgbClr val="000000"/>
                          </a:solidFill>
                        </a:rPr>
                        <a:t>Increase contribution to the NCA APMP chapter through events and speaking</a:t>
                      </a:r>
                    </a:p>
                  </a:txBody>
                  <a:tcPr/>
                </a:tc>
                <a:tc>
                  <a:txBody>
                    <a:bodyPr/>
                    <a:lstStyle/>
                    <a:p>
                      <a:r>
                        <a:rPr sz="1100">
                          <a:solidFill>
                            <a:srgbClr val="000000"/>
                          </a:solidFill>
                        </a:rPr>
                        <a:t>Support chapter events and develop conference-level content</a:t>
                      </a:r>
                    </a:p>
                  </a:txBody>
                  <a:tcPr/>
                </a:tc>
                <a:extLst>
                  <a:ext uri="{0D108BD9-81ED-4DB2-BD59-A6C34878D82A}">
                    <a16:rowId xmlns:a16="http://schemas.microsoft.com/office/drawing/2014/main" val="10003"/>
                  </a:ext>
                </a:extLst>
              </a:tr>
              <a:tr h="585216">
                <a:tc>
                  <a:txBody>
                    <a:bodyPr/>
                    <a:lstStyle/>
                    <a:p>
                      <a:r>
                        <a:rPr sz="1100">
                          <a:solidFill>
                            <a:srgbClr val="000000"/>
                          </a:solidFill>
                        </a:rPr>
                        <a:t>Standards-led innovation</a:t>
                      </a:r>
                    </a:p>
                  </a:txBody>
                  <a:tcPr/>
                </a:tc>
                <a:tc>
                  <a:txBody>
                    <a:bodyPr/>
                    <a:lstStyle/>
                    <a:p>
                      <a:r>
                        <a:rPr sz="1100">
                          <a:solidFill>
                            <a:srgbClr val="000000"/>
                          </a:solidFill>
                        </a:rPr>
                        <a:t>Anchor experimentation in recognized APMP good practice</a:t>
                      </a:r>
                    </a:p>
                  </a:txBody>
                  <a:tcPr/>
                </a:tc>
                <a:tc>
                  <a:txBody>
                    <a:bodyPr/>
                    <a:lstStyle/>
                    <a:p>
                      <a:r>
                        <a:rPr sz="1100">
                          <a:solidFill>
                            <a:srgbClr val="000000"/>
                          </a:solidFill>
                        </a:rPr>
                        <a:t>Translate lessons from the APMP AI Micro-Certification into client delivery and peer discussions</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41248" y="5102352"/>
            <a:ext cx="10149840" cy="841248"/>
          </a:xfrm>
          <a:prstGeom prst="rect">
            <a:avLst/>
          </a:prstGeom>
          <a:noFill/>
        </p:spPr>
        <p:txBody>
          <a:bodyPr wrap="square">
            <a:spAutoFit/>
          </a:bodyPr>
          <a:lstStyle/>
          <a:p>
            <a:pPr>
              <a:defRPr sz="1150">
                <a:solidFill>
                  <a:srgbClr val="1F3663"/>
                </a:solidFill>
              </a:defRPr>
            </a:pPr>
            <a:r>
              <a:t>The same principle underpins both my impact story and my development plan: the best proposal leadership leaves behind a stronger system, not just a stronger single submission.</a:t>
            </a:r>
          </a:p>
        </p:txBody>
      </p:sp>
      <p:sp>
        <p:nvSpPr>
          <p:cNvPr id="6" name="TextBox 5"/>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Learning is being converted into reusable client capability and visible contribution to the proposal profession.</a:t>
            </a:r>
          </a:p>
        </p:txBody>
      </p:sp>
    </p:spTree>
    <p:extLst>
      <p:ext uri="{BB962C8B-B14F-4D97-AF65-F5344CB8AC3E}">
        <p14:creationId xmlns:p14="http://schemas.microsoft.com/office/powerpoint/2010/main" val="2697202139"/>
      </p:ext>
    </p:extLst>
  </p:cSld>
  <p:clrMapOvr>
    <a:masterClrMapping/>
  </p:clrMapOvr>
  <p:transition spd="slow">
    <p:wipe/>
  </p:transition>
</p:sld>
</file>

<file path=ppt/theme/theme1.xml><?xml version="1.0" encoding="utf-8"?>
<a:theme xmlns:a="http://schemas.openxmlformats.org/drawingml/2006/main" name="Default Design">
  <a:themeElements>
    <a:clrScheme name="APMP">
      <a:dk1>
        <a:srgbClr val="002277"/>
      </a:dk1>
      <a:lt1>
        <a:srgbClr val="FFFFFF"/>
      </a:lt1>
      <a:dk2>
        <a:srgbClr val="002277"/>
      </a:dk2>
      <a:lt2>
        <a:srgbClr val="FFFFFF"/>
      </a:lt2>
      <a:accent1>
        <a:srgbClr val="002277"/>
      </a:accent1>
      <a:accent2>
        <a:srgbClr val="3266BB"/>
      </a:accent2>
      <a:accent3>
        <a:srgbClr val="FFBB00"/>
      </a:accent3>
      <a:accent4>
        <a:srgbClr val="E1EFFC"/>
      </a:accent4>
      <a:accent5>
        <a:srgbClr val="FF0000"/>
      </a:accent5>
      <a:accent6>
        <a:srgbClr val="3266BB"/>
      </a:accent6>
      <a:hlink>
        <a:srgbClr val="1093BC"/>
      </a:hlink>
      <a:folHlink>
        <a:srgbClr val="E1EFFC"/>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600" b="0" i="1" u="none" strike="noStrike" cap="none" normalizeH="0" baseline="-2500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600" b="0" i="1" u="none" strike="noStrike" cap="none" normalizeH="0" baseline="-2500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2980</Words>
  <Application>Microsoft Office PowerPoint</Application>
  <PresentationFormat>Widescreen</PresentationFormat>
  <Paragraphs>252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Wingdings</vt:lpstr>
      <vt:lpstr>Default Design</vt:lpstr>
      <vt:lpstr>PowerPoint Presentation</vt:lpstr>
      <vt:lpstr>Summary of Impact</vt:lpstr>
      <vt:lpstr>The Situation</vt:lpstr>
      <vt:lpstr>Stakeholder Engagement and Communication</vt:lpstr>
      <vt:lpstr>Tasks</vt:lpstr>
      <vt:lpstr>Activities</vt:lpstr>
      <vt:lpstr>Results</vt:lpstr>
      <vt:lpstr>CPD Plan for the Next 24 Months</vt:lpstr>
      <vt:lpstr>CPD Application and Knowledge Sharing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2019-06-09T16:36:56Z</dcterms:created>
  <dcterms:modified xsi:type="dcterms:W3CDTF">2026-03-12T20:47:59Z</dcterms:modified>
</cp:coreProperties>
</file>