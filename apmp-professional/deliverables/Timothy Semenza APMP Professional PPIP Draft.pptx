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Lst>
  <p:notesMasterIdLst>
    <p:notesMasterId r:id="rId11"/>
  </p:notesMasterIdLst>
  <p:handoutMasterIdLst>
    <p:handoutMasterId r:id="rId12"/>
  </p:handoutMasterIdLst>
  <p:sldIdLst>
    <p:sldId id="400" r:id="rId2"/>
    <p:sldId id="404" r:id="rId3"/>
    <p:sldId id="267" r:id="rId4"/>
    <p:sldId id="273" r:id="rId5"/>
    <p:sldId id="401" r:id="rId6"/>
    <p:sldId id="274" r:id="rId7"/>
    <p:sldId id="275" r:id="rId8"/>
    <p:sldId id="402" r:id="rId9"/>
    <p:sldId id="403" r:id="rId10"/>
  </p:sldIdLst>
  <p:sldSz cx="12192000" cy="6858000"/>
  <p:notesSz cx="7102475" cy="9388475"/>
  <p:defaultTextStyle>
    <a:defPPr>
      <a:defRPr lang="en-US"/>
    </a:defPPr>
    <a:lvl1pPr algn="l" rtl="0" fontAlgn="base">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346" userDrawn="1">
          <p15:clr>
            <a:srgbClr val="A4A3A4"/>
          </p15:clr>
        </p15:guide>
        <p15:guide id="2" orient="horz" pos="4020" userDrawn="1">
          <p15:clr>
            <a:srgbClr val="A4A3A4"/>
          </p15:clr>
        </p15:guide>
        <p15:guide id="3" orient="horz" pos="618" userDrawn="1">
          <p15:clr>
            <a:srgbClr val="A4A3A4"/>
          </p15:clr>
        </p15:guide>
        <p15:guide id="4" pos="3840" userDrawn="1">
          <p15:clr>
            <a:srgbClr val="A4A3A4"/>
          </p15:clr>
        </p15:guide>
        <p15:guide id="5" pos="728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4847"/>
    <a:srgbClr val="FF8409"/>
    <a:srgbClr val="CC66FF"/>
    <a:srgbClr val="00AAE7"/>
    <a:srgbClr val="20AA4D"/>
    <a:srgbClr val="2F3A8F"/>
    <a:srgbClr val="09A9CA"/>
    <a:srgbClr val="0081C6"/>
    <a:srgbClr val="2C3A91"/>
    <a:srgbClr val="0022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2" autoAdjust="0"/>
    <p:restoredTop sz="97834" autoAdjust="0"/>
  </p:normalViewPr>
  <p:slideViewPr>
    <p:cSldViewPr snapToGrid="0">
      <p:cViewPr varScale="1">
        <p:scale>
          <a:sx n="94" d="100"/>
          <a:sy n="94" d="100"/>
        </p:scale>
        <p:origin x="498" y="312"/>
      </p:cViewPr>
      <p:guideLst>
        <p:guide orient="horz" pos="346"/>
        <p:guide orient="horz" pos="4020"/>
        <p:guide orient="horz" pos="618"/>
        <p:guide pos="3840"/>
        <p:guide pos="7287"/>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310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357" cy="47009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023481" y="0"/>
            <a:ext cx="3077357" cy="470093"/>
          </a:xfrm>
          <a:prstGeom prst="rect">
            <a:avLst/>
          </a:prstGeom>
        </p:spPr>
        <p:txBody>
          <a:bodyPr vert="horz" lIns="91440" tIns="45720" rIns="91440" bIns="45720" rtlCol="0"/>
          <a:lstStyle>
            <a:lvl1pPr algn="r">
              <a:defRPr sz="1200"/>
            </a:lvl1pPr>
          </a:lstStyle>
          <a:p>
            <a:fld id="{28B5BCC1-BA44-4CBC-AD29-60CF477D23AF}" type="datetimeFigureOut">
              <a:rPr lang="en-US" smtClean="0"/>
              <a:t>3/12/2026</a:t>
            </a:fld>
            <a:endParaRPr lang="en-US"/>
          </a:p>
        </p:txBody>
      </p:sp>
      <p:sp>
        <p:nvSpPr>
          <p:cNvPr id="4" name="Footer Placeholder 3"/>
          <p:cNvSpPr>
            <a:spLocks noGrp="1"/>
          </p:cNvSpPr>
          <p:nvPr>
            <p:ph type="ftr" sz="quarter" idx="2"/>
          </p:nvPr>
        </p:nvSpPr>
        <p:spPr>
          <a:xfrm>
            <a:off x="0" y="8916894"/>
            <a:ext cx="3077357" cy="470093"/>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023481" y="8916894"/>
            <a:ext cx="3077357" cy="470093"/>
          </a:xfrm>
          <a:prstGeom prst="rect">
            <a:avLst/>
          </a:prstGeom>
        </p:spPr>
        <p:txBody>
          <a:bodyPr vert="horz" lIns="91440" tIns="45720" rIns="91440" bIns="45720" rtlCol="0" anchor="b"/>
          <a:lstStyle>
            <a:lvl1pPr algn="r">
              <a:defRPr sz="1200"/>
            </a:lvl1pPr>
          </a:lstStyle>
          <a:p>
            <a:fld id="{2F9F8ED6-4FAA-4EFF-95C7-41F1E5E8F28D}" type="slidenum">
              <a:rPr lang="en-US" smtClean="0"/>
              <a:t>‹#›</a:t>
            </a:fld>
            <a:endParaRPr lang="en-US"/>
          </a:p>
        </p:txBody>
      </p:sp>
    </p:spTree>
    <p:extLst>
      <p:ext uri="{BB962C8B-B14F-4D97-AF65-F5344CB8AC3E}">
        <p14:creationId xmlns:p14="http://schemas.microsoft.com/office/powerpoint/2010/main" val="11583625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40" cy="469424"/>
          </a:xfrm>
          <a:prstGeom prst="rect">
            <a:avLst/>
          </a:prstGeom>
        </p:spPr>
        <p:txBody>
          <a:bodyPr vert="horz" lIns="92290" tIns="46145" rIns="92290" bIns="46145" rtlCol="0"/>
          <a:lstStyle>
            <a:lvl1pPr algn="l" fontAlgn="auto">
              <a:spcBef>
                <a:spcPts val="0"/>
              </a:spcBef>
              <a:spcAft>
                <a:spcPts val="0"/>
              </a:spcAft>
              <a:defRPr sz="1200">
                <a:latin typeface="+mn-lt"/>
                <a:ea typeface="+mn-ea"/>
                <a:cs typeface="+mn-cs"/>
              </a:defRPr>
            </a:lvl1pPr>
          </a:lstStyle>
          <a:p>
            <a:pPr>
              <a:defRPr/>
            </a:pPr>
            <a:endParaRPr lang="en-GB"/>
          </a:p>
        </p:txBody>
      </p:sp>
      <p:sp>
        <p:nvSpPr>
          <p:cNvPr id="3" name="Date Placeholder 2"/>
          <p:cNvSpPr>
            <a:spLocks noGrp="1"/>
          </p:cNvSpPr>
          <p:nvPr>
            <p:ph type="dt" idx="1"/>
          </p:nvPr>
        </p:nvSpPr>
        <p:spPr>
          <a:xfrm>
            <a:off x="4023093" y="0"/>
            <a:ext cx="3077740" cy="469424"/>
          </a:xfrm>
          <a:prstGeom prst="rect">
            <a:avLst/>
          </a:prstGeom>
        </p:spPr>
        <p:txBody>
          <a:bodyPr vert="horz" wrap="square" lIns="92290" tIns="46145" rIns="92290" bIns="46145" numCol="1" anchor="t" anchorCtr="0" compatLnSpc="1">
            <a:prstTxWarp prst="textNoShape">
              <a:avLst/>
            </a:prstTxWarp>
          </a:bodyPr>
          <a:lstStyle>
            <a:lvl1pPr algn="r">
              <a:defRPr sz="1200">
                <a:latin typeface="Calibri" pitchFamily="34" charset="0"/>
              </a:defRPr>
            </a:lvl1pPr>
          </a:lstStyle>
          <a:p>
            <a:fld id="{EF1E3FA9-0E79-4B18-B2E1-AF573AF26565}" type="datetimeFigureOut">
              <a:rPr lang="en-GB"/>
              <a:pPr/>
              <a:t>12/03/2026</a:t>
            </a:fld>
            <a:endParaRPr lang="en-GB"/>
          </a:p>
        </p:txBody>
      </p:sp>
      <p:sp>
        <p:nvSpPr>
          <p:cNvPr id="4" name="Slide Image Placeholder 3"/>
          <p:cNvSpPr>
            <a:spLocks noGrp="1" noRot="1" noChangeAspect="1"/>
          </p:cNvSpPr>
          <p:nvPr>
            <p:ph type="sldImg" idx="2"/>
          </p:nvPr>
        </p:nvSpPr>
        <p:spPr>
          <a:xfrm>
            <a:off x="422275" y="704850"/>
            <a:ext cx="6257925" cy="3519488"/>
          </a:xfrm>
          <a:prstGeom prst="rect">
            <a:avLst/>
          </a:prstGeom>
          <a:noFill/>
          <a:ln w="12700">
            <a:solidFill>
              <a:prstClr val="black"/>
            </a:solidFill>
          </a:ln>
        </p:spPr>
        <p:txBody>
          <a:bodyPr vert="horz" lIns="92290" tIns="46145" rIns="92290" bIns="46145" rtlCol="0" anchor="ctr"/>
          <a:lstStyle/>
          <a:p>
            <a:pPr lvl="0"/>
            <a:endParaRPr lang="en-GB" noProof="0"/>
          </a:p>
        </p:txBody>
      </p:sp>
      <p:sp>
        <p:nvSpPr>
          <p:cNvPr id="5" name="Notes Placeholder 4"/>
          <p:cNvSpPr>
            <a:spLocks noGrp="1"/>
          </p:cNvSpPr>
          <p:nvPr>
            <p:ph type="body" sz="quarter" idx="3"/>
          </p:nvPr>
        </p:nvSpPr>
        <p:spPr>
          <a:xfrm>
            <a:off x="710248" y="4459527"/>
            <a:ext cx="5681980" cy="4224814"/>
          </a:xfrm>
          <a:prstGeom prst="rect">
            <a:avLst/>
          </a:prstGeom>
        </p:spPr>
        <p:txBody>
          <a:bodyPr vert="horz" lIns="92290" tIns="46145" rIns="92290" bIns="46145"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8917422"/>
            <a:ext cx="3077740" cy="469424"/>
          </a:xfrm>
          <a:prstGeom prst="rect">
            <a:avLst/>
          </a:prstGeom>
        </p:spPr>
        <p:txBody>
          <a:bodyPr vert="horz" lIns="92290" tIns="46145" rIns="92290" bIns="46145" rtlCol="0" anchor="b"/>
          <a:lstStyle>
            <a:lvl1pPr algn="l" fontAlgn="auto">
              <a:spcBef>
                <a:spcPts val="0"/>
              </a:spcBef>
              <a:spcAft>
                <a:spcPts val="0"/>
              </a:spcAft>
              <a:defRPr sz="1200">
                <a:latin typeface="+mn-lt"/>
                <a:ea typeface="+mn-ea"/>
                <a:cs typeface="+mn-cs"/>
              </a:defRPr>
            </a:lvl1pPr>
          </a:lstStyle>
          <a:p>
            <a:pPr>
              <a:defRPr/>
            </a:pPr>
            <a:endParaRPr lang="en-GB"/>
          </a:p>
        </p:txBody>
      </p:sp>
      <p:sp>
        <p:nvSpPr>
          <p:cNvPr id="7" name="Slide Number Placeholder 6"/>
          <p:cNvSpPr>
            <a:spLocks noGrp="1"/>
          </p:cNvSpPr>
          <p:nvPr>
            <p:ph type="sldNum" sz="quarter" idx="5"/>
          </p:nvPr>
        </p:nvSpPr>
        <p:spPr>
          <a:xfrm>
            <a:off x="4023093" y="8917422"/>
            <a:ext cx="3077740" cy="469424"/>
          </a:xfrm>
          <a:prstGeom prst="rect">
            <a:avLst/>
          </a:prstGeom>
        </p:spPr>
        <p:txBody>
          <a:bodyPr vert="horz" wrap="square" lIns="92290" tIns="46145" rIns="92290" bIns="46145" numCol="1" anchor="b" anchorCtr="0" compatLnSpc="1">
            <a:prstTxWarp prst="textNoShape">
              <a:avLst/>
            </a:prstTxWarp>
          </a:bodyPr>
          <a:lstStyle>
            <a:lvl1pPr algn="r">
              <a:defRPr sz="1200">
                <a:latin typeface="Calibri" pitchFamily="34" charset="0"/>
              </a:defRPr>
            </a:lvl1pPr>
          </a:lstStyle>
          <a:p>
            <a:fld id="{73D7BC01-7314-46EA-BB64-D53C8F299A18}" type="slidenum">
              <a:rPr lang="en-GB"/>
              <a:pPr/>
              <a:t>‹#›</a:t>
            </a:fld>
            <a:endParaRPr lang="en-GB"/>
          </a:p>
        </p:txBody>
      </p:sp>
    </p:spTree>
    <p:extLst>
      <p:ext uri="{BB962C8B-B14F-4D97-AF65-F5344CB8AC3E}">
        <p14:creationId xmlns:p14="http://schemas.microsoft.com/office/powerpoint/2010/main" val="23589215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time: 0:45</a:t>
            </a:r>
          </a:p>
          <a:p>
            <a:endParaRPr lang="en-US"/>
          </a:p>
          <a:p>
            <a:r>
              <a:rPr lang="en-US"/>
              <a:t>Today I am presenting a Detroit Public Schools recompete that I led for RNA between November 2025 and January 2026. I selected this example because it shows not only how I managed a high-pressure pursuit, but how I turned that pursuit into something reusable for the business afterward.</a:t>
            </a:r>
          </a:p>
          <a:p>
            <a:endParaRPr lang="en-US"/>
          </a:p>
          <a:p>
            <a:r>
              <a:rPr lang="en-US"/>
              <a:t>My presentation will move through four points. First, I will explain the starting conditions and why the bid was high risk. Second, I will show how I led the team and structured the work. Third, I will show the measurable results that came out of the pursuit. Finally, I will explain how my current development plan builds directly on that impact.</a:t>
            </a:r>
          </a:p>
        </p:txBody>
      </p:sp>
      <p:sp>
        <p:nvSpPr>
          <p:cNvPr id="4" name="Slide Number Placeholder 3"/>
          <p:cNvSpPr>
            <a:spLocks noGrp="1"/>
          </p:cNvSpPr>
          <p:nvPr>
            <p:ph type="sldNum" sz="quarter" idx="5"/>
          </p:nvPr>
        </p:nvSpPr>
        <p:spPr/>
        <p:txBody>
          <a:bodyPr/>
          <a:lstStyle/>
          <a:p>
            <a:fld id="{73D7BC01-7314-46EA-BB64-D53C8F299A18}" type="slidenum">
              <a:rPr lang="en-GB" smtClean="0"/>
              <a:pPr/>
              <a:t>1</a:t>
            </a:fld>
            <a:endParaRPr lang="en-GB"/>
          </a:p>
        </p:txBody>
      </p:sp>
    </p:spTree>
    <p:extLst>
      <p:ext uri="{BB962C8B-B14F-4D97-AF65-F5344CB8AC3E}">
        <p14:creationId xmlns:p14="http://schemas.microsoft.com/office/powerpoint/2010/main" val="1972363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time: 1:45</a:t>
            </a:r>
          </a:p>
          <a:p>
            <a:endParaRPr lang="en-US"/>
          </a:p>
          <a:p>
            <a:r>
              <a:rPr lang="en-US"/>
              <a:t>In roughly 20 working days, I took control of an unprepared 85 million dollar Detroit Public Schools recompete, coordinated about 15 stakeholders, reached 2 finalist presentations, and converted the work into reusable RNA school-bid infrastructure.</a:t>
            </a:r>
          </a:p>
          <a:p>
            <a:endParaRPr lang="en-US"/>
          </a:p>
          <a:p>
            <a:r>
              <a:rPr lang="en-US"/>
              <a:t>The point I want to emphasize here is the before-and-after change. At the beginning, this was a high-stakes pursuit with very little usable preparation, weak process discipline, and a great deal of dependence on a small number of people. By the end of the pursuit, we had not only submitted a credible bid and advanced to finalist presentations, but had also created reusable templates, graphics, narrative structure, and governance habits that were then used across later school bids.</a:t>
            </a:r>
          </a:p>
          <a:p>
            <a:endParaRPr lang="en-US"/>
          </a:p>
          <a:p>
            <a:r>
              <a:rPr lang="en-US"/>
              <a:t>So the impact was larger than one submission. The more meaningful outcome was that a reactive and inconsistent approach became a repeatable operating model for later RNA school-bid work.</a:t>
            </a:r>
          </a:p>
        </p:txBody>
      </p:sp>
      <p:sp>
        <p:nvSpPr>
          <p:cNvPr id="4" name="Slide Number Placeholder 3"/>
          <p:cNvSpPr>
            <a:spLocks noGrp="1"/>
          </p:cNvSpPr>
          <p:nvPr>
            <p:ph type="sldNum" sz="quarter" idx="5"/>
          </p:nvPr>
        </p:nvSpPr>
        <p:spPr/>
        <p:txBody>
          <a:bodyPr/>
          <a:lstStyle/>
          <a:p>
            <a:fld id="{73D7BC01-7314-46EA-BB64-D53C8F299A18}" type="slidenum">
              <a:rPr lang="en-GB" smtClean="0"/>
              <a:pPr/>
              <a:t>2</a:t>
            </a:fld>
            <a:endParaRPr lang="en-GB"/>
          </a:p>
        </p:txBody>
      </p:sp>
    </p:spTree>
    <p:extLst>
      <p:ext uri="{BB962C8B-B14F-4D97-AF65-F5344CB8AC3E}">
        <p14:creationId xmlns:p14="http://schemas.microsoft.com/office/powerpoint/2010/main" val="174137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Slide Image Placeholder 1"/>
          <p:cNvSpPr>
            <a:spLocks noGrp="1" noRot="1" noChangeAspect="1" noTextEdit="1"/>
          </p:cNvSpPr>
          <p:nvPr>
            <p:ph type="sldImg" idx="2"/>
          </p:nvPr>
        </p:nvSpPr>
        <p:spPr bwMode="auto">
          <a:xfrm>
            <a:off x="701675" y="647700"/>
            <a:ext cx="5753100" cy="323691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1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9859" indent="-288407" eaLnBrk="0" hangingPunct="0">
              <a:defRPr sz="2400">
                <a:solidFill>
                  <a:schemeClr val="tx1"/>
                </a:solidFill>
                <a:latin typeface="Arial" pitchFamily="34" charset="0"/>
                <a:ea typeface="ＭＳ Ｐゴシック" pitchFamily="34" charset="-128"/>
              </a:defRPr>
            </a:lvl2pPr>
            <a:lvl3pPr marL="1153630" indent="-230726" eaLnBrk="0" hangingPunct="0">
              <a:defRPr sz="2400">
                <a:solidFill>
                  <a:schemeClr val="tx1"/>
                </a:solidFill>
                <a:latin typeface="Arial" pitchFamily="34" charset="0"/>
                <a:ea typeface="ＭＳ Ｐゴシック" pitchFamily="34" charset="-128"/>
              </a:defRPr>
            </a:lvl3pPr>
            <a:lvl4pPr marL="1615082" indent="-230726" eaLnBrk="0" hangingPunct="0">
              <a:defRPr sz="2400">
                <a:solidFill>
                  <a:schemeClr val="tx1"/>
                </a:solidFill>
                <a:latin typeface="Arial" pitchFamily="34" charset="0"/>
                <a:ea typeface="ＭＳ Ｐゴシック" pitchFamily="34" charset="-128"/>
              </a:defRPr>
            </a:lvl4pPr>
            <a:lvl5pPr marL="2076534" indent="-230726" eaLnBrk="0" hangingPunct="0">
              <a:defRPr sz="2400">
                <a:solidFill>
                  <a:schemeClr val="tx1"/>
                </a:solidFill>
                <a:latin typeface="Arial" pitchFamily="34" charset="0"/>
                <a:ea typeface="ＭＳ Ｐゴシック" pitchFamily="34" charset="-128"/>
              </a:defRPr>
            </a:lvl5pPr>
            <a:lvl6pPr marL="2537986" indent="-230726"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99438" indent="-230726"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60890" indent="-230726"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22342" indent="-230726"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43CC34A3-6099-4046-95AA-20054C931C95}" type="slidenum">
              <a:rPr lang="en-GB" sz="1200">
                <a:solidFill>
                  <a:srgbClr val="000000"/>
                </a:solidFill>
                <a:latin typeface="Calibri" pitchFamily="34" charset="0"/>
              </a:rPr>
              <a:pPr eaLnBrk="1" hangingPunct="1"/>
              <a:t>3</a:t>
            </a:fld>
            <a:endParaRPr lang="en-GB" sz="1200" dirty="0">
              <a:solidFill>
                <a:srgbClr val="000000"/>
              </a:solidFill>
              <a:latin typeface="Calibri" pitchFamily="34" charset="0"/>
            </a:endParaRPr>
          </a:p>
        </p:txBody>
      </p:sp>
      <p:sp>
        <p:nvSpPr>
          <p:cNvPr id="13315" name="Notes Placeholder 5"/>
          <p:cNvSpPr>
            <a:spLocks noGrp="1"/>
          </p:cNvSpPr>
          <p:nvPr/>
        </p:nvSpPr>
        <p:spPr bwMode="auto">
          <a:xfrm>
            <a:off x="715715" y="4100714"/>
            <a:ext cx="5725717" cy="3884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90" tIns="46145" rIns="92290" bIns="46145"/>
          <a:lstStyle/>
          <a:p>
            <a:pPr>
              <a:spcBef>
                <a:spcPct val="30000"/>
              </a:spcBef>
            </a:pPr>
            <a:endParaRPr lang="en-US" sz="1200" dirty="0">
              <a:solidFill>
                <a:srgbClr val="000000"/>
              </a:solidFill>
            </a:endParaRPr>
          </a:p>
        </p:txBody>
      </p:sp>
      <p:sp>
        <p:nvSpPr>
          <p:cNvPr id="2" name="Notes Placeholder 1"/>
          <p:cNvSpPr>
            <a:spLocks noGrp="1"/>
          </p:cNvSpPr>
          <p:nvPr>
            <p:ph type="body" idx="1"/>
          </p:nvPr>
        </p:nvSpPr>
        <p:spPr/>
        <p:txBody>
          <a:bodyPr/>
          <a:lstStyle/>
          <a:p>
            <a:pPr defTabSz="922904">
              <a:defRPr/>
            </a:pPr>
            <a:r>
              <a:rPr lang="en-US"/>
              <a:t>Target time: 2:30</a:t>
            </a:r>
          </a:p>
          <a:p>
            <a:pPr defTabSz="922904">
              <a:defRPr/>
            </a:pPr>
            <a:endParaRPr lang="en-US"/>
          </a:p>
          <a:p>
            <a:pPr defTabSz="922904">
              <a:defRPr/>
            </a:pPr>
            <a:r>
              <a:rPr lang="en-US"/>
              <a:t>The starting situation was difficult for three reasons. First, RNA entered the Detroit Public Schools recompete without a meaningful capture plan, even though this was incumbent work and the opportunity was too important to treat casually. Second, senior leaders had not engaged deeply enough with the RFP at the point the bid became active. Third, an external proposal consultant was added late, which meant we were still defining roles and working relationships while the pursuit was already underway.</a:t>
            </a:r>
          </a:p>
          <a:p>
            <a:pPr defTabSz="922904">
              <a:defRPr/>
            </a:pPr>
            <a:endParaRPr lang="en-US"/>
          </a:p>
          <a:p>
            <a:pPr defTabSz="922904">
              <a:defRPr/>
            </a:pPr>
            <a:r>
              <a:rPr lang="en-US"/>
              <a:t>The stakes were also unusually high. This incumbent work represented more than 25 percent of RNA's book of business, and the company wanted not just to defend the existing work but to make a much larger play. So this was not a routine production bid. It was a visible, time-compressed pursuit with material business significance.</a:t>
            </a:r>
          </a:p>
          <a:p>
            <a:pPr defTabSz="922904">
              <a:defRPr/>
            </a:pPr>
            <a:endParaRPr lang="en-US"/>
          </a:p>
          <a:p>
            <a:pPr defTabSz="922904">
              <a:defRPr/>
            </a:pPr>
            <a:r>
              <a:rPr lang="en-US"/>
              <a:t>Because of that, the central challenge was not simply writing fast. The real challenge was creating proposal governance while the proposal was already live. Before the team could compete credibly, someone had to establish structure, define responsibilities, create milestones, and give senior stakeholders a way to contribute productively. That became my leadership role in the pursuit.</a:t>
            </a:r>
            <a:endParaRPr lang="en-US" dirty="0"/>
          </a:p>
        </p:txBody>
      </p:sp>
    </p:spTree>
    <p:extLst>
      <p:ext uri="{BB962C8B-B14F-4D97-AF65-F5344CB8AC3E}">
        <p14:creationId xmlns:p14="http://schemas.microsoft.com/office/powerpoint/2010/main" val="20584468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647700"/>
            <a:ext cx="5753100" cy="3236913"/>
          </a:xfrm>
        </p:spPr>
        <p:txBody>
          <a:bodyPr/>
          <a:lstStyle/>
          <a:p>
            <a:endParaRPr lang="en-US"/>
          </a:p>
        </p:txBody>
      </p:sp>
      <p:sp>
        <p:nvSpPr>
          <p:cNvPr id="3" name="Notes Placeholder 2"/>
          <p:cNvSpPr>
            <a:spLocks noGrp="1"/>
          </p:cNvSpPr>
          <p:nvPr>
            <p:ph type="body" idx="1"/>
          </p:nvPr>
        </p:nvSpPr>
        <p:spPr/>
        <p:txBody>
          <a:bodyPr/>
          <a:lstStyle/>
          <a:p>
            <a:r>
              <a:rPr lang="en-US"/>
              <a:t>Target time: 2:30</a:t>
            </a:r>
          </a:p>
          <a:p>
            <a:endParaRPr lang="en-US"/>
          </a:p>
          <a:p>
            <a:r>
              <a:rPr lang="en-US"/>
              <a:t>This slide is really about leadership without formal authority. I was not leading from the C-suite, but I still had to align senior executives, the consultant, pricing, operations, IT, and site-level subject matter expertise around one coherent response.</a:t>
            </a:r>
          </a:p>
          <a:p>
            <a:endParaRPr lang="en-US"/>
          </a:p>
          <a:p>
            <a:r>
              <a:rPr lang="en-US"/>
              <a:t>To do that, I adapted my communication style to the people involved. I assigned work verbally during live calls because that was the fastest and most effective way to get engagement from senior stakeholders who were not proposal specialists. I then translated those decisions into structure through meeting summaries, action tracking, and a compliance matrix so the work remained visible and controlled.</a:t>
            </a:r>
          </a:p>
          <a:p>
            <a:endParaRPr lang="en-US"/>
          </a:p>
          <a:p>
            <a:r>
              <a:rPr lang="en-US"/>
              <a:t>When written input was vague, incomplete, or overly generic, I did not allow the process to stall. I moved people into short calls, interviewed them directly, and translated what they knew into usable proposal language. That was especially important with operational stakeholders whose expertise was strong, but whose input did not naturally arrive in proposal-ready form.</a:t>
            </a:r>
          </a:p>
          <a:p>
            <a:endParaRPr lang="en-US"/>
          </a:p>
          <a:p>
            <a:r>
              <a:rPr lang="en-US"/>
              <a:t>One example of that was the pricing and staffing coordination that Ann Couzins directly observed. I often had to bridge the gap between what pricing needed, what leadership meant, and what the proposal narrative needed to say. By doing that in real time, I kept pricing assumptions, staffing rationale, and written messaging aligned. In practice, that communication discipline was one of the reasons the bid kept moving.</a:t>
            </a:r>
            <a:endParaRPr lang="en-US" dirty="0"/>
          </a:p>
        </p:txBody>
      </p:sp>
      <p:sp>
        <p:nvSpPr>
          <p:cNvPr id="4" name="Slide Number Placeholder 3"/>
          <p:cNvSpPr>
            <a:spLocks noGrp="1"/>
          </p:cNvSpPr>
          <p:nvPr>
            <p:ph type="sldNum" sz="quarter" idx="10"/>
          </p:nvPr>
        </p:nvSpPr>
        <p:spPr/>
        <p:txBody>
          <a:bodyPr/>
          <a:lstStyle/>
          <a:p>
            <a:fld id="{73D7BC01-7314-46EA-BB64-D53C8F299A18}" type="slidenum">
              <a:rPr lang="en-GB" smtClean="0"/>
              <a:pPr/>
              <a:t>4</a:t>
            </a:fld>
            <a:endParaRPr lang="en-GB" dirty="0"/>
          </a:p>
        </p:txBody>
      </p:sp>
    </p:spTree>
    <p:extLst>
      <p:ext uri="{BB962C8B-B14F-4D97-AF65-F5344CB8AC3E}">
        <p14:creationId xmlns:p14="http://schemas.microsoft.com/office/powerpoint/2010/main" val="30360813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time: 2:15</a:t>
            </a:r>
          </a:p>
          <a:p>
            <a:endParaRPr lang="en-US"/>
          </a:p>
          <a:p>
            <a:r>
              <a:rPr lang="en-US"/>
              <a:t>I stabilized the pursuit through five main tasks. The first was to establish bid governance and the schedule. The second was to develop evaluator and win-theme strategy. The third was to elicit and structure subject matter expert input. The fourth was to draft and quality-control both the proposal and the finalist presentation content. The fifth was to lead review and submission readiness.</a:t>
            </a:r>
          </a:p>
          <a:p>
            <a:endParaRPr lang="en-US"/>
          </a:p>
          <a:p>
            <a:r>
              <a:rPr lang="en-US"/>
              <a:t>I think it is important to show the work in this way because it makes clear that this was not just a scramble that happened to succeed. It became manageable because I translated a chaotic situation into a small number of consistent leadership responsibilities.</a:t>
            </a:r>
          </a:p>
          <a:p>
            <a:endParaRPr lang="en-US"/>
          </a:p>
          <a:p>
            <a:r>
              <a:rPr lang="en-US"/>
              <a:t>Each task served a specific purpose. Governance replaced missing capture structure. Evaluator strategy kept the response focused on the customer rather than on internal opinion. SME elicitation turned operational knowledge into evidence. Drafting and quality control kept the written proposal and later presentation materials aligned. Review and submission readiness made sure the bid could still move forward even if something went wrong at the end.</a:t>
            </a:r>
          </a:p>
          <a:p>
            <a:endParaRPr lang="en-US"/>
          </a:p>
          <a:p>
            <a:r>
              <a:rPr lang="en-US"/>
              <a:t>The next slide shows how those tasks played out across the actual timeline of the pursuit.</a:t>
            </a:r>
          </a:p>
        </p:txBody>
      </p:sp>
      <p:sp>
        <p:nvSpPr>
          <p:cNvPr id="4" name="Slide Number Placeholder 3"/>
          <p:cNvSpPr>
            <a:spLocks noGrp="1"/>
          </p:cNvSpPr>
          <p:nvPr>
            <p:ph type="sldNum" sz="quarter" idx="5"/>
          </p:nvPr>
        </p:nvSpPr>
        <p:spPr/>
        <p:txBody>
          <a:bodyPr/>
          <a:lstStyle/>
          <a:p>
            <a:fld id="{73D7BC01-7314-46EA-BB64-D53C8F299A18}" type="slidenum">
              <a:rPr lang="en-GB" smtClean="0"/>
              <a:pPr/>
              <a:t>5</a:t>
            </a:fld>
            <a:endParaRPr lang="en-GB"/>
          </a:p>
        </p:txBody>
      </p:sp>
    </p:spTree>
    <p:extLst>
      <p:ext uri="{BB962C8B-B14F-4D97-AF65-F5344CB8AC3E}">
        <p14:creationId xmlns:p14="http://schemas.microsoft.com/office/powerpoint/2010/main" val="3329519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 time: 3:15</a:t>
            </a:r>
          </a:p>
          <a:p>
            <a:endParaRPr lang="en-US"/>
          </a:p>
          <a:p>
            <a:r>
              <a:rPr lang="en-US"/>
              <a:t>I have simplified the activities into five checkpoints because that is the clearest way to show how the bid actually moved.</a:t>
            </a:r>
          </a:p>
          <a:p>
            <a:endParaRPr lang="en-US"/>
          </a:p>
          <a:p>
            <a:r>
              <a:rPr lang="en-US"/>
              <a:t>The first checkpoint was plan. As soon as the RFP arrived, I used my Power Automate workflow to generate an initial schedule tied to review milestones. That let me produce a project plan quickly and establish cadence immediately rather than losing time to manual planning.</a:t>
            </a:r>
          </a:p>
          <a:p>
            <a:endParaRPr lang="en-US"/>
          </a:p>
          <a:p>
            <a:r>
              <a:rPr lang="en-US"/>
              <a:t>The second checkpoint was align. Early in the bid, I built the compliance matrix, researched the evaluation board, and entered kickoff already focused on the customer and the evaluators rather than letting the response become purely internally driven. That gave the team a shared frame for how we would position the bid.</a:t>
            </a:r>
          </a:p>
          <a:p>
            <a:endParaRPr lang="en-US"/>
          </a:p>
          <a:p>
            <a:r>
              <a:rPr lang="en-US"/>
              <a:t>The third checkpoint was build. This is where the drafting, consultant integration, and quality control accelerated. I used AI and automation to speed compliance extraction, transcript-based drafting, and early content assembly, but I remained responsible for the judgment, the message control, and the quality. I also used read-aloud quality checks in Word and recurring working sessions to keep the proposal coherent.</a:t>
            </a:r>
          </a:p>
          <a:p>
            <a:endParaRPr lang="en-US"/>
          </a:p>
          <a:p>
            <a:r>
              <a:rPr lang="en-US"/>
              <a:t>The fourth checkpoint was submit. I aligned executives for review, packaged the final files, and organized the SharePoint structure so the bid could still be submitted cleanly even if I became unavailable. That mattered because I did in fact become sick at the end of the cycle, and the structure I put in place allowed the handoff to work.</a:t>
            </a:r>
          </a:p>
          <a:p>
            <a:endParaRPr lang="en-US"/>
          </a:p>
          <a:p>
            <a:r>
              <a:rPr lang="en-US"/>
              <a:t>The fifth checkpoint was present. After submission, I carried the written narrative through into the finalist rounds by preparing slide messaging, speaker notes, likely questions, and response guidance. So the overall point of this slide is that recurring governance made a very short public-sector timeline executable.</a:t>
            </a:r>
          </a:p>
        </p:txBody>
      </p:sp>
      <p:sp>
        <p:nvSpPr>
          <p:cNvPr id="4" name="Slide Number Placeholder 3"/>
          <p:cNvSpPr>
            <a:spLocks noGrp="1"/>
          </p:cNvSpPr>
          <p:nvPr>
            <p:ph type="sldNum" sz="quarter" idx="5"/>
          </p:nvPr>
        </p:nvSpPr>
        <p:spPr/>
        <p:txBody>
          <a:bodyPr/>
          <a:lstStyle/>
          <a:p>
            <a:fld id="{73D7BC01-7314-46EA-BB64-D53C8F299A18}" type="slidenum">
              <a:rPr lang="en-GB" smtClean="0"/>
              <a:pPr/>
              <a:t>6</a:t>
            </a:fld>
            <a:endParaRPr lang="en-GB"/>
          </a:p>
        </p:txBody>
      </p:sp>
    </p:spTree>
    <p:extLst>
      <p:ext uri="{BB962C8B-B14F-4D97-AF65-F5344CB8AC3E}">
        <p14:creationId xmlns:p14="http://schemas.microsoft.com/office/powerpoint/2010/main" val="3758915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647700"/>
            <a:ext cx="5753100" cy="3236913"/>
          </a:xfrm>
        </p:spPr>
        <p:txBody>
          <a:bodyPr/>
          <a:lstStyle/>
          <a:p>
            <a:endParaRPr lang="en-US"/>
          </a:p>
        </p:txBody>
      </p:sp>
      <p:sp>
        <p:nvSpPr>
          <p:cNvPr id="3" name="Notes Placeholder 2"/>
          <p:cNvSpPr>
            <a:spLocks noGrp="1"/>
          </p:cNvSpPr>
          <p:nvPr>
            <p:ph type="body" idx="1"/>
          </p:nvPr>
        </p:nvSpPr>
        <p:spPr/>
        <p:txBody>
          <a:bodyPr/>
          <a:lstStyle/>
          <a:p>
            <a:r>
              <a:rPr lang="en-US"/>
              <a:t>Target time: 3:30</a:t>
            </a:r>
          </a:p>
          <a:p>
            <a:endParaRPr lang="en-US"/>
          </a:p>
          <a:p>
            <a:r>
              <a:rPr lang="en-US"/>
              <a:t>I want to be careful here and stay within claims I can defend. I do not know the final award result, so I am not presenting impact in terms of a win claim. Instead, I am measuring the outcome through finalist progression, reuse, speed, and review effort.</a:t>
            </a:r>
          </a:p>
          <a:p>
            <a:endParaRPr lang="en-US"/>
          </a:p>
          <a:p>
            <a:r>
              <a:rPr lang="en-US"/>
              <a:t>First, the pursuit reached 2 finalist presentations. Given the starting point, that was a meaningful result because there was no assured advancement when the bid began.</a:t>
            </a:r>
          </a:p>
          <a:p>
            <a:endParaRPr lang="en-US"/>
          </a:p>
          <a:p>
            <a:r>
              <a:rPr lang="en-US"/>
              <a:t>Second, the Detroit work became a reusable base for later RNA school bids. About 12 later bids reused the assets that came out of this pursuit, and about 6 of those were active at one time in the immediate aftermath. That meant the Detroit effort did not end as a one-time response. It became the foundation for subsequent production.</a:t>
            </a:r>
          </a:p>
          <a:p>
            <a:endParaRPr lang="en-US"/>
          </a:p>
          <a:p>
            <a:r>
              <a:rPr lang="en-US"/>
              <a:t>Third, the time to reach an approximately 80 percent first compliant draft changed dramatically on later similar bids. Before Detroit, that work could take about 4 hours. After Detroit, when the bid pattern matched what we had already built, I could get to that draft state in about 5 minutes before tailoring.</a:t>
            </a:r>
          </a:p>
          <a:p>
            <a:endParaRPr lang="en-US"/>
          </a:p>
          <a:p>
            <a:r>
              <a:rPr lang="en-US"/>
              <a:t>Fourth, the executive review burden became lighter. Later bids usually needed only one executive review focused on pricing or solution differences, rather than repeated review of unfamiliar writing and structure. In other words, leadership became more comfortable because the messaging and format had become more standardized and more trusted.</a:t>
            </a:r>
          </a:p>
          <a:p>
            <a:endParaRPr lang="en-US"/>
          </a:p>
          <a:p>
            <a:r>
              <a:rPr lang="en-US"/>
              <a:t>So the strongest before-and-after statement I can make is this: before Detroit, RNA's school-bid process was ad hoc, low-trust, and review-heavy. After Detroit, it was more standardized, faster to launch, easier to review, and strong enough to support repeated reuse.</a:t>
            </a:r>
            <a:endParaRPr lang="en-US" dirty="0"/>
          </a:p>
        </p:txBody>
      </p:sp>
      <p:sp>
        <p:nvSpPr>
          <p:cNvPr id="4" name="Slide Number Placeholder 3"/>
          <p:cNvSpPr>
            <a:spLocks noGrp="1"/>
          </p:cNvSpPr>
          <p:nvPr>
            <p:ph type="sldNum" sz="quarter" idx="10"/>
          </p:nvPr>
        </p:nvSpPr>
        <p:spPr/>
        <p:txBody>
          <a:bodyPr/>
          <a:lstStyle/>
          <a:p>
            <a:fld id="{73D7BC01-7314-46EA-BB64-D53C8F299A18}" type="slidenum">
              <a:rPr lang="en-GB" smtClean="0"/>
              <a:pPr/>
              <a:t>7</a:t>
            </a:fld>
            <a:endParaRPr lang="en-GB" dirty="0"/>
          </a:p>
        </p:txBody>
      </p:sp>
    </p:spTree>
    <p:extLst>
      <p:ext uri="{BB962C8B-B14F-4D97-AF65-F5344CB8AC3E}">
        <p14:creationId xmlns:p14="http://schemas.microsoft.com/office/powerpoint/2010/main" val="6659636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647700"/>
            <a:ext cx="5753100" cy="3236913"/>
          </a:xfrm>
        </p:spPr>
        <p:txBody>
          <a:bodyPr/>
          <a:lstStyle/>
          <a:p>
            <a:endParaRPr lang="en-US"/>
          </a:p>
        </p:txBody>
      </p:sp>
      <p:sp>
        <p:nvSpPr>
          <p:cNvPr id="3" name="Notes Placeholder 2"/>
          <p:cNvSpPr>
            <a:spLocks noGrp="1"/>
          </p:cNvSpPr>
          <p:nvPr>
            <p:ph type="body" idx="1"/>
          </p:nvPr>
        </p:nvSpPr>
        <p:spPr/>
        <p:txBody>
          <a:bodyPr/>
          <a:lstStyle/>
          <a:p>
            <a:r>
              <a:rPr lang="en-US"/>
              <a:t>Target time: 2:00</a:t>
            </a:r>
          </a:p>
          <a:p>
            <a:endParaRPr lang="en-US"/>
          </a:p>
          <a:p>
            <a:r>
              <a:rPr lang="en-US"/>
              <a:t>My CPD plan is intentionally tied to the same themes as this impact story. I want to deepen my ability to work further upstream in capture, build stronger operating systems for proposal delivery, and contribute more visibly to the profession.</a:t>
            </a:r>
          </a:p>
          <a:p>
            <a:endParaRPr lang="en-US"/>
          </a:p>
          <a:p>
            <a:r>
              <a:rPr lang="en-US"/>
              <a:t>Over the next 24 months, I plan to deepen my government capture capability, complete and test my internally developed capture-to-proposal application, formalize a more AI-enabled consulting delivery model, become more active in the APMP National Capital Area chapter, and complete the APMP AI Micro-Certification.</a:t>
            </a:r>
          </a:p>
          <a:p>
            <a:endParaRPr lang="en-US"/>
          </a:p>
          <a:p>
            <a:r>
              <a:rPr lang="en-US"/>
              <a:t>I do not view those as separate activities. Together, they reflect how I want to grow as a proposal leader. I want to be stronger at identifying opportunity earlier, stronger at creating repeatable systems around the work, and stronger at sharing what I learn in ways that are useful to other practitioners.</a:t>
            </a:r>
            <a:endParaRPr lang="en-US" dirty="0"/>
          </a:p>
        </p:txBody>
      </p:sp>
      <p:sp>
        <p:nvSpPr>
          <p:cNvPr id="4" name="Slide Number Placeholder 3"/>
          <p:cNvSpPr>
            <a:spLocks noGrp="1"/>
          </p:cNvSpPr>
          <p:nvPr>
            <p:ph type="sldNum" sz="quarter" idx="10"/>
          </p:nvPr>
        </p:nvSpPr>
        <p:spPr/>
        <p:txBody>
          <a:bodyPr/>
          <a:lstStyle/>
          <a:p>
            <a:fld id="{73D7BC01-7314-46EA-BB64-D53C8F299A18}" type="slidenum">
              <a:rPr lang="en-GB" smtClean="0"/>
              <a:pPr/>
              <a:t>8</a:t>
            </a:fld>
            <a:endParaRPr lang="en-GB" dirty="0"/>
          </a:p>
        </p:txBody>
      </p:sp>
    </p:spTree>
    <p:extLst>
      <p:ext uri="{BB962C8B-B14F-4D97-AF65-F5344CB8AC3E}">
        <p14:creationId xmlns:p14="http://schemas.microsoft.com/office/powerpoint/2010/main" val="6659636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647700"/>
            <a:ext cx="5753100" cy="3236913"/>
          </a:xfrm>
        </p:spPr>
        <p:txBody>
          <a:bodyPr/>
          <a:lstStyle/>
          <a:p>
            <a:endParaRPr lang="en-US"/>
          </a:p>
        </p:txBody>
      </p:sp>
      <p:sp>
        <p:nvSpPr>
          <p:cNvPr id="3" name="Notes Placeholder 2"/>
          <p:cNvSpPr>
            <a:spLocks noGrp="1"/>
          </p:cNvSpPr>
          <p:nvPr>
            <p:ph type="body" idx="1"/>
          </p:nvPr>
        </p:nvSpPr>
        <p:spPr/>
        <p:txBody>
          <a:bodyPr/>
          <a:lstStyle/>
          <a:p>
            <a:r>
              <a:rPr lang="en-US"/>
              <a:t>Target time: 1:30</a:t>
            </a:r>
          </a:p>
          <a:p>
            <a:endParaRPr lang="en-US"/>
          </a:p>
          <a:p>
            <a:r>
              <a:rPr lang="en-US"/>
              <a:t>The closing point is that I want my development to work the same way this impact story worked. I do not want learning to stay personal or theoretical. I want it to become reusable capability.</a:t>
            </a:r>
          </a:p>
          <a:p>
            <a:endParaRPr lang="en-US"/>
          </a:p>
          <a:p>
            <a:r>
              <a:rPr lang="en-US"/>
              <a:t>Capture learning will allow me to support clients further upstream. AI and workflow learning will become practical delivery capability in my consulting work. Chapter participation, thought leadership, and conference speaking will help me turn those lessons outward so other proposal professionals can apply them in their own environments.</a:t>
            </a:r>
          </a:p>
          <a:p>
            <a:endParaRPr lang="en-US"/>
          </a:p>
          <a:p>
            <a:r>
              <a:rPr lang="en-US"/>
              <a:t>So the same principle connects both halves of this presentation. In the Detroit case, I helped turn one pressured pursuit into a stronger system for later work. In my CPD plan, I am trying to do the same thing with my own development by turning learning into repeatable value for clients and for the profession.</a:t>
            </a:r>
            <a:endParaRPr lang="en-US" dirty="0"/>
          </a:p>
        </p:txBody>
      </p:sp>
      <p:sp>
        <p:nvSpPr>
          <p:cNvPr id="4" name="Slide Number Placeholder 3"/>
          <p:cNvSpPr>
            <a:spLocks noGrp="1"/>
          </p:cNvSpPr>
          <p:nvPr>
            <p:ph type="sldNum" sz="quarter" idx="10"/>
          </p:nvPr>
        </p:nvSpPr>
        <p:spPr/>
        <p:txBody>
          <a:bodyPr/>
          <a:lstStyle/>
          <a:p>
            <a:fld id="{73D7BC01-7314-46EA-BB64-D53C8F299A18}" type="slidenum">
              <a:rPr lang="en-GB" smtClean="0"/>
              <a:pPr/>
              <a:t>9</a:t>
            </a:fld>
            <a:endParaRPr lang="en-GB" dirty="0"/>
          </a:p>
        </p:txBody>
      </p:sp>
    </p:spTree>
    <p:extLst>
      <p:ext uri="{BB962C8B-B14F-4D97-AF65-F5344CB8AC3E}">
        <p14:creationId xmlns:p14="http://schemas.microsoft.com/office/powerpoint/2010/main" val="6659636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jpg"/><Relationship Id="rId1" Type="http://schemas.openxmlformats.org/officeDocument/2006/relationships/slideMaster" Target="../slideMasters/slideMaster1.xml"/><Relationship Id="rId6" Type="http://schemas.openxmlformats.org/officeDocument/2006/relationships/image" Target="../media/image15.emf"/><Relationship Id="rId5" Type="http://schemas.openxmlformats.org/officeDocument/2006/relationships/image" Target="../media/image14.emf"/><Relationship Id="rId4" Type="http://schemas.openxmlformats.org/officeDocument/2006/relationships/image" Target="../media/image13.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jpg"/><Relationship Id="rId1" Type="http://schemas.openxmlformats.org/officeDocument/2006/relationships/slideMaster" Target="../slideMasters/slideMaster1.xml"/><Relationship Id="rId6" Type="http://schemas.openxmlformats.org/officeDocument/2006/relationships/image" Target="../media/image15.emf"/><Relationship Id="rId5" Type="http://schemas.openxmlformats.org/officeDocument/2006/relationships/image" Target="../media/image14.emf"/><Relationship Id="rId4" Type="http://schemas.openxmlformats.org/officeDocument/2006/relationships/image" Target="../media/image13.emf"/></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image" Target="../media/image16.png"/><Relationship Id="rId7" Type="http://schemas.openxmlformats.org/officeDocument/2006/relationships/image" Target="../media/image14.emf"/><Relationship Id="rId2" Type="http://schemas.openxmlformats.org/officeDocument/2006/relationships/image" Target="../media/image11.jpg"/><Relationship Id="rId1" Type="http://schemas.openxmlformats.org/officeDocument/2006/relationships/slideMaster" Target="../slideMasters/slideMaster1.xml"/><Relationship Id="rId6" Type="http://schemas.openxmlformats.org/officeDocument/2006/relationships/image" Target="../media/image13.emf"/><Relationship Id="rId5" Type="http://schemas.openxmlformats.org/officeDocument/2006/relationships/image" Target="../media/image12.emf"/><Relationship Id="rId4" Type="http://schemas.openxmlformats.org/officeDocument/2006/relationships/image" Target="../media/image17.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9505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7700" y="197768"/>
            <a:ext cx="10972800" cy="1143000"/>
          </a:xfrm>
          <a:prstGeom prst="rect">
            <a:avLst/>
          </a:prstGeom>
          <a:noFill/>
          <a:ln w="9525">
            <a:noFill/>
            <a:miter lim="800000"/>
            <a:headEnd/>
            <a:tailEnd/>
          </a:ln>
        </p:spPr>
        <p:txBody>
          <a:bodyPr/>
          <a:lstStyle>
            <a:lvl1pPr algn="l" rtl="0" eaLnBrk="0" fontAlgn="base" hangingPunct="0">
              <a:lnSpc>
                <a:spcPct val="145000"/>
              </a:lnSpc>
              <a:spcBef>
                <a:spcPct val="0"/>
              </a:spcBef>
              <a:spcAft>
                <a:spcPct val="0"/>
              </a:spcAft>
              <a:buFont typeface="Wingdings" pitchFamily="2" charset="2"/>
              <a:buNone/>
              <a:defRPr lang="en-GB" sz="4000" b="0" i="0" kern="1200" spc="-150" baseline="0">
                <a:solidFill>
                  <a:schemeClr val="bg1"/>
                </a:solidFill>
                <a:effectLst/>
                <a:latin typeface="Calibri"/>
                <a:ea typeface="+mn-ea"/>
                <a:cs typeface="Calibri"/>
              </a:defRPr>
            </a:lvl1pPr>
          </a:lstStyle>
          <a:p>
            <a:r>
              <a:rPr lang="en-US" dirty="0"/>
              <a:t>Click to edit Master title style</a:t>
            </a:r>
            <a:endParaRPr lang="en-GB" dirty="0"/>
          </a:p>
        </p:txBody>
      </p:sp>
      <p:sp>
        <p:nvSpPr>
          <p:cNvPr id="3" name="Rectangle 2"/>
          <p:cNvSpPr/>
          <p:nvPr userDrawn="1"/>
        </p:nvSpPr>
        <p:spPr>
          <a:xfrm>
            <a:off x="9984432" y="1382579"/>
            <a:ext cx="1728192" cy="246221"/>
          </a:xfrm>
          <a:prstGeom prst="rect">
            <a:avLst/>
          </a:prstGeom>
        </p:spPr>
        <p:txBody>
          <a:bodyPr wrap="square">
            <a:spAutoFit/>
          </a:bodyPr>
          <a:lstStyle/>
          <a:p>
            <a:pPr algn="r"/>
            <a:r>
              <a:rPr lang="en-US" sz="1000" dirty="0">
                <a:solidFill>
                  <a:srgbClr val="A6A6A6"/>
                </a:solidFill>
                <a:latin typeface="Calibri"/>
                <a:cs typeface="Calibri"/>
              </a:rPr>
              <a:t>© 2019  |  page </a:t>
            </a:r>
            <a:fld id="{5DA86651-081E-48B6-9AC7-28ABBC94FCAF}" type="slidenum">
              <a:rPr lang="en-US" sz="1000" smtClean="0">
                <a:solidFill>
                  <a:srgbClr val="A6A6A6"/>
                </a:solidFill>
                <a:latin typeface="Calibri"/>
                <a:cs typeface="Calibri"/>
              </a:rPr>
              <a:pPr algn="r"/>
              <a:t>‹#›</a:t>
            </a:fld>
            <a:r>
              <a:rPr lang="en-US" sz="1000" dirty="0">
                <a:solidFill>
                  <a:srgbClr val="A6A6A6"/>
                </a:solidFill>
                <a:latin typeface="Calibri"/>
                <a:cs typeface="Calibri"/>
              </a:rPr>
              <a:t> </a:t>
            </a:r>
          </a:p>
        </p:txBody>
      </p:sp>
      <p:pic>
        <p:nvPicPr>
          <p:cNvPr id="5" name="Picture 4" descr="slide_2_left light gray swooshes.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392"/>
            <a:ext cx="4578350" cy="6858000"/>
          </a:xfrm>
          <a:prstGeom prst="rect">
            <a:avLst/>
          </a:prstGeom>
        </p:spPr>
      </p:pic>
      <p:pic>
        <p:nvPicPr>
          <p:cNvPr id="6" name="Picture 5" descr="slide_2_right light gray swooshes.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343084" y="2579846"/>
            <a:ext cx="6848916" cy="4283756"/>
          </a:xfrm>
          <a:prstGeom prst="rect">
            <a:avLst/>
          </a:prstGeom>
        </p:spPr>
      </p:pic>
      <p:pic>
        <p:nvPicPr>
          <p:cNvPr id="7" name="Picture 6" descr="slide_2_URL.png"/>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300194" y="6348052"/>
            <a:ext cx="1314450" cy="120650"/>
          </a:xfrm>
          <a:prstGeom prst="rect">
            <a:avLst/>
          </a:prstGeom>
        </p:spPr>
      </p:pic>
      <p:pic>
        <p:nvPicPr>
          <p:cNvPr id="9" name="Picture 8" descr="slide_2_header.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2375"/>
            <a:ext cx="12192000" cy="1352550"/>
          </a:xfrm>
          <a:prstGeom prst="rect">
            <a:avLst/>
          </a:prstGeom>
        </p:spPr>
      </p:pic>
      <p:pic>
        <p:nvPicPr>
          <p:cNvPr id="8" name="Picture 7" descr="slide_2_logo.png"/>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0247491" y="340045"/>
            <a:ext cx="1358900" cy="698500"/>
          </a:xfrm>
          <a:prstGeom prst="rect">
            <a:avLst/>
          </a:prstGeom>
        </p:spPr>
      </p:pic>
      <p:sp>
        <p:nvSpPr>
          <p:cNvPr id="4" name="Content Placeholder 3"/>
          <p:cNvSpPr>
            <a:spLocks noGrp="1"/>
          </p:cNvSpPr>
          <p:nvPr>
            <p:ph sz="half" idx="2"/>
          </p:nvPr>
        </p:nvSpPr>
        <p:spPr>
          <a:xfrm>
            <a:off x="623392" y="1974319"/>
            <a:ext cx="10959008" cy="2246769"/>
          </a:xfrm>
          <a:prstGeom prst="rect">
            <a:avLst/>
          </a:prstGeom>
        </p:spPr>
        <p:txBody>
          <a:bodyPr/>
          <a:lstStyle>
            <a:lvl1pPr marL="342900" indent="-342900">
              <a:lnSpc>
                <a:spcPct val="100000"/>
              </a:lnSpc>
              <a:spcBef>
                <a:spcPts val="600"/>
              </a:spcBef>
              <a:spcAft>
                <a:spcPts val="600"/>
              </a:spcAft>
              <a:buClr>
                <a:srgbClr val="2C3A91"/>
              </a:buClr>
              <a:buFont typeface="Wingdings" panose="05000000000000000000" pitchFamily="2" charset="2"/>
              <a:buChar char="§"/>
              <a:defRPr sz="2800">
                <a:solidFill>
                  <a:srgbClr val="2C3A91"/>
                </a:solidFill>
                <a:latin typeface="Calibri"/>
                <a:cs typeface="Calibri"/>
              </a:defRPr>
            </a:lvl1pPr>
            <a:lvl2pPr marL="742950" indent="-285750">
              <a:lnSpc>
                <a:spcPct val="100000"/>
              </a:lnSpc>
              <a:spcBef>
                <a:spcPts val="600"/>
              </a:spcBef>
              <a:spcAft>
                <a:spcPts val="600"/>
              </a:spcAft>
              <a:buClr>
                <a:srgbClr val="2C3A91"/>
              </a:buClr>
              <a:buFont typeface="Wingdings" panose="05000000000000000000" pitchFamily="2" charset="2"/>
              <a:buChar char="§"/>
              <a:defRPr sz="2000">
                <a:solidFill>
                  <a:srgbClr val="2C3A91"/>
                </a:solidFill>
                <a:latin typeface="Calibri"/>
                <a:cs typeface="Calibri"/>
              </a:defRPr>
            </a:lvl2pPr>
            <a:lvl3pPr marL="1143000" indent="-228600">
              <a:lnSpc>
                <a:spcPct val="100000"/>
              </a:lnSpc>
              <a:spcBef>
                <a:spcPts val="600"/>
              </a:spcBef>
              <a:spcAft>
                <a:spcPts val="600"/>
              </a:spcAft>
              <a:buClr>
                <a:srgbClr val="2C3A91"/>
              </a:buClr>
              <a:buFont typeface="Wingdings" panose="05000000000000000000" pitchFamily="2" charset="2"/>
              <a:buChar char="§"/>
              <a:defRPr sz="1800">
                <a:solidFill>
                  <a:srgbClr val="2C3A91"/>
                </a:solidFill>
                <a:latin typeface="Calibri"/>
                <a:cs typeface="Calibri"/>
              </a:defRPr>
            </a:lvl3pPr>
            <a:lvl4pPr marL="1600200" indent="-228600">
              <a:lnSpc>
                <a:spcPct val="100000"/>
              </a:lnSpc>
              <a:spcBef>
                <a:spcPts val="600"/>
              </a:spcBef>
              <a:spcAft>
                <a:spcPts val="600"/>
              </a:spcAft>
              <a:buClr>
                <a:srgbClr val="2C3A91"/>
              </a:buClr>
              <a:buFont typeface="Wingdings" panose="05000000000000000000" pitchFamily="2" charset="2"/>
              <a:buChar char="§"/>
              <a:defRPr sz="1600">
                <a:solidFill>
                  <a:srgbClr val="2C3A91"/>
                </a:solidFill>
                <a:latin typeface="Calibri"/>
                <a:cs typeface="Calibri"/>
              </a:defRPr>
            </a:lvl4pPr>
            <a:lvl5pPr marL="2057400" indent="-228600">
              <a:lnSpc>
                <a:spcPct val="100000"/>
              </a:lnSpc>
              <a:spcBef>
                <a:spcPts val="600"/>
              </a:spcBef>
              <a:spcAft>
                <a:spcPts val="600"/>
              </a:spcAft>
              <a:buClr>
                <a:srgbClr val="2C3A91"/>
              </a:buClr>
              <a:buFont typeface="Wingdings" panose="05000000000000000000" pitchFamily="2" charset="2"/>
              <a:buChar char="§"/>
              <a:defRPr sz="1600">
                <a:solidFill>
                  <a:srgbClr val="2C3A91"/>
                </a:solidFill>
                <a:latin typeface="Calibri"/>
                <a:cs typeface="Calibri"/>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0" name="Picture 9" descr="slide_1_ribbons.png"/>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6762750"/>
            <a:ext cx="12192000" cy="95250"/>
          </a:xfrm>
          <a:prstGeom prst="rect">
            <a:avLst/>
          </a:prstGeom>
        </p:spPr>
      </p:pic>
    </p:spTree>
    <p:extLst>
      <p:ext uri="{BB962C8B-B14F-4D97-AF65-F5344CB8AC3E}">
        <p14:creationId xmlns:p14="http://schemas.microsoft.com/office/powerpoint/2010/main" val="2026090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par>
                          <p:cTn id="14" fill="hold">
                            <p:stCondLst>
                              <p:cond delay="500"/>
                            </p:stCondLst>
                            <p:childTnLst>
                              <p:par>
                                <p:cTn id="15" presetID="10" presetClass="entr" presetSubtype="0"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42" presetClass="entr" presetSubtype="0"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anim calcmode="lin" valueType="num">
                                      <p:cBhvr>
                                        <p:cTn id="21" dur="500" fill="hold"/>
                                        <p:tgtEl>
                                          <p:spTgt spid="10"/>
                                        </p:tgtEl>
                                        <p:attrNameLst>
                                          <p:attrName>ppt_x</p:attrName>
                                        </p:attrNameLst>
                                      </p:cBhvr>
                                      <p:tavLst>
                                        <p:tav tm="0">
                                          <p:val>
                                            <p:strVal val="#ppt_x"/>
                                          </p:val>
                                        </p:tav>
                                        <p:tav tm="100000">
                                          <p:val>
                                            <p:strVal val="#ppt_x"/>
                                          </p:val>
                                        </p:tav>
                                      </p:tavLst>
                                    </p:anim>
                                    <p:anim calcmode="lin" valueType="num">
                                      <p:cBhvr>
                                        <p:cTn id="22" dur="500" fill="hold"/>
                                        <p:tgtEl>
                                          <p:spTgt spid="10"/>
                                        </p:tgtEl>
                                        <p:attrNameLst>
                                          <p:attrName>ppt_y</p:attrName>
                                        </p:attrNameLst>
                                      </p:cBhvr>
                                      <p:tavLst>
                                        <p:tav tm="0">
                                          <p:val>
                                            <p:strVal val="#ppt_y+.1"/>
                                          </p:val>
                                        </p:tav>
                                        <p:tav tm="100000">
                                          <p:val>
                                            <p:strVal val="#ppt_y"/>
                                          </p:val>
                                        </p:tav>
                                      </p:tavLst>
                                    </p:anim>
                                  </p:childTnLst>
                                </p:cTn>
                              </p:par>
                            </p:childTnLst>
                          </p:cTn>
                        </p:par>
                        <p:par>
                          <p:cTn id="23" fill="hold">
                            <p:stCondLst>
                              <p:cond delay="1000"/>
                            </p:stCondLst>
                            <p:childTnLst>
                              <p:par>
                                <p:cTn id="24" presetID="42"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anim calcmode="lin" valueType="num">
                                      <p:cBhvr>
                                        <p:cTn id="27" dur="500" fill="hold"/>
                                        <p:tgtEl>
                                          <p:spTgt spid="7"/>
                                        </p:tgtEl>
                                        <p:attrNameLst>
                                          <p:attrName>ppt_x</p:attrName>
                                        </p:attrNameLst>
                                      </p:cBhvr>
                                      <p:tavLst>
                                        <p:tav tm="0">
                                          <p:val>
                                            <p:strVal val="#ppt_x"/>
                                          </p:val>
                                        </p:tav>
                                        <p:tav tm="100000">
                                          <p:val>
                                            <p:strVal val="#ppt_x"/>
                                          </p:val>
                                        </p:tav>
                                      </p:tavLst>
                                    </p:anim>
                                    <p:anim calcmode="lin" valueType="num">
                                      <p:cBhvr>
                                        <p:cTn id="28"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6437D-77E2-8F4E-90F5-B6175E92C6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B39ACD-851E-C446-84A2-D55F38AA0630}"/>
              </a:ext>
            </a:extLst>
          </p:cNvPr>
          <p:cNvSpPr>
            <a:spLocks noGrp="1"/>
          </p:cNvSpPr>
          <p:nvPr>
            <p:ph idx="1"/>
          </p:nvPr>
        </p:nvSpPr>
        <p:spPr>
          <a:xfrm>
            <a:off x="838200" y="1825625"/>
            <a:ext cx="10515600" cy="42264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4">
            <a:extLst>
              <a:ext uri="{FF2B5EF4-FFF2-40B4-BE49-F238E27FC236}">
                <a16:creationId xmlns:a16="http://schemas.microsoft.com/office/drawing/2014/main" id="{BBC62F45-8185-B04B-A82C-4691E95E71A4}"/>
              </a:ext>
            </a:extLst>
          </p:cNvPr>
          <p:cNvSpPr>
            <a:spLocks noGrp="1"/>
          </p:cNvSpPr>
          <p:nvPr>
            <p:ph type="sldNum" sz="quarter" idx="12"/>
          </p:nvPr>
        </p:nvSpPr>
        <p:spPr>
          <a:xfrm>
            <a:off x="285307" y="6311946"/>
            <a:ext cx="766979" cy="365125"/>
          </a:xfrm>
          <a:prstGeom prst="rect">
            <a:avLst/>
          </a:prstGeom>
        </p:spPr>
        <p:txBody>
          <a:bodyPr/>
          <a:lstStyle>
            <a:lvl1pPr>
              <a:defRPr>
                <a:solidFill>
                  <a:srgbClr val="039EDD"/>
                </a:solidFill>
              </a:defRPr>
            </a:lvl1pPr>
          </a:lstStyle>
          <a:p>
            <a:fld id="{B0AF2983-4713-074B-8971-5C1C8A8E14E9}" type="slidenum">
              <a:rPr lang="en-US" smtClean="0"/>
              <a:pPr/>
              <a:t>‹#›</a:t>
            </a:fld>
            <a:endParaRPr lang="en-US" dirty="0"/>
          </a:p>
        </p:txBody>
      </p:sp>
      <p:pic>
        <p:nvPicPr>
          <p:cNvPr id="12" name="Picture 11">
            <a:extLst>
              <a:ext uri="{FF2B5EF4-FFF2-40B4-BE49-F238E27FC236}">
                <a16:creationId xmlns:a16="http://schemas.microsoft.com/office/drawing/2014/main" id="{783BB985-86F3-0140-A42F-23DEAEA7B7CB}"/>
              </a:ext>
            </a:extLst>
          </p:cNvPr>
          <p:cNvPicPr>
            <a:picLocks noChangeAspect="1"/>
          </p:cNvPicPr>
          <p:nvPr userDrawn="1"/>
        </p:nvPicPr>
        <p:blipFill>
          <a:blip r:embed="rId3"/>
          <a:stretch>
            <a:fillRect/>
          </a:stretch>
        </p:blipFill>
        <p:spPr>
          <a:xfrm>
            <a:off x="10880549" y="6331522"/>
            <a:ext cx="730880" cy="377228"/>
          </a:xfrm>
          <a:prstGeom prst="rect">
            <a:avLst/>
          </a:prstGeom>
        </p:spPr>
      </p:pic>
      <p:pic>
        <p:nvPicPr>
          <p:cNvPr id="13" name="Picture 12">
            <a:extLst>
              <a:ext uri="{FF2B5EF4-FFF2-40B4-BE49-F238E27FC236}">
                <a16:creationId xmlns:a16="http://schemas.microsoft.com/office/drawing/2014/main" id="{53BF9B16-6CD3-994A-BF2A-9C301089A76F}"/>
              </a:ext>
            </a:extLst>
          </p:cNvPr>
          <p:cNvPicPr>
            <a:picLocks noChangeAspect="1"/>
          </p:cNvPicPr>
          <p:nvPr userDrawn="1"/>
        </p:nvPicPr>
        <p:blipFill>
          <a:blip r:embed="rId4"/>
          <a:stretch>
            <a:fillRect/>
          </a:stretch>
        </p:blipFill>
        <p:spPr>
          <a:xfrm>
            <a:off x="1406641" y="6261808"/>
            <a:ext cx="1559700" cy="462133"/>
          </a:xfrm>
          <a:prstGeom prst="rect">
            <a:avLst/>
          </a:prstGeom>
        </p:spPr>
      </p:pic>
      <p:pic>
        <p:nvPicPr>
          <p:cNvPr id="15" name="Picture 14">
            <a:extLst>
              <a:ext uri="{FF2B5EF4-FFF2-40B4-BE49-F238E27FC236}">
                <a16:creationId xmlns:a16="http://schemas.microsoft.com/office/drawing/2014/main" id="{F8904265-A6F7-8D42-96B0-DDE7CB0FEDEC}"/>
              </a:ext>
            </a:extLst>
          </p:cNvPr>
          <p:cNvPicPr>
            <a:picLocks noChangeAspect="1"/>
          </p:cNvPicPr>
          <p:nvPr userDrawn="1"/>
        </p:nvPicPr>
        <p:blipFill>
          <a:blip r:embed="rId5"/>
          <a:stretch>
            <a:fillRect/>
          </a:stretch>
        </p:blipFill>
        <p:spPr>
          <a:xfrm>
            <a:off x="3567792" y="6389151"/>
            <a:ext cx="1282700" cy="292100"/>
          </a:xfrm>
          <a:prstGeom prst="rect">
            <a:avLst/>
          </a:prstGeom>
        </p:spPr>
      </p:pic>
      <p:pic>
        <p:nvPicPr>
          <p:cNvPr id="16" name="Picture 15">
            <a:extLst>
              <a:ext uri="{FF2B5EF4-FFF2-40B4-BE49-F238E27FC236}">
                <a16:creationId xmlns:a16="http://schemas.microsoft.com/office/drawing/2014/main" id="{85539BC3-1C89-B44C-90E4-FA46786DB497}"/>
              </a:ext>
            </a:extLst>
          </p:cNvPr>
          <p:cNvPicPr>
            <a:picLocks noChangeAspect="1"/>
          </p:cNvPicPr>
          <p:nvPr userDrawn="1"/>
        </p:nvPicPr>
        <p:blipFill>
          <a:blip r:embed="rId6"/>
          <a:stretch>
            <a:fillRect/>
          </a:stretch>
        </p:blipFill>
        <p:spPr>
          <a:xfrm>
            <a:off x="5155877" y="6408705"/>
            <a:ext cx="672565" cy="257578"/>
          </a:xfrm>
          <a:prstGeom prst="rect">
            <a:avLst/>
          </a:prstGeom>
        </p:spPr>
      </p:pic>
    </p:spTree>
    <p:extLst>
      <p:ext uri="{BB962C8B-B14F-4D97-AF65-F5344CB8AC3E}">
        <p14:creationId xmlns:p14="http://schemas.microsoft.com/office/powerpoint/2010/main" val="318904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689982A-FC28-8844-9E7C-05BB1B6E5B78}"/>
              </a:ext>
            </a:extLst>
          </p:cNvPr>
          <p:cNvSpPr>
            <a:spLocks noGrp="1"/>
          </p:cNvSpPr>
          <p:nvPr>
            <p:ph type="sldNum" sz="quarter" idx="12"/>
          </p:nvPr>
        </p:nvSpPr>
        <p:spPr>
          <a:xfrm>
            <a:off x="285307" y="6311946"/>
            <a:ext cx="766979" cy="365125"/>
          </a:xfrm>
          <a:prstGeom prst="rect">
            <a:avLst/>
          </a:prstGeom>
        </p:spPr>
        <p:txBody>
          <a:bodyPr/>
          <a:lstStyle>
            <a:lvl1pPr>
              <a:defRPr>
                <a:solidFill>
                  <a:srgbClr val="039EDD"/>
                </a:solidFill>
              </a:defRPr>
            </a:lvl1pPr>
          </a:lstStyle>
          <a:p>
            <a:fld id="{B0AF2983-4713-074B-8971-5C1C8A8E14E9}" type="slidenum">
              <a:rPr lang="en-US" smtClean="0"/>
              <a:pPr/>
              <a:t>‹#›</a:t>
            </a:fld>
            <a:endParaRPr lang="en-US" dirty="0"/>
          </a:p>
        </p:txBody>
      </p:sp>
      <p:pic>
        <p:nvPicPr>
          <p:cNvPr id="19" name="Picture 18">
            <a:extLst>
              <a:ext uri="{FF2B5EF4-FFF2-40B4-BE49-F238E27FC236}">
                <a16:creationId xmlns:a16="http://schemas.microsoft.com/office/drawing/2014/main" id="{EB13BBB8-92AF-C44A-88CC-1A77C24E049F}"/>
              </a:ext>
            </a:extLst>
          </p:cNvPr>
          <p:cNvPicPr>
            <a:picLocks noChangeAspect="1"/>
          </p:cNvPicPr>
          <p:nvPr userDrawn="1"/>
        </p:nvPicPr>
        <p:blipFill>
          <a:blip r:embed="rId3"/>
          <a:stretch>
            <a:fillRect/>
          </a:stretch>
        </p:blipFill>
        <p:spPr>
          <a:xfrm>
            <a:off x="10880549" y="6331522"/>
            <a:ext cx="730880" cy="377228"/>
          </a:xfrm>
          <a:prstGeom prst="rect">
            <a:avLst/>
          </a:prstGeom>
        </p:spPr>
      </p:pic>
      <p:pic>
        <p:nvPicPr>
          <p:cNvPr id="20" name="Picture 19">
            <a:extLst>
              <a:ext uri="{FF2B5EF4-FFF2-40B4-BE49-F238E27FC236}">
                <a16:creationId xmlns:a16="http://schemas.microsoft.com/office/drawing/2014/main" id="{387F496C-F28D-B847-9855-BC55EE803399}"/>
              </a:ext>
            </a:extLst>
          </p:cNvPr>
          <p:cNvPicPr>
            <a:picLocks noChangeAspect="1"/>
          </p:cNvPicPr>
          <p:nvPr userDrawn="1"/>
        </p:nvPicPr>
        <p:blipFill>
          <a:blip r:embed="rId4"/>
          <a:stretch>
            <a:fillRect/>
          </a:stretch>
        </p:blipFill>
        <p:spPr>
          <a:xfrm>
            <a:off x="1406641" y="6261808"/>
            <a:ext cx="1559700" cy="462133"/>
          </a:xfrm>
          <a:prstGeom prst="rect">
            <a:avLst/>
          </a:prstGeom>
        </p:spPr>
      </p:pic>
      <p:pic>
        <p:nvPicPr>
          <p:cNvPr id="21" name="Picture 20">
            <a:extLst>
              <a:ext uri="{FF2B5EF4-FFF2-40B4-BE49-F238E27FC236}">
                <a16:creationId xmlns:a16="http://schemas.microsoft.com/office/drawing/2014/main" id="{6850D558-D0CF-2142-B42D-2AE48A15B9D6}"/>
              </a:ext>
            </a:extLst>
          </p:cNvPr>
          <p:cNvPicPr>
            <a:picLocks noChangeAspect="1"/>
          </p:cNvPicPr>
          <p:nvPr userDrawn="1"/>
        </p:nvPicPr>
        <p:blipFill>
          <a:blip r:embed="rId5"/>
          <a:stretch>
            <a:fillRect/>
          </a:stretch>
        </p:blipFill>
        <p:spPr>
          <a:xfrm>
            <a:off x="3567792" y="6389151"/>
            <a:ext cx="1282700" cy="292100"/>
          </a:xfrm>
          <a:prstGeom prst="rect">
            <a:avLst/>
          </a:prstGeom>
        </p:spPr>
      </p:pic>
      <p:pic>
        <p:nvPicPr>
          <p:cNvPr id="22" name="Picture 21">
            <a:extLst>
              <a:ext uri="{FF2B5EF4-FFF2-40B4-BE49-F238E27FC236}">
                <a16:creationId xmlns:a16="http://schemas.microsoft.com/office/drawing/2014/main" id="{4223A667-37D2-F048-BA2B-45D1CDF19B2C}"/>
              </a:ext>
            </a:extLst>
          </p:cNvPr>
          <p:cNvPicPr>
            <a:picLocks noChangeAspect="1"/>
          </p:cNvPicPr>
          <p:nvPr userDrawn="1"/>
        </p:nvPicPr>
        <p:blipFill>
          <a:blip r:embed="rId6"/>
          <a:stretch>
            <a:fillRect/>
          </a:stretch>
        </p:blipFill>
        <p:spPr>
          <a:xfrm>
            <a:off x="5155877" y="6408705"/>
            <a:ext cx="672565" cy="257578"/>
          </a:xfrm>
          <a:prstGeom prst="rect">
            <a:avLst/>
          </a:prstGeom>
        </p:spPr>
      </p:pic>
    </p:spTree>
    <p:extLst>
      <p:ext uri="{BB962C8B-B14F-4D97-AF65-F5344CB8AC3E}">
        <p14:creationId xmlns:p14="http://schemas.microsoft.com/office/powerpoint/2010/main" val="927460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52E2F3B-FA48-9B42-96C3-9E918E8D0E8E}"/>
              </a:ext>
            </a:extLst>
          </p:cNvPr>
          <p:cNvSpPr/>
          <p:nvPr userDrawn="1"/>
        </p:nvSpPr>
        <p:spPr>
          <a:xfrm flipH="1">
            <a:off x="6850742" y="-21771"/>
            <a:ext cx="5341257" cy="6042025"/>
          </a:xfrm>
          <a:prstGeom prst="rect">
            <a:avLst/>
          </a:prstGeom>
          <a:solidFill>
            <a:schemeClr val="bg1">
              <a:lumMod val="85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6509C478-2979-044D-8BED-E21C05C2B603}"/>
              </a:ext>
            </a:extLst>
          </p:cNvPr>
          <p:cNvSpPr>
            <a:spLocks noGrp="1"/>
          </p:cNvSpPr>
          <p:nvPr>
            <p:ph type="title" hasCustomPrompt="1"/>
          </p:nvPr>
        </p:nvSpPr>
        <p:spPr>
          <a:xfrm>
            <a:off x="672425" y="1108546"/>
            <a:ext cx="5065555" cy="1588157"/>
          </a:xfrm>
        </p:spPr>
        <p:txBody>
          <a:bodyPr anchor="t">
            <a:noAutofit/>
          </a:bodyPr>
          <a:lstStyle/>
          <a:p>
            <a:pPr>
              <a:lnSpc>
                <a:spcPct val="80000"/>
              </a:lnSpc>
            </a:pPr>
            <a:r>
              <a:rPr lang="en-US" sz="6600" dirty="0" err="1"/>
              <a:t>Firstname</a:t>
            </a:r>
            <a:r>
              <a:rPr lang="en-US" sz="6600" dirty="0"/>
              <a:t> </a:t>
            </a:r>
            <a:r>
              <a:rPr lang="en-US" sz="6600" dirty="0" err="1"/>
              <a:t>Lastname</a:t>
            </a:r>
            <a:endParaRPr lang="en-US" sz="6600" dirty="0"/>
          </a:p>
        </p:txBody>
      </p:sp>
      <p:pic>
        <p:nvPicPr>
          <p:cNvPr id="13" name="Picture 12">
            <a:extLst>
              <a:ext uri="{FF2B5EF4-FFF2-40B4-BE49-F238E27FC236}">
                <a16:creationId xmlns:a16="http://schemas.microsoft.com/office/drawing/2014/main" id="{73454EA4-E7DB-7A49-AE8D-7990F62ABE08}"/>
              </a:ext>
            </a:extLst>
          </p:cNvPr>
          <p:cNvPicPr>
            <a:picLocks noChangeAspect="1"/>
          </p:cNvPicPr>
          <p:nvPr userDrawn="1"/>
        </p:nvPicPr>
        <p:blipFill>
          <a:blip r:embed="rId3"/>
          <a:stretch>
            <a:fillRect/>
          </a:stretch>
        </p:blipFill>
        <p:spPr>
          <a:xfrm>
            <a:off x="752959" y="4363012"/>
            <a:ext cx="556647" cy="556647"/>
          </a:xfrm>
          <a:prstGeom prst="rect">
            <a:avLst/>
          </a:prstGeom>
        </p:spPr>
      </p:pic>
      <p:sp>
        <p:nvSpPr>
          <p:cNvPr id="21" name="Text Placeholder 20">
            <a:extLst>
              <a:ext uri="{FF2B5EF4-FFF2-40B4-BE49-F238E27FC236}">
                <a16:creationId xmlns:a16="http://schemas.microsoft.com/office/drawing/2014/main" id="{32B05DDB-22B2-634D-9DB4-3405A26E348F}"/>
              </a:ext>
            </a:extLst>
          </p:cNvPr>
          <p:cNvSpPr>
            <a:spLocks noGrp="1"/>
          </p:cNvSpPr>
          <p:nvPr>
            <p:ph type="body" sz="quarter" idx="13" hasCustomPrompt="1"/>
          </p:nvPr>
        </p:nvSpPr>
        <p:spPr>
          <a:xfrm>
            <a:off x="673139" y="2888797"/>
            <a:ext cx="5064125" cy="828439"/>
          </a:xfrm>
        </p:spPr>
        <p:txBody>
          <a:bodyPr/>
          <a:lstStyle>
            <a:lvl1pPr marL="0" indent="0">
              <a:buNone/>
              <a:defRPr>
                <a:solidFill>
                  <a:srgbClr val="039EDD"/>
                </a:solidFill>
              </a:defRPr>
            </a:lvl1pPr>
          </a:lstStyle>
          <a:p>
            <a:pPr lvl="0"/>
            <a:r>
              <a:rPr lang="en-US" dirty="0"/>
              <a:t>Title, Organization</a:t>
            </a:r>
          </a:p>
        </p:txBody>
      </p:sp>
      <p:sp>
        <p:nvSpPr>
          <p:cNvPr id="22" name="Text Placeholder 20">
            <a:extLst>
              <a:ext uri="{FF2B5EF4-FFF2-40B4-BE49-F238E27FC236}">
                <a16:creationId xmlns:a16="http://schemas.microsoft.com/office/drawing/2014/main" id="{7FB3B39F-35CC-FE44-A9B5-58533F889C44}"/>
              </a:ext>
            </a:extLst>
          </p:cNvPr>
          <p:cNvSpPr>
            <a:spLocks noGrp="1"/>
          </p:cNvSpPr>
          <p:nvPr>
            <p:ph type="body" sz="quarter" idx="14" hasCustomPrompt="1"/>
          </p:nvPr>
        </p:nvSpPr>
        <p:spPr>
          <a:xfrm>
            <a:off x="1518129" y="4378513"/>
            <a:ext cx="4219136" cy="828439"/>
          </a:xfrm>
        </p:spPr>
        <p:txBody>
          <a:bodyPr>
            <a:normAutofit/>
          </a:bodyPr>
          <a:lstStyle>
            <a:lvl1pPr marL="0" indent="0">
              <a:buNone/>
              <a:defRPr sz="2400">
                <a:solidFill>
                  <a:srgbClr val="039EDD"/>
                </a:solidFill>
              </a:defRPr>
            </a:lvl1pPr>
          </a:lstStyle>
          <a:p>
            <a:pPr lvl="0"/>
            <a:r>
              <a:rPr lang="en-US" dirty="0" err="1"/>
              <a:t>email@email.com</a:t>
            </a:r>
            <a:endParaRPr lang="en-US" dirty="0"/>
          </a:p>
        </p:txBody>
      </p:sp>
      <p:pic>
        <p:nvPicPr>
          <p:cNvPr id="15" name="Picture 14">
            <a:extLst>
              <a:ext uri="{FF2B5EF4-FFF2-40B4-BE49-F238E27FC236}">
                <a16:creationId xmlns:a16="http://schemas.microsoft.com/office/drawing/2014/main" id="{12B09FA8-EFE7-1E43-8BFE-DB29D1F8C50F}"/>
              </a:ext>
            </a:extLst>
          </p:cNvPr>
          <p:cNvPicPr>
            <a:picLocks noChangeAspect="1"/>
          </p:cNvPicPr>
          <p:nvPr userDrawn="1"/>
        </p:nvPicPr>
        <p:blipFill>
          <a:blip r:embed="rId4"/>
          <a:stretch>
            <a:fillRect/>
          </a:stretch>
        </p:blipFill>
        <p:spPr>
          <a:xfrm>
            <a:off x="7228182" y="616966"/>
            <a:ext cx="4378237" cy="4712454"/>
          </a:xfrm>
          <a:prstGeom prst="rect">
            <a:avLst/>
          </a:prstGeom>
        </p:spPr>
      </p:pic>
      <p:sp>
        <p:nvSpPr>
          <p:cNvPr id="9" name="Slide Number Placeholder 4">
            <a:extLst>
              <a:ext uri="{FF2B5EF4-FFF2-40B4-BE49-F238E27FC236}">
                <a16:creationId xmlns:a16="http://schemas.microsoft.com/office/drawing/2014/main" id="{EF6BD210-0CF6-A544-9AEF-0BAB87B7E45E}"/>
              </a:ext>
            </a:extLst>
          </p:cNvPr>
          <p:cNvSpPr>
            <a:spLocks noGrp="1"/>
          </p:cNvSpPr>
          <p:nvPr>
            <p:ph type="sldNum" sz="quarter" idx="12"/>
          </p:nvPr>
        </p:nvSpPr>
        <p:spPr>
          <a:xfrm>
            <a:off x="285307" y="6311946"/>
            <a:ext cx="766979" cy="365125"/>
          </a:xfrm>
          <a:prstGeom prst="rect">
            <a:avLst/>
          </a:prstGeom>
        </p:spPr>
        <p:txBody>
          <a:bodyPr/>
          <a:lstStyle>
            <a:lvl1pPr>
              <a:defRPr>
                <a:solidFill>
                  <a:srgbClr val="039EDD"/>
                </a:solidFill>
              </a:defRPr>
            </a:lvl1pPr>
          </a:lstStyle>
          <a:p>
            <a:fld id="{B0AF2983-4713-074B-8971-5C1C8A8E14E9}" type="slidenum">
              <a:rPr lang="en-US" smtClean="0"/>
              <a:pPr/>
              <a:t>‹#›</a:t>
            </a:fld>
            <a:endParaRPr lang="en-US" dirty="0"/>
          </a:p>
        </p:txBody>
      </p:sp>
      <p:pic>
        <p:nvPicPr>
          <p:cNvPr id="11" name="Picture 10">
            <a:extLst>
              <a:ext uri="{FF2B5EF4-FFF2-40B4-BE49-F238E27FC236}">
                <a16:creationId xmlns:a16="http://schemas.microsoft.com/office/drawing/2014/main" id="{5BC2B047-52AB-BD41-AC92-6667CC9A9898}"/>
              </a:ext>
            </a:extLst>
          </p:cNvPr>
          <p:cNvPicPr>
            <a:picLocks noChangeAspect="1"/>
          </p:cNvPicPr>
          <p:nvPr userDrawn="1"/>
        </p:nvPicPr>
        <p:blipFill>
          <a:blip r:embed="rId5"/>
          <a:stretch>
            <a:fillRect/>
          </a:stretch>
        </p:blipFill>
        <p:spPr>
          <a:xfrm>
            <a:off x="10880549" y="6331522"/>
            <a:ext cx="730880" cy="377228"/>
          </a:xfrm>
          <a:prstGeom prst="rect">
            <a:avLst/>
          </a:prstGeom>
        </p:spPr>
      </p:pic>
      <p:pic>
        <p:nvPicPr>
          <p:cNvPr id="14" name="Picture 13">
            <a:extLst>
              <a:ext uri="{FF2B5EF4-FFF2-40B4-BE49-F238E27FC236}">
                <a16:creationId xmlns:a16="http://schemas.microsoft.com/office/drawing/2014/main" id="{D85836E1-18DC-C447-A9DE-B4FBD3012DEB}"/>
              </a:ext>
            </a:extLst>
          </p:cNvPr>
          <p:cNvPicPr>
            <a:picLocks noChangeAspect="1"/>
          </p:cNvPicPr>
          <p:nvPr userDrawn="1"/>
        </p:nvPicPr>
        <p:blipFill>
          <a:blip r:embed="rId6"/>
          <a:stretch>
            <a:fillRect/>
          </a:stretch>
        </p:blipFill>
        <p:spPr>
          <a:xfrm>
            <a:off x="1406641" y="6261808"/>
            <a:ext cx="1559700" cy="462133"/>
          </a:xfrm>
          <a:prstGeom prst="rect">
            <a:avLst/>
          </a:prstGeom>
        </p:spPr>
      </p:pic>
      <p:pic>
        <p:nvPicPr>
          <p:cNvPr id="16" name="Picture 15">
            <a:extLst>
              <a:ext uri="{FF2B5EF4-FFF2-40B4-BE49-F238E27FC236}">
                <a16:creationId xmlns:a16="http://schemas.microsoft.com/office/drawing/2014/main" id="{4BD38A4D-CE4C-1742-96A1-69BA9F357300}"/>
              </a:ext>
            </a:extLst>
          </p:cNvPr>
          <p:cNvPicPr>
            <a:picLocks noChangeAspect="1"/>
          </p:cNvPicPr>
          <p:nvPr userDrawn="1"/>
        </p:nvPicPr>
        <p:blipFill>
          <a:blip r:embed="rId7"/>
          <a:stretch>
            <a:fillRect/>
          </a:stretch>
        </p:blipFill>
        <p:spPr>
          <a:xfrm>
            <a:off x="3567792" y="6389151"/>
            <a:ext cx="1282700" cy="292100"/>
          </a:xfrm>
          <a:prstGeom prst="rect">
            <a:avLst/>
          </a:prstGeom>
        </p:spPr>
      </p:pic>
      <p:pic>
        <p:nvPicPr>
          <p:cNvPr id="17" name="Picture 16">
            <a:extLst>
              <a:ext uri="{FF2B5EF4-FFF2-40B4-BE49-F238E27FC236}">
                <a16:creationId xmlns:a16="http://schemas.microsoft.com/office/drawing/2014/main" id="{593456EC-9911-3549-B25F-59ED16F3B5B5}"/>
              </a:ext>
            </a:extLst>
          </p:cNvPr>
          <p:cNvPicPr>
            <a:picLocks noChangeAspect="1"/>
          </p:cNvPicPr>
          <p:nvPr userDrawn="1"/>
        </p:nvPicPr>
        <p:blipFill>
          <a:blip r:embed="rId8"/>
          <a:stretch>
            <a:fillRect/>
          </a:stretch>
        </p:blipFill>
        <p:spPr>
          <a:xfrm>
            <a:off x="5155877" y="6408705"/>
            <a:ext cx="672565" cy="257578"/>
          </a:xfrm>
          <a:prstGeom prst="rect">
            <a:avLst/>
          </a:prstGeom>
        </p:spPr>
      </p:pic>
    </p:spTree>
    <p:extLst>
      <p:ext uri="{BB962C8B-B14F-4D97-AF65-F5344CB8AC3E}">
        <p14:creationId xmlns:p14="http://schemas.microsoft.com/office/powerpoint/2010/main" val="2262554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3" r:id="rId1"/>
    <p:sldLayoutId id="2147483754" r:id="rId2"/>
    <p:sldLayoutId id="2147483756" r:id="rId3"/>
    <p:sldLayoutId id="2147483757" r:id="rId4"/>
    <p:sldLayoutId id="2147483758" r:id="rId5"/>
  </p:sldLayoutIdLst>
  <p:txStyles>
    <p:titleStyle>
      <a:lvl1pPr algn="l" rtl="0" eaLnBrk="0" fontAlgn="base" hangingPunct="0">
        <a:lnSpc>
          <a:spcPct val="145000"/>
        </a:lnSpc>
        <a:spcBef>
          <a:spcPct val="0"/>
        </a:spcBef>
        <a:spcAft>
          <a:spcPct val="0"/>
        </a:spcAft>
        <a:buClr>
          <a:srgbClr val="FFBB00"/>
        </a:buClr>
        <a:buFont typeface="Wingdings" pitchFamily="2" charset="2"/>
        <a:defRPr lang="en-GB" sz="2800" kern="1200">
          <a:solidFill>
            <a:schemeClr val="bg1"/>
          </a:solidFill>
          <a:effectLst>
            <a:outerShdw blurRad="38100" dist="38100" dir="2700000" algn="tl">
              <a:srgbClr val="000000">
                <a:alpha val="43137"/>
              </a:srgbClr>
            </a:outerShdw>
          </a:effectLst>
          <a:latin typeface="+mn-lt"/>
          <a:ea typeface="ＭＳ Ｐゴシック" charset="0"/>
          <a:cs typeface="+mn-cs"/>
        </a:defRPr>
      </a:lvl1pPr>
      <a:lvl2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2pPr>
      <a:lvl3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3pPr>
      <a:lvl4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4pPr>
      <a:lvl5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lnSpc>
          <a:spcPts val="2400"/>
        </a:lnSpc>
        <a:spcBef>
          <a:spcPts val="600"/>
        </a:spcBef>
        <a:spcAft>
          <a:spcPts val="600"/>
        </a:spcAft>
        <a:buClr>
          <a:srgbClr val="002277"/>
        </a:buClr>
        <a:buBlip>
          <a:blip r:embed="rId8"/>
        </a:buBlip>
        <a:defRPr lang="en-GB" sz="2000" kern="1200">
          <a:solidFill>
            <a:srgbClr val="002277"/>
          </a:solidFill>
          <a:latin typeface="+mn-lt"/>
          <a:ea typeface="ＭＳ Ｐゴシック" charset="0"/>
          <a:cs typeface="+mn-cs"/>
        </a:defRPr>
      </a:lvl1pPr>
      <a:lvl2pPr marL="742950" indent="-285750" algn="l" rtl="0" eaLnBrk="0" fontAlgn="base" hangingPunct="0">
        <a:lnSpc>
          <a:spcPts val="2400"/>
        </a:lnSpc>
        <a:spcBef>
          <a:spcPts val="600"/>
        </a:spcBef>
        <a:spcAft>
          <a:spcPts val="600"/>
        </a:spcAft>
        <a:buClr>
          <a:srgbClr val="002277"/>
        </a:buClr>
        <a:buBlip>
          <a:blip r:embed="rId8"/>
        </a:buBlip>
        <a:defRPr lang="en-GB" sz="2000" kern="1200">
          <a:solidFill>
            <a:srgbClr val="002277"/>
          </a:solidFill>
          <a:latin typeface="+mn-lt"/>
          <a:ea typeface="ＭＳ Ｐゴシック" charset="0"/>
          <a:cs typeface="+mn-cs"/>
        </a:defRPr>
      </a:lvl2pPr>
      <a:lvl3pPr marL="1143000" indent="-228600" algn="l" rtl="0" eaLnBrk="0" fontAlgn="base" hangingPunct="0">
        <a:lnSpc>
          <a:spcPts val="2400"/>
        </a:lnSpc>
        <a:spcBef>
          <a:spcPts val="600"/>
        </a:spcBef>
        <a:spcAft>
          <a:spcPts val="600"/>
        </a:spcAft>
        <a:buClr>
          <a:srgbClr val="002277"/>
        </a:buClr>
        <a:buBlip>
          <a:blip r:embed="rId8"/>
        </a:buBlip>
        <a:defRPr lang="en-GB" kern="1200">
          <a:solidFill>
            <a:srgbClr val="002277"/>
          </a:solidFill>
          <a:latin typeface="+mn-lt"/>
          <a:ea typeface="ＭＳ Ｐゴシック" charset="0"/>
          <a:cs typeface="+mn-cs"/>
        </a:defRPr>
      </a:lvl3pPr>
      <a:lvl4pPr marL="1600200" indent="-228600" algn="l" rtl="0" eaLnBrk="0" fontAlgn="base" hangingPunct="0">
        <a:lnSpc>
          <a:spcPts val="2400"/>
        </a:lnSpc>
        <a:spcBef>
          <a:spcPts val="600"/>
        </a:spcBef>
        <a:spcAft>
          <a:spcPts val="600"/>
        </a:spcAft>
        <a:buClr>
          <a:srgbClr val="002277"/>
        </a:buClr>
        <a:buBlip>
          <a:blip r:embed="rId8"/>
        </a:buBlip>
        <a:defRPr lang="en-GB" sz="1600" kern="1200">
          <a:solidFill>
            <a:srgbClr val="002277"/>
          </a:solidFill>
          <a:latin typeface="+mn-lt"/>
          <a:ea typeface="ＭＳ Ｐゴシック" charset="0"/>
          <a:cs typeface="+mn-cs"/>
        </a:defRPr>
      </a:lvl4pPr>
      <a:lvl5pPr marL="2057400" indent="-228600" algn="l" rtl="0" eaLnBrk="0" fontAlgn="base" hangingPunct="0">
        <a:lnSpc>
          <a:spcPts val="2400"/>
        </a:lnSpc>
        <a:spcBef>
          <a:spcPts val="600"/>
        </a:spcBef>
        <a:spcAft>
          <a:spcPts val="600"/>
        </a:spcAft>
        <a:buClr>
          <a:srgbClr val="002277"/>
        </a:buClr>
        <a:buBlip>
          <a:blip r:embed="rId8"/>
        </a:buBlip>
        <a:defRPr lang="en-GB" sz="1600" kern="1200">
          <a:solidFill>
            <a:srgbClr val="002277"/>
          </a:solidFill>
          <a:latin typeface="+mn-lt"/>
          <a:ea typeface="ＭＳ Ｐゴシック" charset="0"/>
          <a:cs typeface="+mn-cs"/>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7">
            <a:extLst>
              <a:ext uri="{FF2B5EF4-FFF2-40B4-BE49-F238E27FC236}">
                <a16:creationId xmlns:a16="http://schemas.microsoft.com/office/drawing/2014/main" id="{10231928-E1A9-46E1-AA1A-CDE4EA6E4D5A}"/>
              </a:ext>
            </a:extLst>
          </p:cNvPr>
          <p:cNvSpPr txBox="1">
            <a:spLocks/>
          </p:cNvSpPr>
          <p:nvPr/>
        </p:nvSpPr>
        <p:spPr>
          <a:xfrm>
            <a:off x="5360566" y="2710225"/>
            <a:ext cx="5328592" cy="1328375"/>
          </a:xfrm>
          <a:prstGeom prst="rect">
            <a:avLst/>
          </a:prstGeom>
          <a:effectLst>
            <a:outerShdw blurRad="25400" dist="25400" dir="2700000" sx="2000" sy="2000" algn="ctr" rotWithShape="0">
              <a:srgbClr val="000000">
                <a:alpha val="43137"/>
              </a:srgbClr>
            </a:outerShdw>
          </a:effectLst>
        </p:spPr>
        <p:txBody>
          <a:bodyPr/>
          <a:lstStyle>
            <a:lvl1pPr marL="342900" indent="-342900" algn="l" rtl="0" eaLnBrk="0" fontAlgn="base" hangingPunct="0">
              <a:lnSpc>
                <a:spcPts val="2400"/>
              </a:lnSpc>
              <a:spcBef>
                <a:spcPts val="600"/>
              </a:spcBef>
              <a:spcAft>
                <a:spcPts val="600"/>
              </a:spcAft>
              <a:buClr>
                <a:srgbClr val="002277"/>
              </a:buClr>
              <a:buBlip>
                <a:blip r:embed="rId3"/>
              </a:buBlip>
              <a:defRPr lang="en-GB" sz="2000" kern="1200">
                <a:solidFill>
                  <a:srgbClr val="002277"/>
                </a:solidFill>
                <a:latin typeface="+mn-lt"/>
                <a:ea typeface="ＭＳ Ｐゴシック" charset="0"/>
                <a:cs typeface="+mn-cs"/>
              </a:defRPr>
            </a:lvl1pPr>
            <a:lvl2pPr marL="742950" indent="-285750" algn="l" rtl="0" eaLnBrk="0" fontAlgn="base" hangingPunct="0">
              <a:lnSpc>
                <a:spcPts val="2400"/>
              </a:lnSpc>
              <a:spcBef>
                <a:spcPts val="600"/>
              </a:spcBef>
              <a:spcAft>
                <a:spcPts val="600"/>
              </a:spcAft>
              <a:buClr>
                <a:srgbClr val="002277"/>
              </a:buClr>
              <a:buBlip>
                <a:blip r:embed="rId3"/>
              </a:buBlip>
              <a:defRPr lang="en-GB" sz="2000" kern="1200">
                <a:solidFill>
                  <a:srgbClr val="002277"/>
                </a:solidFill>
                <a:latin typeface="+mn-lt"/>
                <a:ea typeface="ＭＳ Ｐゴシック" charset="0"/>
                <a:cs typeface="+mn-cs"/>
              </a:defRPr>
            </a:lvl2pPr>
            <a:lvl3pPr marL="1143000" indent="-228600" algn="l" rtl="0" eaLnBrk="0" fontAlgn="base" hangingPunct="0">
              <a:lnSpc>
                <a:spcPts val="2400"/>
              </a:lnSpc>
              <a:spcBef>
                <a:spcPts val="600"/>
              </a:spcBef>
              <a:spcAft>
                <a:spcPts val="600"/>
              </a:spcAft>
              <a:buClr>
                <a:srgbClr val="002277"/>
              </a:buClr>
              <a:buBlip>
                <a:blip r:embed="rId3"/>
              </a:buBlip>
              <a:defRPr lang="en-GB" kern="1200">
                <a:solidFill>
                  <a:srgbClr val="002277"/>
                </a:solidFill>
                <a:latin typeface="+mn-lt"/>
                <a:ea typeface="ＭＳ Ｐゴシック" charset="0"/>
                <a:cs typeface="+mn-cs"/>
              </a:defRPr>
            </a:lvl3pPr>
            <a:lvl4pPr marL="1600200" indent="-228600" algn="l" rtl="0" eaLnBrk="0" fontAlgn="base" hangingPunct="0">
              <a:lnSpc>
                <a:spcPts val="2400"/>
              </a:lnSpc>
              <a:spcBef>
                <a:spcPts val="600"/>
              </a:spcBef>
              <a:spcAft>
                <a:spcPts val="600"/>
              </a:spcAft>
              <a:buClr>
                <a:srgbClr val="002277"/>
              </a:buClr>
              <a:buBlip>
                <a:blip r:embed="rId3"/>
              </a:buBlip>
              <a:defRPr lang="en-GB" sz="1600" kern="1200">
                <a:solidFill>
                  <a:srgbClr val="002277"/>
                </a:solidFill>
                <a:latin typeface="+mn-lt"/>
                <a:ea typeface="ＭＳ Ｐゴシック" charset="0"/>
                <a:cs typeface="+mn-cs"/>
              </a:defRPr>
            </a:lvl4pPr>
            <a:lvl5pPr marL="2057400" indent="-228600" algn="l" rtl="0" eaLnBrk="0" fontAlgn="base" hangingPunct="0">
              <a:lnSpc>
                <a:spcPts val="2400"/>
              </a:lnSpc>
              <a:spcBef>
                <a:spcPts val="600"/>
              </a:spcBef>
              <a:spcAft>
                <a:spcPts val="600"/>
              </a:spcAft>
              <a:buClr>
                <a:srgbClr val="002277"/>
              </a:buClr>
              <a:buBlip>
                <a:blip r:embed="rId3"/>
              </a:buBlip>
              <a:defRPr lang="en-GB" sz="1600" kern="1200">
                <a:solidFill>
                  <a:srgbClr val="002277"/>
                </a:solidFill>
                <a:latin typeface="+mn-lt"/>
                <a:ea typeface="ＭＳ Ｐゴシック" charset="0"/>
                <a:cs typeface="+mn-cs"/>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endParaRPr/>
          </a:p>
        </p:txBody>
      </p:sp>
      <p:sp>
        <p:nvSpPr>
          <p:cNvPr id="5" name="Title 1">
            <a:extLst>
              <a:ext uri="{FF2B5EF4-FFF2-40B4-BE49-F238E27FC236}">
                <a16:creationId xmlns:a16="http://schemas.microsoft.com/office/drawing/2014/main" id="{098B86D8-568A-410C-A413-65DC5A6ED123}"/>
              </a:ext>
            </a:extLst>
          </p:cNvPr>
          <p:cNvSpPr txBox="1">
            <a:spLocks/>
          </p:cNvSpPr>
          <p:nvPr/>
        </p:nvSpPr>
        <p:spPr>
          <a:xfrm>
            <a:off x="5074920" y="1353312"/>
            <a:ext cx="5760720" cy="548640"/>
          </a:xfrm>
          <a:prstGeom prst="rect">
            <a:avLst/>
          </a:prstGeom>
          <a:effectLst/>
        </p:spPr>
        <p:txBody>
          <a:bodyPr/>
          <a:lstStyle>
            <a:lvl1pPr algn="l" rtl="0" eaLnBrk="0" fontAlgn="base" hangingPunct="0">
              <a:lnSpc>
                <a:spcPct val="145000"/>
              </a:lnSpc>
              <a:spcBef>
                <a:spcPct val="0"/>
              </a:spcBef>
              <a:spcAft>
                <a:spcPct val="0"/>
              </a:spcAft>
              <a:buClr>
                <a:srgbClr val="FFBB00"/>
              </a:buClr>
              <a:buFont typeface="Wingdings" pitchFamily="2" charset="2"/>
              <a:defRPr lang="en-GB" sz="2800" kern="1200">
                <a:solidFill>
                  <a:schemeClr val="bg1"/>
                </a:solidFill>
                <a:effectLst>
                  <a:outerShdw blurRad="38100" dist="38100" dir="2700000" algn="tl">
                    <a:srgbClr val="000000">
                      <a:alpha val="43137"/>
                    </a:srgbClr>
                  </a:outerShdw>
                </a:effectLst>
                <a:latin typeface="+mn-lt"/>
                <a:ea typeface="ＭＳ Ｐゴシック" charset="0"/>
                <a:cs typeface="+mn-cs"/>
              </a:defRPr>
            </a:lvl1pPr>
            <a:lvl2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2pPr>
            <a:lvl3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3pPr>
            <a:lvl4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4pPr>
            <a:lvl5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r>
              <a:rPr sz="2400">
                <a:solidFill>
                  <a:srgbClr val="666666"/>
                </a:solidFill>
              </a:rPr>
              <a:t>Proposal Professional Impact Paper</a:t>
            </a:r>
          </a:p>
        </p:txBody>
      </p:sp>
      <p:sp>
        <p:nvSpPr>
          <p:cNvPr id="6" name="Title 3"/>
          <p:cNvSpPr txBox="1">
            <a:spLocks/>
          </p:cNvSpPr>
          <p:nvPr/>
        </p:nvSpPr>
        <p:spPr>
          <a:xfrm>
            <a:off x="5404557" y="2629023"/>
            <a:ext cx="5684217" cy="3524042"/>
          </a:xfrm>
          <a:prstGeom prst="rect">
            <a:avLst/>
          </a:prstGeom>
          <a:noFill/>
          <a:ln w="9525">
            <a:noFill/>
            <a:miter lim="800000"/>
            <a:headEnd/>
            <a:tailEnd/>
          </a:ln>
        </p:spPr>
        <p:txBody>
          <a:bodyPr wrap="square" lIns="0" tIns="0" rIns="0" bIns="0">
            <a:spAutoFit/>
          </a:bodyPr>
          <a:lstStyle>
            <a:lvl1pPr algn="l" rtl="0" eaLnBrk="0" fontAlgn="base" hangingPunct="0">
              <a:lnSpc>
                <a:spcPct val="145000"/>
              </a:lnSpc>
              <a:spcBef>
                <a:spcPct val="0"/>
              </a:spcBef>
              <a:spcAft>
                <a:spcPct val="0"/>
              </a:spcAft>
              <a:buClr>
                <a:srgbClr val="FFBB00"/>
              </a:buClr>
              <a:buFont typeface="Wingdings" pitchFamily="2" charset="2"/>
              <a:buNone/>
              <a:defRPr lang="en-GB" sz="4000" b="0" i="0" kern="1200" spc="-150" baseline="0">
                <a:solidFill>
                  <a:schemeClr val="bg1"/>
                </a:solidFill>
                <a:effectLst/>
                <a:latin typeface="Calibri"/>
                <a:ea typeface="+mn-ea"/>
                <a:cs typeface="Calibri"/>
              </a:defRPr>
            </a:lvl1pPr>
            <a:lvl2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2pPr>
            <a:lvl3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3pPr>
            <a:lvl4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4pPr>
            <a:lvl5pPr algn="l" rtl="0" eaLnBrk="0" fontAlgn="base" hangingPunct="0">
              <a:lnSpc>
                <a:spcPct val="145000"/>
              </a:lnSpc>
              <a:spcBef>
                <a:spcPct val="0"/>
              </a:spcBef>
              <a:spcAft>
                <a:spcPct val="0"/>
              </a:spcAft>
              <a:buClr>
                <a:srgbClr val="FFBB00"/>
              </a:buClr>
              <a:buFont typeface="Wingdings" pitchFamily="2" charset="2"/>
              <a:defRPr sz="2800">
                <a:solidFill>
                  <a:schemeClr val="bg1"/>
                </a:solidFill>
                <a:latin typeface="Arial" charset="0"/>
                <a:ea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endParaRPr/>
          </a:p>
        </p:txBody>
      </p:sp>
      <p:sp>
        <p:nvSpPr>
          <p:cNvPr id="21" name="TextBox 20"/>
          <p:cNvSpPr txBox="1"/>
          <p:nvPr/>
        </p:nvSpPr>
        <p:spPr>
          <a:xfrm>
            <a:off x="5102352" y="1993392"/>
            <a:ext cx="5486400" cy="646331"/>
          </a:xfrm>
          <a:prstGeom prst="rect">
            <a:avLst/>
          </a:prstGeom>
          <a:noFill/>
        </p:spPr>
        <p:txBody>
          <a:bodyPr wrap="square" anchor="t">
            <a:spAutoFit/>
          </a:bodyPr>
          <a:lstStyle/>
          <a:p>
            <a:pPr algn="l"/>
            <a:r>
              <a:rPr sz="1800" b="0" i="0" dirty="0">
                <a:solidFill>
                  <a:srgbClr val="1F4E79"/>
                </a:solidFill>
              </a:rPr>
              <a:t>Detroit</a:t>
            </a:r>
            <a:r>
              <a:rPr lang="en-US" sz="1800" b="0" i="0" dirty="0">
                <a:solidFill>
                  <a:srgbClr val="1F4E79"/>
                </a:solidFill>
              </a:rPr>
              <a:t> Publi</a:t>
            </a:r>
            <a:r>
              <a:rPr lang="en-US" dirty="0">
                <a:solidFill>
                  <a:srgbClr val="1F4E79"/>
                </a:solidFill>
              </a:rPr>
              <a:t>c Schools</a:t>
            </a:r>
            <a:r>
              <a:rPr sz="1800" b="0" i="0" dirty="0">
                <a:solidFill>
                  <a:srgbClr val="1F4E79"/>
                </a:solidFill>
              </a:rPr>
              <a:t>/RNA Recompete Bid Rescue and Reuse</a:t>
            </a:r>
          </a:p>
        </p:txBody>
      </p:sp>
      <p:sp>
        <p:nvSpPr>
          <p:cNvPr id="22" name="TextBox 21"/>
          <p:cNvSpPr txBox="1"/>
          <p:nvPr/>
        </p:nvSpPr>
        <p:spPr>
          <a:xfrm>
            <a:off x="5120640" y="3154680"/>
            <a:ext cx="4937760" cy="1280160"/>
          </a:xfrm>
          <a:prstGeom prst="rect">
            <a:avLst/>
          </a:prstGeom>
          <a:noFill/>
        </p:spPr>
        <p:txBody>
          <a:bodyPr wrap="square" anchor="t">
            <a:spAutoFit/>
          </a:bodyPr>
          <a:lstStyle/>
          <a:p>
            <a:pPr algn="l"/>
            <a:r>
              <a:rPr sz="1400" b="0" i="0">
                <a:solidFill>
                  <a:srgbClr val="1F1F1F"/>
                </a:solidFill>
              </a:rPr>
              <a:t>Candidate Name: Timothy Semenza
APMP Candidate Number: 28366
Timeframe: November 2025 to January 2026</a:t>
            </a:r>
          </a:p>
        </p:txBody>
      </p:sp>
    </p:spTree>
    <p:extLst>
      <p:ext uri="{BB962C8B-B14F-4D97-AF65-F5344CB8AC3E}">
        <p14:creationId xmlns:p14="http://schemas.microsoft.com/office/powerpoint/2010/main" val="4143948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nodePh="1">
                                  <p:stCondLst>
                                    <p:cond delay="0"/>
                                  </p:stCondLst>
                                  <p:endCondLst>
                                    <p:cond evt="begin" delay="0">
                                      <p:tn val="11"/>
                                    </p:cond>
                                  </p:end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anim calcmode="lin" valueType="num">
                                      <p:cBhvr>
                                        <p:cTn id="14" dur="500" fill="hold"/>
                                        <p:tgtEl>
                                          <p:spTgt spid="4"/>
                                        </p:tgtEl>
                                        <p:attrNameLst>
                                          <p:attrName>ppt_x</p:attrName>
                                        </p:attrNameLst>
                                      </p:cBhvr>
                                      <p:tavLst>
                                        <p:tav tm="0">
                                          <p:val>
                                            <p:strVal val="#ppt_x"/>
                                          </p:val>
                                        </p:tav>
                                        <p:tav tm="100000">
                                          <p:val>
                                            <p:strVal val="#ppt_x"/>
                                          </p:val>
                                        </p:tav>
                                      </p:tavLst>
                                    </p:anim>
                                    <p:anim calcmode="lin" valueType="num">
                                      <p:cBhvr>
                                        <p:cTn id="15"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B83FC-53AF-4DD6-86E2-69B724171789}"/>
              </a:ext>
            </a:extLst>
          </p:cNvPr>
          <p:cNvSpPr>
            <a:spLocks noGrp="1"/>
          </p:cNvSpPr>
          <p:nvPr>
            <p:ph type="title"/>
          </p:nvPr>
        </p:nvSpPr>
        <p:spPr>
          <a:xfrm>
            <a:off x="609599" y="206561"/>
            <a:ext cx="10972800" cy="1143000"/>
          </a:xfrm>
        </p:spPr>
        <p:txBody>
          <a:bodyPr/>
          <a:lstStyle/>
          <a:p>
            <a:r>
              <a:t>Summary of Impact</a:t>
            </a:r>
          </a:p>
        </p:txBody>
      </p:sp>
      <p:sp>
        <p:nvSpPr>
          <p:cNvPr id="3" name="TextBox 2"/>
          <p:cNvSpPr txBox="1"/>
          <p:nvPr/>
        </p:nvSpPr>
        <p:spPr>
          <a:xfrm>
            <a:off x="713232" y="1353312"/>
            <a:ext cx="9372600" cy="457200"/>
          </a:xfrm>
          <a:prstGeom prst="rect">
            <a:avLst/>
          </a:prstGeom>
          <a:noFill/>
        </p:spPr>
        <p:txBody>
          <a:bodyPr wrap="square" anchor="t">
            <a:spAutoFit/>
          </a:bodyPr>
          <a:lstStyle/>
          <a:p>
            <a:pPr algn="l"/>
            <a:r>
              <a:rPr sz="1400" b="0" i="0" dirty="0">
                <a:solidFill>
                  <a:srgbClr val="1F1F1F"/>
                </a:solidFill>
              </a:rPr>
              <a:t>In 20 working days, I took control of an unprepared $85M Detroit Public Schools recompete, coordinated about 15 stakeholders, reached 2 finalist presentations, and turned the work into reusable RNA school-bid infrastructure.</a:t>
            </a:r>
          </a:p>
        </p:txBody>
      </p:sp>
      <p:graphicFrame>
        <p:nvGraphicFramePr>
          <p:cNvPr id="4" name="Table 3"/>
          <p:cNvGraphicFramePr>
            <a:graphicFrameLocks noGrp="1"/>
          </p:cNvGraphicFramePr>
          <p:nvPr>
            <p:extLst>
              <p:ext uri="{D42A27DB-BD31-4B8C-83A1-F6EECF244321}">
                <p14:modId xmlns:p14="http://schemas.microsoft.com/office/powerpoint/2010/main" val="1599992124"/>
              </p:ext>
            </p:extLst>
          </p:nvPr>
        </p:nvGraphicFramePr>
        <p:xfrm>
          <a:off x="640080" y="1828800"/>
          <a:ext cx="10972800" cy="3749039"/>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749807">
                <a:tc>
                  <a:txBody>
                    <a:bodyPr/>
                    <a:lstStyle/>
                    <a:p>
                      <a:r>
                        <a:rPr sz="1200" b="1" dirty="0">
                          <a:solidFill>
                            <a:srgbClr val="FFFFFF"/>
                          </a:solidFill>
                        </a:rPr>
                        <a:t>Category</a:t>
                      </a:r>
                    </a:p>
                  </a:txBody>
                  <a:tcPr>
                    <a:solidFill>
                      <a:srgbClr val="1F4E79"/>
                    </a:solidFill>
                  </a:tcPr>
                </a:tc>
                <a:tc>
                  <a:txBody>
                    <a:bodyPr/>
                    <a:lstStyle/>
                    <a:p>
                      <a:r>
                        <a:rPr sz="1200" b="1">
                          <a:solidFill>
                            <a:srgbClr val="FFFFFF"/>
                          </a:solidFill>
                        </a:rPr>
                        <a:t>Evidence</a:t>
                      </a:r>
                    </a:p>
                  </a:txBody>
                  <a:tcPr>
                    <a:solidFill>
                      <a:srgbClr val="1F4E79"/>
                    </a:solidFill>
                  </a:tcPr>
                </a:tc>
                <a:extLst>
                  <a:ext uri="{0D108BD9-81ED-4DB2-BD59-A6C34878D82A}">
                    <a16:rowId xmlns:a16="http://schemas.microsoft.com/office/drawing/2014/main" val="10000"/>
                  </a:ext>
                </a:extLst>
              </a:tr>
              <a:tr h="749807">
                <a:tc>
                  <a:txBody>
                    <a:bodyPr/>
                    <a:lstStyle/>
                    <a:p>
                      <a:r>
                        <a:rPr sz="1100">
                          <a:solidFill>
                            <a:srgbClr val="000000"/>
                          </a:solidFill>
                        </a:rPr>
                        <a:t>Strategic importance</a:t>
                      </a:r>
                    </a:p>
                  </a:txBody>
                  <a:tcPr/>
                </a:tc>
                <a:tc>
                  <a:txBody>
                    <a:bodyPr/>
                    <a:lstStyle/>
                    <a:p>
                      <a:r>
                        <a:rPr sz="1100">
                          <a:solidFill>
                            <a:srgbClr val="000000"/>
                          </a:solidFill>
                        </a:rPr>
                        <a:t>Incumbent work represented more than 25% of RNA's book of business and expanded from about $14M current scope to an $85M target</a:t>
                      </a:r>
                    </a:p>
                  </a:txBody>
                  <a:tcPr/>
                </a:tc>
                <a:extLst>
                  <a:ext uri="{0D108BD9-81ED-4DB2-BD59-A6C34878D82A}">
                    <a16:rowId xmlns:a16="http://schemas.microsoft.com/office/drawing/2014/main" val="10001"/>
                  </a:ext>
                </a:extLst>
              </a:tr>
              <a:tr h="749807">
                <a:tc>
                  <a:txBody>
                    <a:bodyPr/>
                    <a:lstStyle/>
                    <a:p>
                      <a:r>
                        <a:rPr sz="1100">
                          <a:solidFill>
                            <a:srgbClr val="000000"/>
                          </a:solidFill>
                        </a:rPr>
                        <a:t>Leadership role</a:t>
                      </a:r>
                    </a:p>
                  </a:txBody>
                  <a:tcPr/>
                </a:tc>
                <a:tc>
                  <a:txBody>
                    <a:bodyPr/>
                    <a:lstStyle/>
                    <a:p>
                      <a:r>
                        <a:rPr sz="1100" dirty="0">
                          <a:solidFill>
                            <a:srgbClr val="000000"/>
                          </a:solidFill>
                        </a:rPr>
                        <a:t>I led 100% of coordination and about 60% of drafting across executives, pricing, operations, engineering, </a:t>
                      </a:r>
                      <a:r>
                        <a:rPr lang="en-US" sz="1100" dirty="0">
                          <a:solidFill>
                            <a:srgbClr val="000000"/>
                          </a:solidFill>
                        </a:rPr>
                        <a:t>account management</a:t>
                      </a:r>
                      <a:r>
                        <a:rPr sz="1100" dirty="0">
                          <a:solidFill>
                            <a:srgbClr val="000000"/>
                          </a:solidFill>
                        </a:rPr>
                        <a:t>, and an external consultant</a:t>
                      </a:r>
                    </a:p>
                  </a:txBody>
                  <a:tcPr/>
                </a:tc>
                <a:extLst>
                  <a:ext uri="{0D108BD9-81ED-4DB2-BD59-A6C34878D82A}">
                    <a16:rowId xmlns:a16="http://schemas.microsoft.com/office/drawing/2014/main" val="10002"/>
                  </a:ext>
                </a:extLst>
              </a:tr>
              <a:tr h="749807">
                <a:tc>
                  <a:txBody>
                    <a:bodyPr/>
                    <a:lstStyle/>
                    <a:p>
                      <a:r>
                        <a:rPr sz="1100">
                          <a:solidFill>
                            <a:srgbClr val="000000"/>
                          </a:solidFill>
                        </a:rPr>
                        <a:t>Immediate outcome</a:t>
                      </a:r>
                    </a:p>
                  </a:txBody>
                  <a:tcPr/>
                </a:tc>
                <a:tc>
                  <a:txBody>
                    <a:bodyPr/>
                    <a:lstStyle/>
                    <a:p>
                      <a:r>
                        <a:rPr sz="1100">
                          <a:solidFill>
                            <a:srgbClr val="000000"/>
                          </a:solidFill>
                        </a:rPr>
                        <a:t>Compliant submission completed inside about 20 working days and advanced to 2 finalist presentations</a:t>
                      </a:r>
                    </a:p>
                  </a:txBody>
                  <a:tcPr/>
                </a:tc>
                <a:extLst>
                  <a:ext uri="{0D108BD9-81ED-4DB2-BD59-A6C34878D82A}">
                    <a16:rowId xmlns:a16="http://schemas.microsoft.com/office/drawing/2014/main" val="10003"/>
                  </a:ext>
                </a:extLst>
              </a:tr>
              <a:tr h="749811">
                <a:tc>
                  <a:txBody>
                    <a:bodyPr/>
                    <a:lstStyle/>
                    <a:p>
                      <a:r>
                        <a:rPr sz="1100">
                          <a:solidFill>
                            <a:srgbClr val="000000"/>
                          </a:solidFill>
                        </a:rPr>
                        <a:t>Sustained outcome</a:t>
                      </a:r>
                    </a:p>
                  </a:txBody>
                  <a:tcPr/>
                </a:tc>
                <a:tc>
                  <a:txBody>
                    <a:bodyPr/>
                    <a:lstStyle/>
                    <a:p>
                      <a:r>
                        <a:rPr sz="1100" dirty="0">
                          <a:solidFill>
                            <a:srgbClr val="000000"/>
                          </a:solidFill>
                        </a:rPr>
                        <a:t>Detroit-developed content and templates were reused on about 12 later school bids, including about 6 active at once immediately afterward</a:t>
                      </a: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640080" y="6236208"/>
            <a:ext cx="10698480" cy="256032"/>
          </a:xfrm>
          <a:prstGeom prst="rect">
            <a:avLst/>
          </a:prstGeom>
          <a:noFill/>
        </p:spPr>
        <p:txBody>
          <a:bodyPr wrap="square" anchor="t">
            <a:spAutoFit/>
          </a:bodyPr>
          <a:lstStyle/>
          <a:p>
            <a:pPr algn="l"/>
            <a:r>
              <a:rPr sz="1100" b="0" i="1">
                <a:solidFill>
                  <a:srgbClr val="595959"/>
                </a:solidFill>
              </a:rPr>
              <a:t>A high-risk recompete became a reusable school-bid operating model within one compressed pursuit cycle.</a:t>
            </a:r>
          </a:p>
        </p:txBody>
      </p:sp>
    </p:spTree>
    <p:extLst>
      <p:ext uri="{BB962C8B-B14F-4D97-AF65-F5344CB8AC3E}">
        <p14:creationId xmlns:p14="http://schemas.microsoft.com/office/powerpoint/2010/main" val="1610763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700" y="197768"/>
            <a:ext cx="10972800" cy="656474"/>
          </a:xfrm>
          <a:effectLst/>
        </p:spPr>
        <p:txBody>
          <a:bodyPr/>
          <a:lstStyle/>
          <a:p>
            <a:r>
              <a:t>The Situation</a:t>
            </a:r>
          </a:p>
        </p:txBody>
      </p:sp>
      <p:sp>
        <p:nvSpPr>
          <p:cNvPr id="3" name="TextBox 2"/>
          <p:cNvSpPr txBox="1"/>
          <p:nvPr/>
        </p:nvSpPr>
        <p:spPr>
          <a:xfrm>
            <a:off x="713232" y="1353312"/>
            <a:ext cx="9372600" cy="457200"/>
          </a:xfrm>
          <a:prstGeom prst="rect">
            <a:avLst/>
          </a:prstGeom>
          <a:noFill/>
        </p:spPr>
        <p:txBody>
          <a:bodyPr wrap="square" anchor="t">
            <a:spAutoFit/>
          </a:bodyPr>
          <a:lstStyle/>
          <a:p>
            <a:pPr algn="l"/>
            <a:r>
              <a:rPr lang="en-US" sz="1400">
                <a:solidFill>
                  <a:srgbClr val="1F1F1F"/>
                </a:solidFill>
                <a:effectLst/>
                <a:latin typeface="Arial" panose="020B0604020202020204" pitchFamily="34" charset="0"/>
              </a:rPr>
              <a:t>RNA encountered a Detroit Public Schools recompete without a clear capture plan, minimal executive involvement in the RFP, and a late external consultant, despite the incumbent work making up over 25% of its business.</a:t>
            </a:r>
            <a:endParaRPr sz="1400" b="0" i="0" dirty="0">
              <a:solidFill>
                <a:srgbClr val="1F1F1F"/>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790497270"/>
              </p:ext>
            </p:extLst>
          </p:nvPr>
        </p:nvGraphicFramePr>
        <p:xfrm>
          <a:off x="640080" y="1828800"/>
          <a:ext cx="10972800" cy="3749039"/>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937259">
                <a:tc>
                  <a:txBody>
                    <a:bodyPr/>
                    <a:lstStyle/>
                    <a:p>
                      <a:r>
                        <a:rPr sz="1200" b="1" dirty="0">
                          <a:solidFill>
                            <a:srgbClr val="FFFFFF"/>
                          </a:solidFill>
                        </a:rPr>
                        <a:t>Stakeholder Group</a:t>
                      </a:r>
                    </a:p>
                  </a:txBody>
                  <a:tcPr>
                    <a:solidFill>
                      <a:srgbClr val="1F4E79"/>
                    </a:solidFill>
                  </a:tcPr>
                </a:tc>
                <a:tc>
                  <a:txBody>
                    <a:bodyPr/>
                    <a:lstStyle/>
                    <a:p>
                      <a:r>
                        <a:rPr sz="1200" b="1" dirty="0">
                          <a:solidFill>
                            <a:srgbClr val="FFFFFF"/>
                          </a:solidFill>
                        </a:rPr>
                        <a:t>Who Was Involved</a:t>
                      </a:r>
                    </a:p>
                  </a:txBody>
                  <a:tcPr>
                    <a:solidFill>
                      <a:srgbClr val="1F4E79"/>
                    </a:solidFill>
                  </a:tcPr>
                </a:tc>
                <a:tc>
                  <a:txBody>
                    <a:bodyPr/>
                    <a:lstStyle/>
                    <a:p>
                      <a:r>
                        <a:rPr sz="1200" b="1">
                          <a:solidFill>
                            <a:srgbClr val="FFFFFF"/>
                          </a:solidFill>
                        </a:rPr>
                        <a:t>Why They Mattered</a:t>
                      </a:r>
                    </a:p>
                  </a:txBody>
                  <a:tcPr>
                    <a:solidFill>
                      <a:srgbClr val="1F4E79"/>
                    </a:solidFill>
                  </a:tcPr>
                </a:tc>
                <a:extLst>
                  <a:ext uri="{0D108BD9-81ED-4DB2-BD59-A6C34878D82A}">
                    <a16:rowId xmlns:a16="http://schemas.microsoft.com/office/drawing/2014/main" val="10000"/>
                  </a:ext>
                </a:extLst>
              </a:tr>
              <a:tr h="937259">
                <a:tc>
                  <a:txBody>
                    <a:bodyPr/>
                    <a:lstStyle/>
                    <a:p>
                      <a:r>
                        <a:rPr sz="1100">
                          <a:solidFill>
                            <a:srgbClr val="000000"/>
                          </a:solidFill>
                        </a:rPr>
                        <a:t>Senior leaders</a:t>
                      </a:r>
                    </a:p>
                  </a:txBody>
                  <a:tcPr/>
                </a:tc>
                <a:tc>
                  <a:txBody>
                    <a:bodyPr/>
                    <a:lstStyle/>
                    <a:p>
                      <a:r>
                        <a:rPr sz="1100" dirty="0">
                          <a:solidFill>
                            <a:srgbClr val="000000"/>
                          </a:solidFill>
                        </a:rPr>
                        <a:t>Victoria </a:t>
                      </a:r>
                      <a:r>
                        <a:rPr lang="en-US" sz="1100" dirty="0">
                          <a:solidFill>
                            <a:srgbClr val="000000"/>
                          </a:solidFill>
                        </a:rPr>
                        <a:t>Arinze (CRO)</a:t>
                      </a:r>
                    </a:p>
                    <a:p>
                      <a:r>
                        <a:rPr sz="1100" dirty="0">
                          <a:solidFill>
                            <a:srgbClr val="000000"/>
                          </a:solidFill>
                        </a:rPr>
                        <a:t>Mufid Far</a:t>
                      </a:r>
                      <a:r>
                        <a:rPr lang="en-US" sz="1100" dirty="0">
                          <a:solidFill>
                            <a:srgbClr val="000000"/>
                          </a:solidFill>
                        </a:rPr>
                        <a:t>ha (CEO)</a:t>
                      </a:r>
                    </a:p>
                    <a:p>
                      <a:r>
                        <a:rPr sz="1100" dirty="0">
                          <a:solidFill>
                            <a:srgbClr val="000000"/>
                          </a:solidFill>
                        </a:rPr>
                        <a:t>Mohamm</a:t>
                      </a:r>
                      <a:r>
                        <a:rPr lang="en-US" sz="1100" dirty="0">
                          <a:solidFill>
                            <a:srgbClr val="000000"/>
                          </a:solidFill>
                        </a:rPr>
                        <a:t>a</a:t>
                      </a:r>
                      <a:r>
                        <a:rPr sz="1100" dirty="0">
                          <a:solidFill>
                            <a:srgbClr val="000000"/>
                          </a:solidFill>
                        </a:rPr>
                        <a:t>d </a:t>
                      </a:r>
                      <a:r>
                        <a:rPr lang="en-US" sz="1100" dirty="0">
                          <a:solidFill>
                            <a:srgbClr val="000000"/>
                          </a:solidFill>
                        </a:rPr>
                        <a:t>Mufid (COO)</a:t>
                      </a:r>
                    </a:p>
                    <a:p>
                      <a:r>
                        <a:rPr sz="1100" dirty="0">
                          <a:solidFill>
                            <a:srgbClr val="000000"/>
                          </a:solidFill>
                        </a:rPr>
                        <a:t>Brant Miller</a:t>
                      </a:r>
                      <a:r>
                        <a:rPr lang="en-US" sz="1100" dirty="0">
                          <a:solidFill>
                            <a:srgbClr val="000000"/>
                          </a:solidFill>
                        </a:rPr>
                        <a:t> (EVP, Ops)</a:t>
                      </a:r>
                      <a:endParaRPr sz="1100" dirty="0">
                        <a:solidFill>
                          <a:srgbClr val="000000"/>
                        </a:solidFill>
                      </a:endParaRPr>
                    </a:p>
                  </a:txBody>
                  <a:tcPr/>
                </a:tc>
                <a:tc>
                  <a:txBody>
                    <a:bodyPr/>
                    <a:lstStyle/>
                    <a:p>
                      <a:r>
                        <a:rPr sz="1100" dirty="0">
                          <a:solidFill>
                            <a:srgbClr val="000000"/>
                          </a:solidFill>
                        </a:rPr>
                        <a:t>Set direction, made decisions, and represented RNA in finalist activity</a:t>
                      </a:r>
                    </a:p>
                  </a:txBody>
                  <a:tcPr/>
                </a:tc>
                <a:extLst>
                  <a:ext uri="{0D108BD9-81ED-4DB2-BD59-A6C34878D82A}">
                    <a16:rowId xmlns:a16="http://schemas.microsoft.com/office/drawing/2014/main" val="10001"/>
                  </a:ext>
                </a:extLst>
              </a:tr>
              <a:tr h="937259">
                <a:tc>
                  <a:txBody>
                    <a:bodyPr/>
                    <a:lstStyle/>
                    <a:p>
                      <a:r>
                        <a:rPr sz="1100" dirty="0">
                          <a:solidFill>
                            <a:srgbClr val="000000"/>
                          </a:solidFill>
                        </a:rPr>
                        <a:t>Core delivery team</a:t>
                      </a:r>
                    </a:p>
                  </a:txBody>
                  <a:tcPr/>
                </a:tc>
                <a:tc>
                  <a:txBody>
                    <a:bodyPr/>
                    <a:lstStyle/>
                    <a:p>
                      <a:r>
                        <a:rPr sz="1100" dirty="0">
                          <a:solidFill>
                            <a:srgbClr val="000000"/>
                          </a:solidFill>
                        </a:rPr>
                        <a:t>Timothy Semenza</a:t>
                      </a:r>
                      <a:r>
                        <a:rPr lang="en-US" sz="1100" dirty="0">
                          <a:solidFill>
                            <a:srgbClr val="000000"/>
                          </a:solidFill>
                        </a:rPr>
                        <a:t> (Senior Prop. Manager)</a:t>
                      </a:r>
                    </a:p>
                    <a:p>
                      <a:r>
                        <a:rPr sz="1100" dirty="0">
                          <a:solidFill>
                            <a:srgbClr val="000000"/>
                          </a:solidFill>
                        </a:rPr>
                        <a:t>Chris </a:t>
                      </a:r>
                      <a:r>
                        <a:rPr lang="en-US" sz="1100" dirty="0">
                          <a:solidFill>
                            <a:srgbClr val="000000"/>
                          </a:solidFill>
                        </a:rPr>
                        <a:t>Arlen (Proposal Consultant)</a:t>
                      </a:r>
                      <a:endParaRPr sz="1100" dirty="0">
                        <a:solidFill>
                          <a:srgbClr val="000000"/>
                        </a:solidFill>
                      </a:endParaRPr>
                    </a:p>
                  </a:txBody>
                  <a:tcPr/>
                </a:tc>
                <a:tc>
                  <a:txBody>
                    <a:bodyPr/>
                    <a:lstStyle/>
                    <a:p>
                      <a:r>
                        <a:rPr sz="1100" dirty="0">
                          <a:solidFill>
                            <a:srgbClr val="000000"/>
                          </a:solidFill>
                        </a:rPr>
                        <a:t>Coordinated the pursuit and drafted the response</a:t>
                      </a:r>
                    </a:p>
                  </a:txBody>
                  <a:tcPr/>
                </a:tc>
                <a:extLst>
                  <a:ext uri="{0D108BD9-81ED-4DB2-BD59-A6C34878D82A}">
                    <a16:rowId xmlns:a16="http://schemas.microsoft.com/office/drawing/2014/main" val="10002"/>
                  </a:ext>
                </a:extLst>
              </a:tr>
              <a:tr h="937262">
                <a:tc>
                  <a:txBody>
                    <a:bodyPr/>
                    <a:lstStyle/>
                    <a:p>
                      <a:r>
                        <a:rPr sz="1100" dirty="0">
                          <a:solidFill>
                            <a:srgbClr val="000000"/>
                          </a:solidFill>
                        </a:rPr>
                        <a:t>Solution contributors</a:t>
                      </a:r>
                    </a:p>
                  </a:txBody>
                  <a:tcPr/>
                </a:tc>
                <a:tc>
                  <a:txBody>
                    <a:bodyPr/>
                    <a:lstStyle/>
                    <a:p>
                      <a:r>
                        <a:rPr sz="1100" dirty="0">
                          <a:solidFill>
                            <a:srgbClr val="000000"/>
                          </a:solidFill>
                        </a:rPr>
                        <a:t>Ann Couzins</a:t>
                      </a:r>
                      <a:r>
                        <a:rPr lang="en-US" sz="1100" dirty="0">
                          <a:solidFill>
                            <a:srgbClr val="000000"/>
                          </a:solidFill>
                        </a:rPr>
                        <a:t> (Senior Pricing Manager)</a:t>
                      </a:r>
                    </a:p>
                    <a:p>
                      <a:r>
                        <a:rPr sz="1100" dirty="0">
                          <a:solidFill>
                            <a:srgbClr val="000000"/>
                          </a:solidFill>
                        </a:rPr>
                        <a:t>Cheryl Hol</a:t>
                      </a:r>
                      <a:r>
                        <a:rPr lang="en-US" sz="1100" dirty="0">
                          <a:solidFill>
                            <a:srgbClr val="000000"/>
                          </a:solidFill>
                        </a:rPr>
                        <a:t>ley-</a:t>
                      </a:r>
                      <a:r>
                        <a:rPr sz="1100" dirty="0">
                          <a:solidFill>
                            <a:srgbClr val="000000"/>
                          </a:solidFill>
                        </a:rPr>
                        <a:t>Stant</a:t>
                      </a:r>
                      <a:r>
                        <a:rPr lang="en-US" sz="1100" dirty="0">
                          <a:solidFill>
                            <a:srgbClr val="000000"/>
                          </a:solidFill>
                        </a:rPr>
                        <a:t>on (Account Manager) </a:t>
                      </a:r>
                    </a:p>
                    <a:p>
                      <a:r>
                        <a:rPr lang="en-US" sz="1100" dirty="0">
                          <a:solidFill>
                            <a:srgbClr val="000000"/>
                          </a:solidFill>
                        </a:rPr>
                        <a:t>F</a:t>
                      </a:r>
                      <a:r>
                        <a:rPr sz="1100" dirty="0">
                          <a:solidFill>
                            <a:srgbClr val="000000"/>
                          </a:solidFill>
                        </a:rPr>
                        <a:t>inance, operations, IT</a:t>
                      </a:r>
                    </a:p>
                  </a:txBody>
                  <a:tcPr/>
                </a:tc>
                <a:tc>
                  <a:txBody>
                    <a:bodyPr/>
                    <a:lstStyle/>
                    <a:p>
                      <a:r>
                        <a:rPr sz="1100" dirty="0">
                          <a:solidFill>
                            <a:srgbClr val="000000"/>
                          </a:solidFill>
                        </a:rPr>
                        <a:t>Supplied pricing, staffing, operational, and engineering inputs needed for a credible response</a:t>
                      </a:r>
                    </a:p>
                  </a:txBody>
                  <a:tcPr/>
                </a:tc>
                <a:extLst>
                  <a:ext uri="{0D108BD9-81ED-4DB2-BD59-A6C34878D82A}">
                    <a16:rowId xmlns:a16="http://schemas.microsoft.com/office/drawing/2014/main" val="10003"/>
                  </a:ext>
                </a:extLst>
              </a:tr>
            </a:tbl>
          </a:graphicData>
        </a:graphic>
      </p:graphicFrame>
      <p:sp>
        <p:nvSpPr>
          <p:cNvPr id="5" name="TextBox 4"/>
          <p:cNvSpPr txBox="1"/>
          <p:nvPr/>
        </p:nvSpPr>
        <p:spPr>
          <a:xfrm>
            <a:off x="640080" y="6236208"/>
            <a:ext cx="10698480" cy="256032"/>
          </a:xfrm>
          <a:prstGeom prst="rect">
            <a:avLst/>
          </a:prstGeom>
          <a:noFill/>
        </p:spPr>
        <p:txBody>
          <a:bodyPr wrap="square" anchor="t">
            <a:spAutoFit/>
          </a:bodyPr>
          <a:lstStyle/>
          <a:p>
            <a:pPr algn="l"/>
            <a:r>
              <a:rPr sz="1100" b="0" i="1">
                <a:solidFill>
                  <a:srgbClr val="595959"/>
                </a:solidFill>
              </a:rPr>
              <a:t>Proposal governance had to replace missing capture discipline before the team could compete credibly.</a:t>
            </a:r>
          </a:p>
        </p:txBody>
      </p:sp>
    </p:spTree>
    <p:extLst>
      <p:ext uri="{BB962C8B-B14F-4D97-AF65-F5344CB8AC3E}">
        <p14:creationId xmlns:p14="http://schemas.microsoft.com/office/powerpoint/2010/main" val="389397234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Stakeholder Engagement and Communication</a:t>
            </a:r>
          </a:p>
        </p:txBody>
      </p:sp>
      <p:sp>
        <p:nvSpPr>
          <p:cNvPr id="3" name="TextBox 2"/>
          <p:cNvSpPr txBox="1"/>
          <p:nvPr/>
        </p:nvSpPr>
        <p:spPr>
          <a:xfrm>
            <a:off x="713232" y="1353312"/>
            <a:ext cx="9372600" cy="457200"/>
          </a:xfrm>
          <a:prstGeom prst="rect">
            <a:avLst/>
          </a:prstGeom>
          <a:noFill/>
        </p:spPr>
        <p:txBody>
          <a:bodyPr wrap="square" anchor="t">
            <a:spAutoFit/>
          </a:bodyPr>
          <a:lstStyle/>
          <a:p>
            <a:pPr algn="l"/>
            <a:r>
              <a:rPr sz="1400" b="0" i="0">
                <a:solidFill>
                  <a:srgbClr val="1F1F1F"/>
                </a:solidFill>
              </a:rPr>
              <a:t>Direct engagement with senior and additional stakeholders was critical because the organization had limited preparation and I had to lead without formal authority.</a:t>
            </a:r>
          </a:p>
        </p:txBody>
      </p:sp>
      <p:graphicFrame>
        <p:nvGraphicFramePr>
          <p:cNvPr id="4" name="Table 3"/>
          <p:cNvGraphicFramePr>
            <a:graphicFrameLocks noGrp="1"/>
          </p:cNvGraphicFramePr>
          <p:nvPr>
            <p:extLst>
              <p:ext uri="{D42A27DB-BD31-4B8C-83A1-F6EECF244321}">
                <p14:modId xmlns:p14="http://schemas.microsoft.com/office/powerpoint/2010/main" val="1301859362"/>
              </p:ext>
            </p:extLst>
          </p:nvPr>
        </p:nvGraphicFramePr>
        <p:xfrm>
          <a:off x="640080" y="1828800"/>
          <a:ext cx="10972800" cy="3749039"/>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937259">
                <a:tc>
                  <a:txBody>
                    <a:bodyPr/>
                    <a:lstStyle/>
                    <a:p>
                      <a:r>
                        <a:rPr sz="1200" b="1" dirty="0">
                          <a:solidFill>
                            <a:srgbClr val="FFFFFF"/>
                          </a:solidFill>
                        </a:rPr>
                        <a:t>Stakeholder Group</a:t>
                      </a:r>
                    </a:p>
                  </a:txBody>
                  <a:tcPr>
                    <a:solidFill>
                      <a:srgbClr val="1F4E79"/>
                    </a:solidFill>
                  </a:tcPr>
                </a:tc>
                <a:tc>
                  <a:txBody>
                    <a:bodyPr/>
                    <a:lstStyle/>
                    <a:p>
                      <a:r>
                        <a:rPr sz="1200" b="1">
                          <a:solidFill>
                            <a:srgbClr val="FFFFFF"/>
                          </a:solidFill>
                        </a:rPr>
                        <a:t>How I Engaged Them</a:t>
                      </a:r>
                    </a:p>
                  </a:txBody>
                  <a:tcPr>
                    <a:solidFill>
                      <a:srgbClr val="1F4E79"/>
                    </a:solidFill>
                  </a:tcPr>
                </a:tc>
                <a:tc>
                  <a:txBody>
                    <a:bodyPr/>
                    <a:lstStyle/>
                    <a:p>
                      <a:r>
                        <a:rPr sz="1200" b="1">
                          <a:solidFill>
                            <a:srgbClr val="FFFFFF"/>
                          </a:solidFill>
                        </a:rPr>
                        <a:t>Evidence of Leadership</a:t>
                      </a:r>
                    </a:p>
                  </a:txBody>
                  <a:tcPr>
                    <a:solidFill>
                      <a:srgbClr val="1F4E79"/>
                    </a:solidFill>
                  </a:tcPr>
                </a:tc>
                <a:extLst>
                  <a:ext uri="{0D108BD9-81ED-4DB2-BD59-A6C34878D82A}">
                    <a16:rowId xmlns:a16="http://schemas.microsoft.com/office/drawing/2014/main" val="10000"/>
                  </a:ext>
                </a:extLst>
              </a:tr>
              <a:tr h="937259">
                <a:tc>
                  <a:txBody>
                    <a:bodyPr/>
                    <a:lstStyle/>
                    <a:p>
                      <a:r>
                        <a:rPr sz="1100">
                          <a:solidFill>
                            <a:srgbClr val="000000"/>
                          </a:solidFill>
                        </a:rPr>
                        <a:t>Senior leaders</a:t>
                      </a:r>
                    </a:p>
                  </a:txBody>
                  <a:tcPr/>
                </a:tc>
                <a:tc>
                  <a:txBody>
                    <a:bodyPr/>
                    <a:lstStyle/>
                    <a:p>
                      <a:r>
                        <a:rPr sz="1100">
                          <a:solidFill>
                            <a:srgbClr val="000000"/>
                          </a:solidFill>
                        </a:rPr>
                        <a:t>Frequent working sessions, at peak as much as twice daily, plus live decision and review sessions</a:t>
                      </a:r>
                    </a:p>
                  </a:txBody>
                  <a:tcPr/>
                </a:tc>
                <a:tc>
                  <a:txBody>
                    <a:bodyPr/>
                    <a:lstStyle/>
                    <a:p>
                      <a:r>
                        <a:rPr sz="1100" dirty="0">
                          <a:solidFill>
                            <a:srgbClr val="000000"/>
                          </a:solidFill>
                        </a:rPr>
                        <a:t>I set direction, aligned next actions, and led the </a:t>
                      </a:r>
                      <a:r>
                        <a:rPr lang="en-US" sz="1100" dirty="0">
                          <a:solidFill>
                            <a:srgbClr val="000000"/>
                          </a:solidFill>
                        </a:rPr>
                        <a:t>live, in-person</a:t>
                      </a:r>
                      <a:r>
                        <a:rPr sz="1100" dirty="0">
                          <a:solidFill>
                            <a:srgbClr val="000000"/>
                          </a:solidFill>
                        </a:rPr>
                        <a:t> finalist strategy discussion under pressure</a:t>
                      </a:r>
                    </a:p>
                  </a:txBody>
                  <a:tcPr/>
                </a:tc>
                <a:extLst>
                  <a:ext uri="{0D108BD9-81ED-4DB2-BD59-A6C34878D82A}">
                    <a16:rowId xmlns:a16="http://schemas.microsoft.com/office/drawing/2014/main" val="10001"/>
                  </a:ext>
                </a:extLst>
              </a:tr>
              <a:tr h="937259">
                <a:tc>
                  <a:txBody>
                    <a:bodyPr/>
                    <a:lstStyle/>
                    <a:p>
                      <a:r>
                        <a:rPr sz="1100">
                          <a:solidFill>
                            <a:srgbClr val="000000"/>
                          </a:solidFill>
                        </a:rPr>
                        <a:t>Pricing and solution contributors</a:t>
                      </a:r>
                    </a:p>
                  </a:txBody>
                  <a:tcPr/>
                </a:tc>
                <a:tc>
                  <a:txBody>
                    <a:bodyPr/>
                    <a:lstStyle/>
                    <a:p>
                      <a:r>
                        <a:rPr sz="1100">
                          <a:solidFill>
                            <a:srgbClr val="000000"/>
                          </a:solidFill>
                        </a:rPr>
                        <a:t>Live interviews, pricing and staffing mediation, compliance tracking, and focused review of bid-specific changes</a:t>
                      </a:r>
                    </a:p>
                  </a:txBody>
                  <a:tcPr/>
                </a:tc>
                <a:tc>
                  <a:txBody>
                    <a:bodyPr/>
                    <a:lstStyle/>
                    <a:p>
                      <a:r>
                        <a:rPr sz="1100">
                          <a:solidFill>
                            <a:srgbClr val="000000"/>
                          </a:solidFill>
                        </a:rPr>
                        <a:t>I translated pricing and operational discussion into compliant narrative and kept disputed issues from stalling the bid</a:t>
                      </a:r>
                    </a:p>
                  </a:txBody>
                  <a:tcPr/>
                </a:tc>
                <a:extLst>
                  <a:ext uri="{0D108BD9-81ED-4DB2-BD59-A6C34878D82A}">
                    <a16:rowId xmlns:a16="http://schemas.microsoft.com/office/drawing/2014/main" val="10002"/>
                  </a:ext>
                </a:extLst>
              </a:tr>
              <a:tr h="937262">
                <a:tc>
                  <a:txBody>
                    <a:bodyPr/>
                    <a:lstStyle/>
                    <a:p>
                      <a:r>
                        <a:rPr sz="1100">
                          <a:solidFill>
                            <a:srgbClr val="000000"/>
                          </a:solidFill>
                        </a:rPr>
                        <a:t>Consultant and support team</a:t>
                      </a:r>
                    </a:p>
                  </a:txBody>
                  <a:tcPr/>
                </a:tc>
                <a:tc>
                  <a:txBody>
                    <a:bodyPr/>
                    <a:lstStyle/>
                    <a:p>
                      <a:r>
                        <a:rPr sz="1100">
                          <a:solidFill>
                            <a:srgbClr val="000000"/>
                          </a:solidFill>
                        </a:rPr>
                        <a:t>Shared company context, managed drafting split, and maintained SharePoint submission structure</a:t>
                      </a:r>
                    </a:p>
                  </a:txBody>
                  <a:tcPr/>
                </a:tc>
                <a:tc>
                  <a:txBody>
                    <a:bodyPr/>
                    <a:lstStyle/>
                    <a:p>
                      <a:r>
                        <a:rPr sz="1100" dirty="0">
                          <a:solidFill>
                            <a:srgbClr val="000000"/>
                          </a:solidFill>
                        </a:rPr>
                        <a:t>I remained the single point of coordination while enabling useful support from Chris </a:t>
                      </a:r>
                      <a:r>
                        <a:rPr lang="en-US" sz="1100" dirty="0">
                          <a:solidFill>
                            <a:srgbClr val="000000"/>
                          </a:solidFill>
                        </a:rPr>
                        <a:t>Arlen</a:t>
                      </a:r>
                      <a:endParaRPr sz="1100" dirty="0">
                        <a:solidFill>
                          <a:srgbClr val="000000"/>
                        </a:solidFill>
                      </a:endParaRPr>
                    </a:p>
                  </a:txBody>
                  <a:tcPr/>
                </a:tc>
                <a:extLst>
                  <a:ext uri="{0D108BD9-81ED-4DB2-BD59-A6C34878D82A}">
                    <a16:rowId xmlns:a16="http://schemas.microsoft.com/office/drawing/2014/main" val="10003"/>
                  </a:ext>
                </a:extLst>
              </a:tr>
            </a:tbl>
          </a:graphicData>
        </a:graphic>
      </p:graphicFrame>
      <p:sp>
        <p:nvSpPr>
          <p:cNvPr id="5" name="TextBox 4"/>
          <p:cNvSpPr txBox="1"/>
          <p:nvPr/>
        </p:nvSpPr>
        <p:spPr>
          <a:xfrm>
            <a:off x="640080" y="6236208"/>
            <a:ext cx="10698480" cy="256032"/>
          </a:xfrm>
          <a:prstGeom prst="rect">
            <a:avLst/>
          </a:prstGeom>
          <a:noFill/>
        </p:spPr>
        <p:txBody>
          <a:bodyPr wrap="square" anchor="t">
            <a:spAutoFit/>
          </a:bodyPr>
          <a:lstStyle/>
          <a:p>
            <a:pPr algn="l"/>
            <a:r>
              <a:rPr sz="1100" b="0" i="1">
                <a:solidFill>
                  <a:srgbClr val="595959"/>
                </a:solidFill>
              </a:rPr>
              <a:t>Direct engagement and communication created alignment where authority alone would not.</a:t>
            </a:r>
          </a:p>
        </p:txBody>
      </p:sp>
    </p:spTree>
    <p:extLst>
      <p:ext uri="{BB962C8B-B14F-4D97-AF65-F5344CB8AC3E}">
        <p14:creationId xmlns:p14="http://schemas.microsoft.com/office/powerpoint/2010/main" val="350797039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B83FC-53AF-4DD6-86E2-69B724171789}"/>
              </a:ext>
            </a:extLst>
          </p:cNvPr>
          <p:cNvSpPr>
            <a:spLocks noGrp="1"/>
          </p:cNvSpPr>
          <p:nvPr>
            <p:ph type="title"/>
          </p:nvPr>
        </p:nvSpPr>
        <p:spPr>
          <a:xfrm>
            <a:off x="609599" y="206561"/>
            <a:ext cx="10972800" cy="1143000"/>
          </a:xfrm>
        </p:spPr>
        <p:txBody>
          <a:bodyPr/>
          <a:lstStyle/>
          <a:p>
            <a:r>
              <a:t>Tasks</a:t>
            </a:r>
          </a:p>
        </p:txBody>
      </p:sp>
      <p:sp>
        <p:nvSpPr>
          <p:cNvPr id="3" name="TextBox 2"/>
          <p:cNvSpPr txBox="1"/>
          <p:nvPr/>
        </p:nvSpPr>
        <p:spPr>
          <a:xfrm>
            <a:off x="713232" y="1353312"/>
            <a:ext cx="9372600" cy="457200"/>
          </a:xfrm>
          <a:prstGeom prst="rect">
            <a:avLst/>
          </a:prstGeom>
          <a:noFill/>
        </p:spPr>
        <p:txBody>
          <a:bodyPr wrap="square" anchor="t">
            <a:spAutoFit/>
          </a:bodyPr>
          <a:lstStyle/>
          <a:p>
            <a:pPr algn="l"/>
            <a:r>
              <a:rPr sz="1400" b="0" i="0" dirty="0">
                <a:solidFill>
                  <a:srgbClr val="1F1F1F"/>
                </a:solidFill>
              </a:rPr>
              <a:t>I stabilized the pursuit through five leadership tasks that gave the team structure, accountability, and decision discipline.</a:t>
            </a:r>
          </a:p>
        </p:txBody>
      </p:sp>
      <p:graphicFrame>
        <p:nvGraphicFramePr>
          <p:cNvPr id="4" name="Table 3"/>
          <p:cNvGraphicFramePr>
            <a:graphicFrameLocks noGrp="1"/>
          </p:cNvGraphicFramePr>
          <p:nvPr>
            <p:extLst>
              <p:ext uri="{D42A27DB-BD31-4B8C-83A1-F6EECF244321}">
                <p14:modId xmlns:p14="http://schemas.microsoft.com/office/powerpoint/2010/main" val="9440320"/>
              </p:ext>
            </p:extLst>
          </p:nvPr>
        </p:nvGraphicFramePr>
        <p:xfrm>
          <a:off x="640080" y="1828800"/>
          <a:ext cx="10972800" cy="3749039"/>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624839">
                <a:tc>
                  <a:txBody>
                    <a:bodyPr/>
                    <a:lstStyle/>
                    <a:p>
                      <a:r>
                        <a:rPr sz="1200" b="1" dirty="0">
                          <a:solidFill>
                            <a:srgbClr val="FFFFFF"/>
                          </a:solidFill>
                        </a:rPr>
                        <a:t>Task</a:t>
                      </a:r>
                    </a:p>
                  </a:txBody>
                  <a:tcPr>
                    <a:solidFill>
                      <a:srgbClr val="1F4E79"/>
                    </a:solidFill>
                  </a:tcPr>
                </a:tc>
                <a:tc>
                  <a:txBody>
                    <a:bodyPr/>
                    <a:lstStyle/>
                    <a:p>
                      <a:r>
                        <a:rPr sz="1200" b="1">
                          <a:solidFill>
                            <a:srgbClr val="FFFFFF"/>
                          </a:solidFill>
                        </a:rPr>
                        <a:t>Why It Was Necessary</a:t>
                      </a:r>
                    </a:p>
                  </a:txBody>
                  <a:tcPr>
                    <a:solidFill>
                      <a:srgbClr val="1F4E79"/>
                    </a:solidFill>
                  </a:tcPr>
                </a:tc>
                <a:tc>
                  <a:txBody>
                    <a:bodyPr/>
                    <a:lstStyle/>
                    <a:p>
                      <a:r>
                        <a:rPr sz="1200" b="1">
                          <a:solidFill>
                            <a:srgbClr val="FFFFFF"/>
                          </a:solidFill>
                        </a:rPr>
                        <a:t>Main Stakeholders Impacted</a:t>
                      </a:r>
                    </a:p>
                  </a:txBody>
                  <a:tcPr>
                    <a:solidFill>
                      <a:srgbClr val="1F4E79"/>
                    </a:solidFill>
                  </a:tcPr>
                </a:tc>
                <a:extLst>
                  <a:ext uri="{0D108BD9-81ED-4DB2-BD59-A6C34878D82A}">
                    <a16:rowId xmlns:a16="http://schemas.microsoft.com/office/drawing/2014/main" val="10000"/>
                  </a:ext>
                </a:extLst>
              </a:tr>
              <a:tr h="624839">
                <a:tc>
                  <a:txBody>
                    <a:bodyPr/>
                    <a:lstStyle/>
                    <a:p>
                      <a:r>
                        <a:rPr sz="1100" dirty="0">
                          <a:solidFill>
                            <a:srgbClr val="000000"/>
                          </a:solidFill>
                        </a:rPr>
                        <a:t>Establish bid governance and schedule</a:t>
                      </a:r>
                    </a:p>
                  </a:txBody>
                  <a:tcPr/>
                </a:tc>
                <a:tc>
                  <a:txBody>
                    <a:bodyPr/>
                    <a:lstStyle/>
                    <a:p>
                      <a:r>
                        <a:rPr sz="1100">
                          <a:solidFill>
                            <a:srgbClr val="000000"/>
                          </a:solidFill>
                        </a:rPr>
                        <a:t>No usable capture plan or agreed review cadence existed at release</a:t>
                      </a:r>
                    </a:p>
                  </a:txBody>
                  <a:tcPr/>
                </a:tc>
                <a:tc>
                  <a:txBody>
                    <a:bodyPr/>
                    <a:lstStyle/>
                    <a:p>
                      <a:r>
                        <a:rPr sz="1100">
                          <a:solidFill>
                            <a:srgbClr val="000000"/>
                          </a:solidFill>
                        </a:rPr>
                        <a:t>All senior stakeholders and the external consultant</a:t>
                      </a:r>
                    </a:p>
                  </a:txBody>
                  <a:tcPr/>
                </a:tc>
                <a:extLst>
                  <a:ext uri="{0D108BD9-81ED-4DB2-BD59-A6C34878D82A}">
                    <a16:rowId xmlns:a16="http://schemas.microsoft.com/office/drawing/2014/main" val="10001"/>
                  </a:ext>
                </a:extLst>
              </a:tr>
              <a:tr h="624839">
                <a:tc>
                  <a:txBody>
                    <a:bodyPr/>
                    <a:lstStyle/>
                    <a:p>
                      <a:r>
                        <a:rPr sz="1100">
                          <a:solidFill>
                            <a:srgbClr val="000000"/>
                          </a:solidFill>
                        </a:rPr>
                        <a:t>Develop evaluator and win-theme strategy</a:t>
                      </a:r>
                    </a:p>
                  </a:txBody>
                  <a:tcPr/>
                </a:tc>
                <a:tc>
                  <a:txBody>
                    <a:bodyPr/>
                    <a:lstStyle/>
                    <a:p>
                      <a:r>
                        <a:rPr sz="1100">
                          <a:solidFill>
                            <a:srgbClr val="000000"/>
                          </a:solidFill>
                        </a:rPr>
                        <a:t>The team needed a customer-centered strategy instead of an internally driven narrative</a:t>
                      </a:r>
                    </a:p>
                  </a:txBody>
                  <a:tcPr/>
                </a:tc>
                <a:tc>
                  <a:txBody>
                    <a:bodyPr/>
                    <a:lstStyle/>
                    <a:p>
                      <a:r>
                        <a:rPr sz="1100" dirty="0">
                          <a:solidFill>
                            <a:srgbClr val="000000"/>
                          </a:solidFill>
                        </a:rPr>
                        <a:t>RNA executives, </a:t>
                      </a:r>
                      <a:r>
                        <a:rPr lang="en-US" sz="1100" dirty="0">
                          <a:solidFill>
                            <a:srgbClr val="000000"/>
                          </a:solidFill>
                        </a:rPr>
                        <a:t>Account Management</a:t>
                      </a:r>
                      <a:r>
                        <a:rPr sz="1100" dirty="0">
                          <a:solidFill>
                            <a:srgbClr val="000000"/>
                          </a:solidFill>
                        </a:rPr>
                        <a:t>, and presentation speakers</a:t>
                      </a:r>
                    </a:p>
                  </a:txBody>
                  <a:tcPr/>
                </a:tc>
                <a:extLst>
                  <a:ext uri="{0D108BD9-81ED-4DB2-BD59-A6C34878D82A}">
                    <a16:rowId xmlns:a16="http://schemas.microsoft.com/office/drawing/2014/main" val="10002"/>
                  </a:ext>
                </a:extLst>
              </a:tr>
              <a:tr h="624839">
                <a:tc>
                  <a:txBody>
                    <a:bodyPr/>
                    <a:lstStyle/>
                    <a:p>
                      <a:r>
                        <a:rPr sz="1100">
                          <a:solidFill>
                            <a:srgbClr val="000000"/>
                          </a:solidFill>
                        </a:rPr>
                        <a:t>Elicit and structure SME input</a:t>
                      </a:r>
                    </a:p>
                  </a:txBody>
                  <a:tcPr/>
                </a:tc>
                <a:tc>
                  <a:txBody>
                    <a:bodyPr/>
                    <a:lstStyle/>
                    <a:p>
                      <a:r>
                        <a:rPr sz="1100">
                          <a:solidFill>
                            <a:srgbClr val="000000"/>
                          </a:solidFill>
                        </a:rPr>
                        <a:t>Live operational knowledge had to be turned into compliant proposal content</a:t>
                      </a:r>
                    </a:p>
                  </a:txBody>
                  <a:tcPr/>
                </a:tc>
                <a:tc>
                  <a:txBody>
                    <a:bodyPr/>
                    <a:lstStyle/>
                    <a:p>
                      <a:r>
                        <a:rPr sz="1100" dirty="0">
                          <a:solidFill>
                            <a:srgbClr val="000000"/>
                          </a:solidFill>
                        </a:rPr>
                        <a:t>Pricing, operations, engineering, and </a:t>
                      </a:r>
                      <a:r>
                        <a:rPr lang="en-US" sz="1100" dirty="0">
                          <a:solidFill>
                            <a:srgbClr val="000000"/>
                          </a:solidFill>
                        </a:rPr>
                        <a:t>Account Management</a:t>
                      </a:r>
                      <a:endParaRPr sz="1100" dirty="0">
                        <a:solidFill>
                          <a:srgbClr val="000000"/>
                        </a:solidFill>
                      </a:endParaRPr>
                    </a:p>
                  </a:txBody>
                  <a:tcPr/>
                </a:tc>
                <a:extLst>
                  <a:ext uri="{0D108BD9-81ED-4DB2-BD59-A6C34878D82A}">
                    <a16:rowId xmlns:a16="http://schemas.microsoft.com/office/drawing/2014/main" val="10003"/>
                  </a:ext>
                </a:extLst>
              </a:tr>
              <a:tr h="624839">
                <a:tc>
                  <a:txBody>
                    <a:bodyPr/>
                    <a:lstStyle/>
                    <a:p>
                      <a:r>
                        <a:rPr sz="1100">
                          <a:solidFill>
                            <a:srgbClr val="000000"/>
                          </a:solidFill>
                        </a:rPr>
                        <a:t>Draft and quality-control content</a:t>
                      </a:r>
                    </a:p>
                  </a:txBody>
                  <a:tcPr/>
                </a:tc>
                <a:tc>
                  <a:txBody>
                    <a:bodyPr/>
                    <a:lstStyle/>
                    <a:p>
                      <a:r>
                        <a:rPr sz="1100">
                          <a:solidFill>
                            <a:srgbClr val="000000"/>
                          </a:solidFill>
                        </a:rPr>
                        <a:t>The written response and finalist materials had to stay aligned and submission-ready</a:t>
                      </a:r>
                    </a:p>
                  </a:txBody>
                  <a:tcPr/>
                </a:tc>
                <a:tc>
                  <a:txBody>
                    <a:bodyPr/>
                    <a:lstStyle/>
                    <a:p>
                      <a:r>
                        <a:rPr sz="1100">
                          <a:solidFill>
                            <a:srgbClr val="000000"/>
                          </a:solidFill>
                        </a:rPr>
                        <a:t>Consultant, executives, reviewers, and evaluators</a:t>
                      </a:r>
                    </a:p>
                  </a:txBody>
                  <a:tcPr/>
                </a:tc>
                <a:extLst>
                  <a:ext uri="{0D108BD9-81ED-4DB2-BD59-A6C34878D82A}">
                    <a16:rowId xmlns:a16="http://schemas.microsoft.com/office/drawing/2014/main" val="10004"/>
                  </a:ext>
                </a:extLst>
              </a:tr>
              <a:tr h="624844">
                <a:tc>
                  <a:txBody>
                    <a:bodyPr/>
                    <a:lstStyle/>
                    <a:p>
                      <a:r>
                        <a:rPr sz="1100">
                          <a:solidFill>
                            <a:srgbClr val="000000"/>
                          </a:solidFill>
                        </a:rPr>
                        <a:t>Lead review and submission readiness</a:t>
                      </a:r>
                    </a:p>
                  </a:txBody>
                  <a:tcPr/>
                </a:tc>
                <a:tc>
                  <a:txBody>
                    <a:bodyPr/>
                    <a:lstStyle/>
                    <a:p>
                      <a:r>
                        <a:rPr sz="1100">
                          <a:solidFill>
                            <a:srgbClr val="000000"/>
                          </a:solidFill>
                        </a:rPr>
                        <a:t>Readiness could not be left to last-minute judgment</a:t>
                      </a:r>
                    </a:p>
                  </a:txBody>
                  <a:tcPr/>
                </a:tc>
                <a:tc>
                  <a:txBody>
                    <a:bodyPr/>
                    <a:lstStyle/>
                    <a:p>
                      <a:r>
                        <a:rPr sz="1100">
                          <a:solidFill>
                            <a:srgbClr val="000000"/>
                          </a:solidFill>
                        </a:rPr>
                        <a:t>Executive reviewers, consultant, and submission support</a:t>
                      </a:r>
                    </a:p>
                  </a:txBody>
                  <a:tcPr/>
                </a:tc>
                <a:extLst>
                  <a:ext uri="{0D108BD9-81ED-4DB2-BD59-A6C34878D82A}">
                    <a16:rowId xmlns:a16="http://schemas.microsoft.com/office/drawing/2014/main" val="10005"/>
                  </a:ext>
                </a:extLst>
              </a:tr>
            </a:tbl>
          </a:graphicData>
        </a:graphic>
      </p:graphicFrame>
      <p:sp>
        <p:nvSpPr>
          <p:cNvPr id="5" name="TextBox 4"/>
          <p:cNvSpPr txBox="1"/>
          <p:nvPr/>
        </p:nvSpPr>
        <p:spPr>
          <a:xfrm>
            <a:off x="640080" y="6236208"/>
            <a:ext cx="10698480" cy="256032"/>
          </a:xfrm>
          <a:prstGeom prst="rect">
            <a:avLst/>
          </a:prstGeom>
          <a:noFill/>
        </p:spPr>
        <p:txBody>
          <a:bodyPr wrap="square" anchor="t">
            <a:spAutoFit/>
          </a:bodyPr>
          <a:lstStyle/>
          <a:p>
            <a:pPr algn="l"/>
            <a:r>
              <a:rPr sz="1100" b="0" i="1">
                <a:solidFill>
                  <a:srgbClr val="595959"/>
                </a:solidFill>
              </a:rPr>
              <a:t>Clear task ownership turned a fragmented effort into a manageable response.</a:t>
            </a:r>
          </a:p>
        </p:txBody>
      </p:sp>
    </p:spTree>
    <p:extLst>
      <p:ext uri="{BB962C8B-B14F-4D97-AF65-F5344CB8AC3E}">
        <p14:creationId xmlns:p14="http://schemas.microsoft.com/office/powerpoint/2010/main" val="630952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B83FC-53AF-4DD6-86E2-69B724171789}"/>
              </a:ext>
            </a:extLst>
          </p:cNvPr>
          <p:cNvSpPr>
            <a:spLocks noGrp="1"/>
          </p:cNvSpPr>
          <p:nvPr>
            <p:ph type="title"/>
          </p:nvPr>
        </p:nvSpPr>
        <p:spPr/>
        <p:txBody>
          <a:bodyPr/>
          <a:lstStyle/>
          <a:p>
            <a:r>
              <a:t>Activities</a:t>
            </a:r>
          </a:p>
        </p:txBody>
      </p:sp>
      <p:sp>
        <p:nvSpPr>
          <p:cNvPr id="3" name="TextBox 2"/>
          <p:cNvSpPr txBox="1"/>
          <p:nvPr/>
        </p:nvSpPr>
        <p:spPr>
          <a:xfrm>
            <a:off x="713232" y="1353312"/>
            <a:ext cx="9372600" cy="457200"/>
          </a:xfrm>
          <a:prstGeom prst="rect">
            <a:avLst/>
          </a:prstGeom>
          <a:noFill/>
        </p:spPr>
        <p:txBody>
          <a:bodyPr wrap="square" anchor="t">
            <a:spAutoFit/>
          </a:bodyPr>
          <a:lstStyle/>
          <a:p>
            <a:pPr algn="l"/>
            <a:r>
              <a:rPr sz="1400" b="0" i="0">
                <a:solidFill>
                  <a:srgbClr val="1F1F1F"/>
                </a:solidFill>
              </a:rPr>
              <a:t>I used a milestone-led operating cadence to keep the pursuit on track from RFP receipt through two finalist rounds.</a:t>
            </a:r>
          </a:p>
        </p:txBody>
      </p:sp>
      <p:sp>
        <p:nvSpPr>
          <p:cNvPr id="5" name="TextBox 4"/>
          <p:cNvSpPr txBox="1"/>
          <p:nvPr/>
        </p:nvSpPr>
        <p:spPr>
          <a:xfrm>
            <a:off x="841248" y="5504688"/>
            <a:ext cx="10149840" cy="438912"/>
          </a:xfrm>
          <a:prstGeom prst="rect">
            <a:avLst/>
          </a:prstGeom>
          <a:noFill/>
        </p:spPr>
        <p:txBody>
          <a:bodyPr wrap="square">
            <a:spAutoFit/>
          </a:bodyPr>
          <a:lstStyle/>
          <a:p>
            <a:pPr>
              <a:defRPr sz="1050">
                <a:solidFill>
                  <a:srgbClr val="1F3663"/>
                </a:solidFill>
              </a:defRPr>
            </a:pPr>
            <a:r>
              <a:t>Cadence peaked at twice daily with senior leaders, while AI and automation accelerated planning, compliance extraction, and draft production inside a candidate-led process.</a:t>
            </a:r>
          </a:p>
        </p:txBody>
      </p:sp>
      <p:sp>
        <p:nvSpPr>
          <p:cNvPr id="6" name="TextBox 5"/>
          <p:cNvSpPr txBox="1"/>
          <p:nvPr/>
        </p:nvSpPr>
        <p:spPr>
          <a:xfrm>
            <a:off x="640080" y="6236208"/>
            <a:ext cx="10698480" cy="256032"/>
          </a:xfrm>
          <a:prstGeom prst="rect">
            <a:avLst/>
          </a:prstGeom>
          <a:noFill/>
        </p:spPr>
        <p:txBody>
          <a:bodyPr wrap="square" anchor="t">
            <a:spAutoFit/>
          </a:bodyPr>
          <a:lstStyle/>
          <a:p>
            <a:pPr algn="l"/>
            <a:r>
              <a:rPr sz="1100" b="0" i="1">
                <a:solidFill>
                  <a:srgbClr val="595959"/>
                </a:solidFill>
              </a:rPr>
              <a:t>Automated planning and recurring governance made a short public-sector timeline executable.</a:t>
            </a:r>
          </a:p>
        </p:txBody>
      </p:sp>
      <p:cxnSp>
        <p:nvCxnSpPr>
          <p:cNvPr id="7" name="Straight Connector 6">
            <a:extLst>
              <a:ext uri="{FF2B5EF4-FFF2-40B4-BE49-F238E27FC236}">
                <a16:creationId xmlns:a16="http://schemas.microsoft.com/office/drawing/2014/main" id="{CD834EF0-74BD-104D-3149-5C456A8EDB2D}"/>
              </a:ext>
            </a:extLst>
          </p:cNvPr>
          <p:cNvCxnSpPr/>
          <p:nvPr/>
        </p:nvCxnSpPr>
        <p:spPr bwMode="auto">
          <a:xfrm>
            <a:off x="932688" y="2231136"/>
            <a:ext cx="10040112" cy="0"/>
          </a:xfrm>
          <a:prstGeom prst="line">
            <a:avLst/>
          </a:prstGeom>
          <a:solidFill>
            <a:schemeClr val="accent1"/>
          </a:solidFill>
          <a:ln w="15875" cap="flat" cmpd="sng" algn="ctr">
            <a:solidFill>
              <a:srgbClr val="ABBAD0"/>
            </a:solidFill>
            <a:prstDash val="solid"/>
            <a:round/>
            <a:headEnd type="none" w="med" len="med"/>
            <a:tailEnd type="none" w="med" len="med"/>
          </a:ln>
          <a:effectLst/>
        </p:spPr>
      </p:cxnSp>
      <p:sp>
        <p:nvSpPr>
          <p:cNvPr id="8" name="Rectangle: Rounded Corners 7">
            <a:extLst>
              <a:ext uri="{FF2B5EF4-FFF2-40B4-BE49-F238E27FC236}">
                <a16:creationId xmlns:a16="http://schemas.microsoft.com/office/drawing/2014/main" id="{9DFE76CC-83C9-BB4C-76AB-90AA94EA1C18}"/>
              </a:ext>
            </a:extLst>
          </p:cNvPr>
          <p:cNvSpPr/>
          <p:nvPr/>
        </p:nvSpPr>
        <p:spPr bwMode="auto">
          <a:xfrm>
            <a:off x="749808" y="2395728"/>
            <a:ext cx="1993392" cy="2468880"/>
          </a:xfrm>
          <a:prstGeom prst="roundRect">
            <a:avLst/>
          </a:prstGeom>
          <a:solidFill>
            <a:srgbClr val="F8F9FC"/>
          </a:solidFill>
          <a:ln w="19050" cap="flat" cmpd="sng" algn="ctr">
            <a:solidFill>
              <a:srgbClr val="1F4E7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1" u="none" strike="noStrike" cap="none" normalizeH="0" baseline="-25000">
              <a:ln>
                <a:noFill/>
              </a:ln>
              <a:solidFill>
                <a:schemeClr val="tx1"/>
              </a:solidFill>
              <a:effectLst/>
              <a:latin typeface="Arial" charset="0"/>
            </a:endParaRPr>
          </a:p>
        </p:txBody>
      </p:sp>
      <p:sp>
        <p:nvSpPr>
          <p:cNvPr id="9" name="Rectangle: Rounded Corners 8">
            <a:extLst>
              <a:ext uri="{FF2B5EF4-FFF2-40B4-BE49-F238E27FC236}">
                <a16:creationId xmlns:a16="http://schemas.microsoft.com/office/drawing/2014/main" id="{3F0CABB0-1790-6638-9AB6-7D2E352566D5}"/>
              </a:ext>
            </a:extLst>
          </p:cNvPr>
          <p:cNvSpPr/>
          <p:nvPr/>
        </p:nvSpPr>
        <p:spPr bwMode="auto">
          <a:xfrm>
            <a:off x="877824" y="2084832"/>
            <a:ext cx="1737360" cy="256032"/>
          </a:xfrm>
          <a:prstGeom prst="roundRect">
            <a:avLst/>
          </a:prstGeom>
          <a:solidFill>
            <a:srgbClr val="1F4E79"/>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101600" tIns="25400" rIns="10160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000" b="1" i="1" u="none" strike="noStrike" cap="none" normalizeH="0" baseline="-25000">
                <a:ln>
                  <a:noFill/>
                </a:ln>
                <a:solidFill>
                  <a:srgbClr val="FFFFFF"/>
                </a:solidFill>
                <a:effectLst/>
                <a:latin typeface="Arial" charset="0"/>
              </a:rPr>
              <a:t>Day 1</a:t>
            </a:r>
          </a:p>
        </p:txBody>
      </p:sp>
      <p:sp>
        <p:nvSpPr>
          <p:cNvPr id="10" name="TextBox 9">
            <a:extLst>
              <a:ext uri="{FF2B5EF4-FFF2-40B4-BE49-F238E27FC236}">
                <a16:creationId xmlns:a16="http://schemas.microsoft.com/office/drawing/2014/main" id="{779A4426-6A82-8F15-144E-3C9D0EF75CEA}"/>
              </a:ext>
            </a:extLst>
          </p:cNvPr>
          <p:cNvSpPr txBox="1"/>
          <p:nvPr/>
        </p:nvSpPr>
        <p:spPr>
          <a:xfrm>
            <a:off x="859536" y="2779776"/>
            <a:ext cx="1773936" cy="287258"/>
          </a:xfrm>
          <a:prstGeom prst="rect">
            <a:avLst/>
          </a:prstGeom>
          <a:noFill/>
        </p:spPr>
        <p:txBody>
          <a:bodyPr vert="horz" wrap="square" lIns="76200" tIns="50800" rIns="76200" bIns="50800" rtlCol="0">
            <a:spAutoFit/>
          </a:bodyPr>
          <a:lstStyle/>
          <a:p>
            <a:r>
              <a:rPr lang="en-US" sz="1200" b="1">
                <a:solidFill>
                  <a:srgbClr val="23497E"/>
                </a:solidFill>
              </a:rPr>
              <a:t>Plan</a:t>
            </a:r>
          </a:p>
        </p:txBody>
      </p:sp>
      <p:sp>
        <p:nvSpPr>
          <p:cNvPr id="11" name="TextBox 10">
            <a:extLst>
              <a:ext uri="{FF2B5EF4-FFF2-40B4-BE49-F238E27FC236}">
                <a16:creationId xmlns:a16="http://schemas.microsoft.com/office/drawing/2014/main" id="{7E867407-1925-97FE-CECA-7141EC1A9B07}"/>
              </a:ext>
            </a:extLst>
          </p:cNvPr>
          <p:cNvSpPr txBox="1"/>
          <p:nvPr/>
        </p:nvSpPr>
        <p:spPr>
          <a:xfrm>
            <a:off x="859536" y="3273552"/>
            <a:ext cx="1773936" cy="564257"/>
          </a:xfrm>
          <a:prstGeom prst="rect">
            <a:avLst/>
          </a:prstGeom>
          <a:noFill/>
        </p:spPr>
        <p:txBody>
          <a:bodyPr vert="horz" wrap="square" lIns="76200" tIns="50800" rIns="76200" bIns="50800" rtlCol="0">
            <a:spAutoFit/>
          </a:bodyPr>
          <a:lstStyle/>
          <a:p>
            <a:r>
              <a:rPr lang="en-US" sz="1000">
                <a:solidFill>
                  <a:srgbClr val="2D2D2D"/>
                </a:solidFill>
              </a:rPr>
              <a:t>- Auto-build schedule</a:t>
            </a:r>
          </a:p>
          <a:p>
            <a:r>
              <a:rPr lang="en-US" sz="1000">
                <a:solidFill>
                  <a:srgbClr val="2D2D2D"/>
                </a:solidFill>
              </a:rPr>
              <a:t>- Issue project plan</a:t>
            </a:r>
          </a:p>
          <a:p>
            <a:r>
              <a:rPr lang="en-US" sz="1000">
                <a:solidFill>
                  <a:srgbClr val="2D2D2D"/>
                </a:solidFill>
              </a:rPr>
              <a:t>- Set review cadence</a:t>
            </a:r>
          </a:p>
        </p:txBody>
      </p:sp>
      <p:sp>
        <p:nvSpPr>
          <p:cNvPr id="12" name="Rectangle: Rounded Corners 11">
            <a:extLst>
              <a:ext uri="{FF2B5EF4-FFF2-40B4-BE49-F238E27FC236}">
                <a16:creationId xmlns:a16="http://schemas.microsoft.com/office/drawing/2014/main" id="{23E0F304-215F-9E21-1C80-2B80CA1576F5}"/>
              </a:ext>
            </a:extLst>
          </p:cNvPr>
          <p:cNvSpPr/>
          <p:nvPr/>
        </p:nvSpPr>
        <p:spPr bwMode="auto">
          <a:xfrm>
            <a:off x="2852928" y="2395728"/>
            <a:ext cx="1993392" cy="2468880"/>
          </a:xfrm>
          <a:prstGeom prst="roundRect">
            <a:avLst/>
          </a:prstGeom>
          <a:solidFill>
            <a:srgbClr val="F8F9FC"/>
          </a:solidFill>
          <a:ln w="1905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1" u="none" strike="noStrike" cap="none" normalizeH="0" baseline="-25000">
              <a:ln>
                <a:noFill/>
              </a:ln>
              <a:solidFill>
                <a:schemeClr val="tx1"/>
              </a:solidFill>
              <a:effectLst/>
              <a:latin typeface="Arial" charset="0"/>
            </a:endParaRPr>
          </a:p>
        </p:txBody>
      </p:sp>
      <p:sp>
        <p:nvSpPr>
          <p:cNvPr id="13" name="Rectangle: Rounded Corners 12">
            <a:extLst>
              <a:ext uri="{FF2B5EF4-FFF2-40B4-BE49-F238E27FC236}">
                <a16:creationId xmlns:a16="http://schemas.microsoft.com/office/drawing/2014/main" id="{25CB6AB4-8799-53B2-34D8-C124F0125AC0}"/>
              </a:ext>
            </a:extLst>
          </p:cNvPr>
          <p:cNvSpPr/>
          <p:nvPr/>
        </p:nvSpPr>
        <p:spPr bwMode="auto">
          <a:xfrm>
            <a:off x="2980944" y="2084832"/>
            <a:ext cx="1737360" cy="256032"/>
          </a:xfrm>
          <a:prstGeom prst="roundRect">
            <a:avLst/>
          </a:prstGeom>
          <a:solidFill>
            <a:srgbClr val="0070C0"/>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101600" tIns="25400" rIns="10160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000" b="1" i="1" u="none" strike="noStrike" cap="none" normalizeH="0" baseline="-25000">
                <a:ln>
                  <a:noFill/>
                </a:ln>
                <a:solidFill>
                  <a:srgbClr val="FFFFFF"/>
                </a:solidFill>
                <a:effectLst/>
                <a:latin typeface="Arial" charset="0"/>
              </a:rPr>
              <a:t>Days 1-5</a:t>
            </a:r>
          </a:p>
        </p:txBody>
      </p:sp>
      <p:sp>
        <p:nvSpPr>
          <p:cNvPr id="14" name="TextBox 13">
            <a:extLst>
              <a:ext uri="{FF2B5EF4-FFF2-40B4-BE49-F238E27FC236}">
                <a16:creationId xmlns:a16="http://schemas.microsoft.com/office/drawing/2014/main" id="{2C1A0CC5-7F58-FB79-9707-69E2FECB4ED8}"/>
              </a:ext>
            </a:extLst>
          </p:cNvPr>
          <p:cNvSpPr txBox="1"/>
          <p:nvPr/>
        </p:nvSpPr>
        <p:spPr>
          <a:xfrm>
            <a:off x="2962656" y="2779776"/>
            <a:ext cx="1773936" cy="287258"/>
          </a:xfrm>
          <a:prstGeom prst="rect">
            <a:avLst/>
          </a:prstGeom>
          <a:noFill/>
        </p:spPr>
        <p:txBody>
          <a:bodyPr vert="horz" wrap="square" lIns="76200" tIns="50800" rIns="76200" bIns="50800" rtlCol="0">
            <a:spAutoFit/>
          </a:bodyPr>
          <a:lstStyle/>
          <a:p>
            <a:r>
              <a:rPr lang="en-US" sz="1200" b="1">
                <a:solidFill>
                  <a:srgbClr val="23497E"/>
                </a:solidFill>
              </a:rPr>
              <a:t>Align</a:t>
            </a:r>
          </a:p>
        </p:txBody>
      </p:sp>
      <p:sp>
        <p:nvSpPr>
          <p:cNvPr id="15" name="TextBox 14">
            <a:extLst>
              <a:ext uri="{FF2B5EF4-FFF2-40B4-BE49-F238E27FC236}">
                <a16:creationId xmlns:a16="http://schemas.microsoft.com/office/drawing/2014/main" id="{16501D30-9283-A58E-2A3B-31AFA54CD3A3}"/>
              </a:ext>
            </a:extLst>
          </p:cNvPr>
          <p:cNvSpPr txBox="1"/>
          <p:nvPr/>
        </p:nvSpPr>
        <p:spPr>
          <a:xfrm>
            <a:off x="2962656" y="3273552"/>
            <a:ext cx="1773936" cy="564257"/>
          </a:xfrm>
          <a:prstGeom prst="rect">
            <a:avLst/>
          </a:prstGeom>
          <a:noFill/>
        </p:spPr>
        <p:txBody>
          <a:bodyPr vert="horz" wrap="square" lIns="76200" tIns="50800" rIns="76200" bIns="50800" rtlCol="0">
            <a:spAutoFit/>
          </a:bodyPr>
          <a:lstStyle/>
          <a:p>
            <a:r>
              <a:rPr lang="en-US" sz="1000">
                <a:solidFill>
                  <a:srgbClr val="2D2D2D"/>
                </a:solidFill>
              </a:rPr>
              <a:t>- Kickoff around customer</a:t>
            </a:r>
          </a:p>
          <a:p>
            <a:r>
              <a:rPr lang="en-US" sz="1000">
                <a:solidFill>
                  <a:srgbClr val="2D2D2D"/>
                </a:solidFill>
              </a:rPr>
              <a:t>- Research evaluators</a:t>
            </a:r>
          </a:p>
          <a:p>
            <a:r>
              <a:rPr lang="en-US" sz="1000">
                <a:solidFill>
                  <a:srgbClr val="2D2D2D"/>
                </a:solidFill>
              </a:rPr>
              <a:t>- Build compliance matrix</a:t>
            </a:r>
          </a:p>
        </p:txBody>
      </p:sp>
      <p:sp>
        <p:nvSpPr>
          <p:cNvPr id="16" name="Rectangle: Rounded Corners 15">
            <a:extLst>
              <a:ext uri="{FF2B5EF4-FFF2-40B4-BE49-F238E27FC236}">
                <a16:creationId xmlns:a16="http://schemas.microsoft.com/office/drawing/2014/main" id="{94198A17-C8C3-82D6-5E20-69BC77D4726C}"/>
              </a:ext>
            </a:extLst>
          </p:cNvPr>
          <p:cNvSpPr/>
          <p:nvPr/>
        </p:nvSpPr>
        <p:spPr bwMode="auto">
          <a:xfrm>
            <a:off x="4956048" y="2395728"/>
            <a:ext cx="1993392" cy="2468880"/>
          </a:xfrm>
          <a:prstGeom prst="roundRect">
            <a:avLst/>
          </a:prstGeom>
          <a:solidFill>
            <a:srgbClr val="F8F9FC"/>
          </a:solidFill>
          <a:ln w="19050" cap="flat" cmpd="sng" algn="ctr">
            <a:solidFill>
              <a:srgbClr val="2D8CA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1" u="none" strike="noStrike" cap="none" normalizeH="0" baseline="-25000">
              <a:ln>
                <a:noFill/>
              </a:ln>
              <a:solidFill>
                <a:schemeClr val="tx1"/>
              </a:solidFill>
              <a:effectLst/>
              <a:latin typeface="Arial" charset="0"/>
            </a:endParaRPr>
          </a:p>
        </p:txBody>
      </p:sp>
      <p:sp>
        <p:nvSpPr>
          <p:cNvPr id="17" name="Rectangle: Rounded Corners 16">
            <a:extLst>
              <a:ext uri="{FF2B5EF4-FFF2-40B4-BE49-F238E27FC236}">
                <a16:creationId xmlns:a16="http://schemas.microsoft.com/office/drawing/2014/main" id="{58379072-257A-67F6-9E44-C48F38F267DA}"/>
              </a:ext>
            </a:extLst>
          </p:cNvPr>
          <p:cNvSpPr/>
          <p:nvPr/>
        </p:nvSpPr>
        <p:spPr bwMode="auto">
          <a:xfrm>
            <a:off x="5084064" y="2084832"/>
            <a:ext cx="1737360" cy="256032"/>
          </a:xfrm>
          <a:prstGeom prst="roundRect">
            <a:avLst/>
          </a:prstGeom>
          <a:solidFill>
            <a:srgbClr val="2D8CAF"/>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101600" tIns="25400" rIns="10160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000" b="1" i="1" u="none" strike="noStrike" cap="none" normalizeH="0" baseline="-25000">
                <a:ln>
                  <a:noFill/>
                </a:ln>
                <a:solidFill>
                  <a:srgbClr val="FFFFFF"/>
                </a:solidFill>
                <a:effectLst/>
                <a:latin typeface="Arial" charset="0"/>
              </a:rPr>
              <a:t>Days 6-12</a:t>
            </a:r>
          </a:p>
        </p:txBody>
      </p:sp>
      <p:sp>
        <p:nvSpPr>
          <p:cNvPr id="18" name="TextBox 17">
            <a:extLst>
              <a:ext uri="{FF2B5EF4-FFF2-40B4-BE49-F238E27FC236}">
                <a16:creationId xmlns:a16="http://schemas.microsoft.com/office/drawing/2014/main" id="{3E82A093-78AA-74AD-2088-6AF3368A9BD9}"/>
              </a:ext>
            </a:extLst>
          </p:cNvPr>
          <p:cNvSpPr txBox="1"/>
          <p:nvPr/>
        </p:nvSpPr>
        <p:spPr>
          <a:xfrm>
            <a:off x="5065776" y="2779776"/>
            <a:ext cx="1773936" cy="287258"/>
          </a:xfrm>
          <a:prstGeom prst="rect">
            <a:avLst/>
          </a:prstGeom>
          <a:noFill/>
        </p:spPr>
        <p:txBody>
          <a:bodyPr vert="horz" wrap="square" lIns="76200" tIns="50800" rIns="76200" bIns="50800" rtlCol="0">
            <a:spAutoFit/>
          </a:bodyPr>
          <a:lstStyle/>
          <a:p>
            <a:r>
              <a:rPr lang="en-US" sz="1200" b="1">
                <a:solidFill>
                  <a:srgbClr val="23497E"/>
                </a:solidFill>
              </a:rPr>
              <a:t>Build</a:t>
            </a:r>
          </a:p>
        </p:txBody>
      </p:sp>
      <p:sp>
        <p:nvSpPr>
          <p:cNvPr id="19" name="TextBox 18">
            <a:extLst>
              <a:ext uri="{FF2B5EF4-FFF2-40B4-BE49-F238E27FC236}">
                <a16:creationId xmlns:a16="http://schemas.microsoft.com/office/drawing/2014/main" id="{49BEF527-9453-8713-6E42-2ED3AFD60C3F}"/>
              </a:ext>
            </a:extLst>
          </p:cNvPr>
          <p:cNvSpPr txBox="1"/>
          <p:nvPr/>
        </p:nvSpPr>
        <p:spPr>
          <a:xfrm>
            <a:off x="5065776" y="3273552"/>
            <a:ext cx="1773936" cy="564257"/>
          </a:xfrm>
          <a:prstGeom prst="rect">
            <a:avLst/>
          </a:prstGeom>
          <a:noFill/>
        </p:spPr>
        <p:txBody>
          <a:bodyPr vert="horz" wrap="square" lIns="76200" tIns="50800" rIns="76200" bIns="50800" rtlCol="0">
            <a:spAutoFit/>
          </a:bodyPr>
          <a:lstStyle/>
          <a:p>
            <a:r>
              <a:rPr lang="en-US" sz="1000">
                <a:solidFill>
                  <a:srgbClr val="2D2D2D"/>
                </a:solidFill>
              </a:rPr>
              <a:t>- Draft sections</a:t>
            </a:r>
          </a:p>
          <a:p>
            <a:r>
              <a:rPr lang="en-US" sz="1000">
                <a:solidFill>
                  <a:srgbClr val="2D2D2D"/>
                </a:solidFill>
              </a:rPr>
              <a:t>- Integrate consultant</a:t>
            </a:r>
          </a:p>
          <a:p>
            <a:r>
              <a:rPr lang="en-US" sz="1000">
                <a:solidFill>
                  <a:srgbClr val="2D2D2D"/>
                </a:solidFill>
              </a:rPr>
              <a:t>- Run QA and reviews</a:t>
            </a:r>
          </a:p>
        </p:txBody>
      </p:sp>
      <p:sp>
        <p:nvSpPr>
          <p:cNvPr id="20" name="Rectangle: Rounded Corners 19">
            <a:extLst>
              <a:ext uri="{FF2B5EF4-FFF2-40B4-BE49-F238E27FC236}">
                <a16:creationId xmlns:a16="http://schemas.microsoft.com/office/drawing/2014/main" id="{9AF3761B-D725-5202-80D6-219220924844}"/>
              </a:ext>
            </a:extLst>
          </p:cNvPr>
          <p:cNvSpPr/>
          <p:nvPr/>
        </p:nvSpPr>
        <p:spPr bwMode="auto">
          <a:xfrm>
            <a:off x="7059168" y="2395728"/>
            <a:ext cx="1993393" cy="2468880"/>
          </a:xfrm>
          <a:prstGeom prst="roundRect">
            <a:avLst/>
          </a:prstGeom>
          <a:solidFill>
            <a:srgbClr val="F8F9FC"/>
          </a:solidFill>
          <a:ln w="19050" cap="flat" cmpd="sng" algn="ctr">
            <a:solidFill>
              <a:srgbClr val="59595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1" u="none" strike="noStrike" cap="none" normalizeH="0" baseline="-25000">
              <a:ln>
                <a:noFill/>
              </a:ln>
              <a:solidFill>
                <a:schemeClr val="tx1"/>
              </a:solidFill>
              <a:effectLst/>
              <a:latin typeface="Arial" charset="0"/>
            </a:endParaRPr>
          </a:p>
        </p:txBody>
      </p:sp>
      <p:sp>
        <p:nvSpPr>
          <p:cNvPr id="21" name="Rectangle: Rounded Corners 20">
            <a:extLst>
              <a:ext uri="{FF2B5EF4-FFF2-40B4-BE49-F238E27FC236}">
                <a16:creationId xmlns:a16="http://schemas.microsoft.com/office/drawing/2014/main" id="{8970F0D7-A298-6AEA-1625-2FF4317A8578}"/>
              </a:ext>
            </a:extLst>
          </p:cNvPr>
          <p:cNvSpPr/>
          <p:nvPr/>
        </p:nvSpPr>
        <p:spPr bwMode="auto">
          <a:xfrm>
            <a:off x="7187184" y="2084832"/>
            <a:ext cx="1737360" cy="256032"/>
          </a:xfrm>
          <a:prstGeom prst="roundRect">
            <a:avLst/>
          </a:prstGeom>
          <a:solidFill>
            <a:srgbClr val="595959"/>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101600" tIns="25400" rIns="10160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000" b="1" i="1" u="none" strike="noStrike" cap="none" normalizeH="0" baseline="-25000">
                <a:ln>
                  <a:noFill/>
                </a:ln>
                <a:solidFill>
                  <a:srgbClr val="FFFFFF"/>
                </a:solidFill>
                <a:effectLst/>
                <a:latin typeface="Arial" charset="0"/>
              </a:rPr>
              <a:t>Days 13-20</a:t>
            </a:r>
          </a:p>
        </p:txBody>
      </p:sp>
      <p:sp>
        <p:nvSpPr>
          <p:cNvPr id="22" name="TextBox 21">
            <a:extLst>
              <a:ext uri="{FF2B5EF4-FFF2-40B4-BE49-F238E27FC236}">
                <a16:creationId xmlns:a16="http://schemas.microsoft.com/office/drawing/2014/main" id="{3911FC2E-8ABF-1EB0-B1F3-548E2CC3CB25}"/>
              </a:ext>
            </a:extLst>
          </p:cNvPr>
          <p:cNvSpPr txBox="1"/>
          <p:nvPr/>
        </p:nvSpPr>
        <p:spPr>
          <a:xfrm>
            <a:off x="7168896" y="2779776"/>
            <a:ext cx="1773936" cy="287258"/>
          </a:xfrm>
          <a:prstGeom prst="rect">
            <a:avLst/>
          </a:prstGeom>
          <a:noFill/>
        </p:spPr>
        <p:txBody>
          <a:bodyPr vert="horz" wrap="square" lIns="76200" tIns="50800" rIns="76200" bIns="50800" rtlCol="0">
            <a:spAutoFit/>
          </a:bodyPr>
          <a:lstStyle/>
          <a:p>
            <a:r>
              <a:rPr lang="en-US" sz="1200" b="1">
                <a:solidFill>
                  <a:srgbClr val="23497E"/>
                </a:solidFill>
              </a:rPr>
              <a:t>Submit</a:t>
            </a:r>
          </a:p>
        </p:txBody>
      </p:sp>
      <p:sp>
        <p:nvSpPr>
          <p:cNvPr id="23" name="TextBox 22">
            <a:extLst>
              <a:ext uri="{FF2B5EF4-FFF2-40B4-BE49-F238E27FC236}">
                <a16:creationId xmlns:a16="http://schemas.microsoft.com/office/drawing/2014/main" id="{7E9DB323-52FF-6711-41EF-02E2F05D3124}"/>
              </a:ext>
            </a:extLst>
          </p:cNvPr>
          <p:cNvSpPr txBox="1"/>
          <p:nvPr/>
        </p:nvSpPr>
        <p:spPr>
          <a:xfrm>
            <a:off x="7168896" y="3273552"/>
            <a:ext cx="1773936" cy="564257"/>
          </a:xfrm>
          <a:prstGeom prst="rect">
            <a:avLst/>
          </a:prstGeom>
          <a:noFill/>
        </p:spPr>
        <p:txBody>
          <a:bodyPr vert="horz" wrap="square" lIns="76200" tIns="50800" rIns="76200" bIns="50800" rtlCol="0">
            <a:spAutoFit/>
          </a:bodyPr>
          <a:lstStyle/>
          <a:p>
            <a:r>
              <a:rPr lang="en-US" sz="1000">
                <a:solidFill>
                  <a:srgbClr val="2D2D2D"/>
                </a:solidFill>
              </a:rPr>
              <a:t>- Package final files</a:t>
            </a:r>
          </a:p>
          <a:p>
            <a:r>
              <a:rPr lang="en-US" sz="1000">
                <a:solidFill>
                  <a:srgbClr val="2D2D2D"/>
                </a:solidFill>
              </a:rPr>
              <a:t>- Align executives</a:t>
            </a:r>
          </a:p>
          <a:p>
            <a:r>
              <a:rPr lang="en-US" sz="1000">
                <a:solidFill>
                  <a:srgbClr val="2D2D2D"/>
                </a:solidFill>
              </a:rPr>
              <a:t>- Protect handoff and submit</a:t>
            </a:r>
          </a:p>
        </p:txBody>
      </p:sp>
      <p:sp>
        <p:nvSpPr>
          <p:cNvPr id="24" name="Rectangle: Rounded Corners 23">
            <a:extLst>
              <a:ext uri="{FF2B5EF4-FFF2-40B4-BE49-F238E27FC236}">
                <a16:creationId xmlns:a16="http://schemas.microsoft.com/office/drawing/2014/main" id="{2C7F0939-2EAF-36D7-ED11-5AF9E1954187}"/>
              </a:ext>
            </a:extLst>
          </p:cNvPr>
          <p:cNvSpPr/>
          <p:nvPr/>
        </p:nvSpPr>
        <p:spPr bwMode="auto">
          <a:xfrm>
            <a:off x="9162288" y="2395728"/>
            <a:ext cx="1993392" cy="2468880"/>
          </a:xfrm>
          <a:prstGeom prst="roundRect">
            <a:avLst/>
          </a:prstGeom>
          <a:solidFill>
            <a:srgbClr val="F8F9FC"/>
          </a:solidFill>
          <a:ln w="19050" cap="flat" cmpd="sng" algn="ctr">
            <a:solidFill>
              <a:srgbClr val="2980B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1" u="none" strike="noStrike" cap="none" normalizeH="0" baseline="-25000">
              <a:ln>
                <a:noFill/>
              </a:ln>
              <a:solidFill>
                <a:schemeClr val="tx1"/>
              </a:solidFill>
              <a:effectLst/>
              <a:latin typeface="Arial" charset="0"/>
            </a:endParaRPr>
          </a:p>
        </p:txBody>
      </p:sp>
      <p:sp>
        <p:nvSpPr>
          <p:cNvPr id="25" name="Rectangle: Rounded Corners 24">
            <a:extLst>
              <a:ext uri="{FF2B5EF4-FFF2-40B4-BE49-F238E27FC236}">
                <a16:creationId xmlns:a16="http://schemas.microsoft.com/office/drawing/2014/main" id="{5F8B4309-DF86-F6F0-A010-5853AF170AB7}"/>
              </a:ext>
            </a:extLst>
          </p:cNvPr>
          <p:cNvSpPr/>
          <p:nvPr/>
        </p:nvSpPr>
        <p:spPr bwMode="auto">
          <a:xfrm>
            <a:off x="9290304" y="2084832"/>
            <a:ext cx="1737360" cy="256032"/>
          </a:xfrm>
          <a:prstGeom prst="roundRect">
            <a:avLst/>
          </a:prstGeom>
          <a:solidFill>
            <a:srgbClr val="2980B9"/>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101600" tIns="25400" rIns="10160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000" b="1" i="1" u="none" strike="noStrike" cap="none" normalizeH="0" baseline="-25000">
                <a:ln>
                  <a:noFill/>
                </a:ln>
                <a:solidFill>
                  <a:srgbClr val="FFFFFF"/>
                </a:solidFill>
                <a:effectLst/>
                <a:latin typeface="Arial" charset="0"/>
              </a:rPr>
              <a:t>Post-submission</a:t>
            </a:r>
          </a:p>
        </p:txBody>
      </p:sp>
      <p:sp>
        <p:nvSpPr>
          <p:cNvPr id="26" name="TextBox 25">
            <a:extLst>
              <a:ext uri="{FF2B5EF4-FFF2-40B4-BE49-F238E27FC236}">
                <a16:creationId xmlns:a16="http://schemas.microsoft.com/office/drawing/2014/main" id="{3940EAE8-1069-0155-7777-E3025318AE44}"/>
              </a:ext>
            </a:extLst>
          </p:cNvPr>
          <p:cNvSpPr txBox="1"/>
          <p:nvPr/>
        </p:nvSpPr>
        <p:spPr>
          <a:xfrm>
            <a:off x="9272016" y="2779776"/>
            <a:ext cx="1773936" cy="287258"/>
          </a:xfrm>
          <a:prstGeom prst="rect">
            <a:avLst/>
          </a:prstGeom>
          <a:noFill/>
        </p:spPr>
        <p:txBody>
          <a:bodyPr vert="horz" wrap="square" lIns="76200" tIns="50800" rIns="76200" bIns="50800" rtlCol="0">
            <a:spAutoFit/>
          </a:bodyPr>
          <a:lstStyle/>
          <a:p>
            <a:r>
              <a:rPr lang="en-US" sz="1200" b="1">
                <a:solidFill>
                  <a:srgbClr val="23497E"/>
                </a:solidFill>
              </a:rPr>
              <a:t>Present</a:t>
            </a:r>
          </a:p>
        </p:txBody>
      </p:sp>
      <p:sp>
        <p:nvSpPr>
          <p:cNvPr id="27" name="TextBox 26">
            <a:extLst>
              <a:ext uri="{FF2B5EF4-FFF2-40B4-BE49-F238E27FC236}">
                <a16:creationId xmlns:a16="http://schemas.microsoft.com/office/drawing/2014/main" id="{A7535765-E7B0-1924-84DE-02B139A44415}"/>
              </a:ext>
            </a:extLst>
          </p:cNvPr>
          <p:cNvSpPr txBox="1"/>
          <p:nvPr/>
        </p:nvSpPr>
        <p:spPr>
          <a:xfrm>
            <a:off x="9272016" y="3273552"/>
            <a:ext cx="1773936" cy="564257"/>
          </a:xfrm>
          <a:prstGeom prst="rect">
            <a:avLst/>
          </a:prstGeom>
          <a:noFill/>
        </p:spPr>
        <p:txBody>
          <a:bodyPr vert="horz" wrap="square" lIns="76200" tIns="50800" rIns="76200" bIns="50800" rtlCol="0">
            <a:spAutoFit/>
          </a:bodyPr>
          <a:lstStyle/>
          <a:p>
            <a:r>
              <a:rPr lang="en-US" sz="1000">
                <a:solidFill>
                  <a:srgbClr val="2D2D2D"/>
                </a:solidFill>
              </a:rPr>
              <a:t>- Prepare slide story</a:t>
            </a:r>
          </a:p>
          <a:p>
            <a:r>
              <a:rPr lang="en-US" sz="1000">
                <a:solidFill>
                  <a:srgbClr val="2D2D2D"/>
                </a:solidFill>
              </a:rPr>
              <a:t>- Draft Q&amp;A and notes</a:t>
            </a:r>
          </a:p>
          <a:p>
            <a:r>
              <a:rPr lang="en-US" sz="1000">
                <a:solidFill>
                  <a:srgbClr val="2D2D2D"/>
                </a:solidFill>
              </a:rPr>
              <a:t>- Support 2 finalist rounds</a:t>
            </a:r>
          </a:p>
        </p:txBody>
      </p:sp>
      <p:sp>
        <p:nvSpPr>
          <p:cNvPr id="28" name="TextBox 27">
            <a:extLst>
              <a:ext uri="{FF2B5EF4-FFF2-40B4-BE49-F238E27FC236}">
                <a16:creationId xmlns:a16="http://schemas.microsoft.com/office/drawing/2014/main" id="{B8F0E4C6-1C2D-7A0B-1FD8-780A93C2D92D}"/>
              </a:ext>
            </a:extLst>
          </p:cNvPr>
          <p:cNvSpPr txBox="1"/>
          <p:nvPr/>
        </p:nvSpPr>
        <p:spPr>
          <a:xfrm>
            <a:off x="786384" y="5074920"/>
            <a:ext cx="10241280" cy="287258"/>
          </a:xfrm>
          <a:prstGeom prst="rect">
            <a:avLst/>
          </a:prstGeom>
          <a:noFill/>
        </p:spPr>
        <p:txBody>
          <a:bodyPr vert="horz" wrap="square" lIns="76200" tIns="50800" rIns="76200" bIns="50800" rtlCol="0">
            <a:spAutoFit/>
          </a:bodyPr>
          <a:lstStyle/>
          <a:p>
            <a:r>
              <a:rPr lang="en-US" sz="1200">
                <a:solidFill>
                  <a:srgbClr val="23497E"/>
                </a:solidFill>
              </a:rPr>
              <a:t>Five operating checkpoints replaced a dense activity table and show how governance moved from planning to finalist delivery.</a:t>
            </a:r>
          </a:p>
        </p:txBody>
      </p:sp>
    </p:spTree>
    <p:extLst>
      <p:ext uri="{BB962C8B-B14F-4D97-AF65-F5344CB8AC3E}">
        <p14:creationId xmlns:p14="http://schemas.microsoft.com/office/powerpoint/2010/main" val="631142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a:t>
            </a:r>
          </a:p>
        </p:txBody>
      </p:sp>
      <p:sp>
        <p:nvSpPr>
          <p:cNvPr id="3" name="TextBox 2"/>
          <p:cNvSpPr txBox="1"/>
          <p:nvPr/>
        </p:nvSpPr>
        <p:spPr>
          <a:xfrm>
            <a:off x="713232" y="1353312"/>
            <a:ext cx="9372600" cy="457200"/>
          </a:xfrm>
          <a:prstGeom prst="rect">
            <a:avLst/>
          </a:prstGeom>
          <a:noFill/>
        </p:spPr>
        <p:txBody>
          <a:bodyPr wrap="square" anchor="t">
            <a:spAutoFit/>
          </a:bodyPr>
          <a:lstStyle/>
          <a:p>
            <a:pPr algn="l"/>
            <a:r>
              <a:rPr sz="1400" b="0" i="0">
                <a:solidFill>
                  <a:srgbClr val="1F1F1F"/>
                </a:solidFill>
              </a:rPr>
              <a:t>I measured the impact through finalist progression, reuse, draft speed, and executive review effort rather than through final award visibility.</a:t>
            </a:r>
          </a:p>
        </p:txBody>
      </p:sp>
      <p:sp>
        <p:nvSpPr>
          <p:cNvPr id="6" name="TextBox 5"/>
          <p:cNvSpPr txBox="1"/>
          <p:nvPr/>
        </p:nvSpPr>
        <p:spPr>
          <a:xfrm>
            <a:off x="640080" y="6236208"/>
            <a:ext cx="10698480" cy="256032"/>
          </a:xfrm>
          <a:prstGeom prst="rect">
            <a:avLst/>
          </a:prstGeom>
          <a:noFill/>
        </p:spPr>
        <p:txBody>
          <a:bodyPr wrap="square" anchor="t">
            <a:spAutoFit/>
          </a:bodyPr>
          <a:lstStyle/>
          <a:p>
            <a:pPr algn="l"/>
            <a:r>
              <a:rPr sz="1100" b="0" i="1">
                <a:solidFill>
                  <a:srgbClr val="595959"/>
                </a:solidFill>
              </a:rPr>
              <a:t>Even without final award visibility, the pursuit produced measurable reuse, speed, credibility, and submission outcomes.</a:t>
            </a:r>
          </a:p>
        </p:txBody>
      </p:sp>
      <p:sp>
        <p:nvSpPr>
          <p:cNvPr id="7" name="Rectangle: Rounded Corners 6">
            <a:extLst>
              <a:ext uri="{FF2B5EF4-FFF2-40B4-BE49-F238E27FC236}">
                <a16:creationId xmlns:a16="http://schemas.microsoft.com/office/drawing/2014/main" id="{CC941067-5C4F-F76E-3F47-6E5F487749DD}"/>
              </a:ext>
            </a:extLst>
          </p:cNvPr>
          <p:cNvSpPr/>
          <p:nvPr/>
        </p:nvSpPr>
        <p:spPr bwMode="auto">
          <a:xfrm>
            <a:off x="749808" y="1828800"/>
            <a:ext cx="5047488" cy="1938528"/>
          </a:xfrm>
          <a:prstGeom prst="roundRect">
            <a:avLst/>
          </a:prstGeom>
          <a:solidFill>
            <a:srgbClr val="F8F9FC"/>
          </a:solidFill>
          <a:ln w="19050" cap="flat" cmpd="sng" algn="ctr">
            <a:solidFill>
              <a:srgbClr val="1F4E7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1" u="none" strike="noStrike" cap="none" normalizeH="0" baseline="-25000">
              <a:ln>
                <a:noFill/>
              </a:ln>
              <a:solidFill>
                <a:schemeClr val="tx1"/>
              </a:solidFill>
              <a:effectLst/>
              <a:latin typeface="Arial" charset="0"/>
            </a:endParaRPr>
          </a:p>
        </p:txBody>
      </p:sp>
      <p:sp>
        <p:nvSpPr>
          <p:cNvPr id="8" name="Rectangle: Rounded Corners 7">
            <a:extLst>
              <a:ext uri="{FF2B5EF4-FFF2-40B4-BE49-F238E27FC236}">
                <a16:creationId xmlns:a16="http://schemas.microsoft.com/office/drawing/2014/main" id="{BD8FCEA0-D75F-9586-4094-057E84642494}"/>
              </a:ext>
            </a:extLst>
          </p:cNvPr>
          <p:cNvSpPr/>
          <p:nvPr/>
        </p:nvSpPr>
        <p:spPr bwMode="auto">
          <a:xfrm>
            <a:off x="859536" y="1901952"/>
            <a:ext cx="4828032" cy="237744"/>
          </a:xfrm>
          <a:prstGeom prst="roundRect">
            <a:avLst/>
          </a:prstGeom>
          <a:solidFill>
            <a:srgbClr val="1F4E79"/>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101600" tIns="25400" rIns="10160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000" b="1" i="1" u="none" strike="noStrike" cap="none" normalizeH="0" baseline="-25000">
                <a:ln>
                  <a:noFill/>
                </a:ln>
                <a:solidFill>
                  <a:srgbClr val="FFFFFF"/>
                </a:solidFill>
                <a:effectLst/>
                <a:latin typeface="Arial" charset="0"/>
              </a:rPr>
              <a:t>Finalist progression</a:t>
            </a:r>
          </a:p>
        </p:txBody>
      </p:sp>
      <p:sp>
        <p:nvSpPr>
          <p:cNvPr id="9" name="TextBox 8">
            <a:extLst>
              <a:ext uri="{FF2B5EF4-FFF2-40B4-BE49-F238E27FC236}">
                <a16:creationId xmlns:a16="http://schemas.microsoft.com/office/drawing/2014/main" id="{0BD8FC9B-B39F-AD3D-BDB8-D6285BD56EC8}"/>
              </a:ext>
            </a:extLst>
          </p:cNvPr>
          <p:cNvSpPr txBox="1"/>
          <p:nvPr/>
        </p:nvSpPr>
        <p:spPr>
          <a:xfrm>
            <a:off x="877824" y="2249424"/>
            <a:ext cx="822960" cy="225703"/>
          </a:xfrm>
          <a:prstGeom prst="rect">
            <a:avLst/>
          </a:prstGeom>
          <a:noFill/>
        </p:spPr>
        <p:txBody>
          <a:bodyPr vert="horz" wrap="square" lIns="76200" tIns="50800" rIns="76200" bIns="50800" rtlCol="0">
            <a:spAutoFit/>
          </a:bodyPr>
          <a:lstStyle/>
          <a:p>
            <a:r>
              <a:rPr lang="en-US" sz="800" b="1">
                <a:solidFill>
                  <a:srgbClr val="707070"/>
                </a:solidFill>
              </a:rPr>
              <a:t>Baseline</a:t>
            </a:r>
          </a:p>
        </p:txBody>
      </p:sp>
      <p:sp>
        <p:nvSpPr>
          <p:cNvPr id="10" name="TextBox 9">
            <a:extLst>
              <a:ext uri="{FF2B5EF4-FFF2-40B4-BE49-F238E27FC236}">
                <a16:creationId xmlns:a16="http://schemas.microsoft.com/office/drawing/2014/main" id="{E3ADB4CE-FCDA-0B20-AE06-20B555DD39A4}"/>
              </a:ext>
            </a:extLst>
          </p:cNvPr>
          <p:cNvSpPr txBox="1"/>
          <p:nvPr/>
        </p:nvSpPr>
        <p:spPr>
          <a:xfrm>
            <a:off x="877824" y="2395728"/>
            <a:ext cx="4791456" cy="233397"/>
          </a:xfrm>
          <a:prstGeom prst="rect">
            <a:avLst/>
          </a:prstGeom>
          <a:noFill/>
        </p:spPr>
        <p:txBody>
          <a:bodyPr vert="horz" wrap="square" lIns="76200" tIns="50800" rIns="76200" bIns="50800" rtlCol="0">
            <a:spAutoFit/>
          </a:bodyPr>
          <a:lstStyle/>
          <a:p>
            <a:r>
              <a:rPr lang="en-US" sz="850">
                <a:solidFill>
                  <a:srgbClr val="3C3C3C"/>
                </a:solidFill>
              </a:rPr>
              <a:t>No assured advancement from an unprepared start</a:t>
            </a:r>
          </a:p>
        </p:txBody>
      </p:sp>
      <p:sp>
        <p:nvSpPr>
          <p:cNvPr id="11" name="TextBox 10">
            <a:extLst>
              <a:ext uri="{FF2B5EF4-FFF2-40B4-BE49-F238E27FC236}">
                <a16:creationId xmlns:a16="http://schemas.microsoft.com/office/drawing/2014/main" id="{A64CA21B-F1A8-F5CB-6081-35E0E7126FB7}"/>
              </a:ext>
            </a:extLst>
          </p:cNvPr>
          <p:cNvSpPr txBox="1"/>
          <p:nvPr/>
        </p:nvSpPr>
        <p:spPr>
          <a:xfrm>
            <a:off x="877824" y="2724912"/>
            <a:ext cx="822960" cy="225703"/>
          </a:xfrm>
          <a:prstGeom prst="rect">
            <a:avLst/>
          </a:prstGeom>
          <a:noFill/>
        </p:spPr>
        <p:txBody>
          <a:bodyPr vert="horz" wrap="square" lIns="76200" tIns="50800" rIns="76200" bIns="50800" rtlCol="0">
            <a:spAutoFit/>
          </a:bodyPr>
          <a:lstStyle/>
          <a:p>
            <a:r>
              <a:rPr lang="en-US" sz="800" b="1">
                <a:solidFill>
                  <a:srgbClr val="1F4E79"/>
                </a:solidFill>
              </a:rPr>
              <a:t>Result</a:t>
            </a:r>
          </a:p>
        </p:txBody>
      </p:sp>
      <p:sp>
        <p:nvSpPr>
          <p:cNvPr id="12" name="TextBox 11">
            <a:extLst>
              <a:ext uri="{FF2B5EF4-FFF2-40B4-BE49-F238E27FC236}">
                <a16:creationId xmlns:a16="http://schemas.microsoft.com/office/drawing/2014/main" id="{2AA7DCC7-BABD-85E5-A60F-283A1991671A}"/>
              </a:ext>
            </a:extLst>
          </p:cNvPr>
          <p:cNvSpPr txBox="1"/>
          <p:nvPr/>
        </p:nvSpPr>
        <p:spPr>
          <a:xfrm>
            <a:off x="877824" y="2871216"/>
            <a:ext cx="4791456" cy="248786"/>
          </a:xfrm>
          <a:prstGeom prst="rect">
            <a:avLst/>
          </a:prstGeom>
          <a:noFill/>
        </p:spPr>
        <p:txBody>
          <a:bodyPr vert="horz" wrap="square" lIns="76200" tIns="50800" rIns="76200" bIns="50800" rtlCol="0">
            <a:spAutoFit/>
          </a:bodyPr>
          <a:lstStyle/>
          <a:p>
            <a:r>
              <a:rPr lang="en-US" sz="950" b="1">
                <a:solidFill>
                  <a:srgbClr val="23497E"/>
                </a:solidFill>
              </a:rPr>
              <a:t>Reached 2 finalist presentations</a:t>
            </a:r>
          </a:p>
        </p:txBody>
      </p:sp>
      <p:cxnSp>
        <p:nvCxnSpPr>
          <p:cNvPr id="13" name="Straight Connector 12">
            <a:extLst>
              <a:ext uri="{FF2B5EF4-FFF2-40B4-BE49-F238E27FC236}">
                <a16:creationId xmlns:a16="http://schemas.microsoft.com/office/drawing/2014/main" id="{CFAA2283-A42E-75E1-192E-B3FDAEE0DB17}"/>
              </a:ext>
            </a:extLst>
          </p:cNvPr>
          <p:cNvCxnSpPr/>
          <p:nvPr/>
        </p:nvCxnSpPr>
        <p:spPr bwMode="auto">
          <a:xfrm>
            <a:off x="877824" y="3310128"/>
            <a:ext cx="4791456" cy="0"/>
          </a:xfrm>
          <a:prstGeom prst="line">
            <a:avLst/>
          </a:prstGeom>
          <a:solidFill>
            <a:schemeClr val="accent1"/>
          </a:solidFill>
          <a:ln w="12700" cap="flat" cmpd="sng" algn="ctr">
            <a:solidFill>
              <a:srgbClr val="D7DCE6"/>
            </a:solidFill>
            <a:prstDash val="solid"/>
            <a:round/>
            <a:headEnd type="none" w="med" len="med"/>
            <a:tailEnd type="none" w="med" len="med"/>
          </a:ln>
          <a:effectLst/>
        </p:spPr>
      </p:cxnSp>
      <p:sp>
        <p:nvSpPr>
          <p:cNvPr id="14" name="TextBox 13">
            <a:extLst>
              <a:ext uri="{FF2B5EF4-FFF2-40B4-BE49-F238E27FC236}">
                <a16:creationId xmlns:a16="http://schemas.microsoft.com/office/drawing/2014/main" id="{C6B3123E-23EF-B9D3-A334-0E0F9712924A}"/>
              </a:ext>
            </a:extLst>
          </p:cNvPr>
          <p:cNvSpPr txBox="1"/>
          <p:nvPr/>
        </p:nvSpPr>
        <p:spPr>
          <a:xfrm>
            <a:off x="877824" y="3364992"/>
            <a:ext cx="1005840" cy="225703"/>
          </a:xfrm>
          <a:prstGeom prst="rect">
            <a:avLst/>
          </a:prstGeom>
          <a:noFill/>
        </p:spPr>
        <p:txBody>
          <a:bodyPr vert="horz" wrap="square" lIns="76200" tIns="50800" rIns="76200" bIns="50800" rtlCol="0">
            <a:spAutoFit/>
          </a:bodyPr>
          <a:lstStyle/>
          <a:p>
            <a:r>
              <a:rPr lang="en-US" sz="800" b="1">
                <a:solidFill>
                  <a:srgbClr val="707070"/>
                </a:solidFill>
              </a:rPr>
              <a:t>Measured by</a:t>
            </a:r>
          </a:p>
        </p:txBody>
      </p:sp>
      <p:sp>
        <p:nvSpPr>
          <p:cNvPr id="15" name="TextBox 14">
            <a:extLst>
              <a:ext uri="{FF2B5EF4-FFF2-40B4-BE49-F238E27FC236}">
                <a16:creationId xmlns:a16="http://schemas.microsoft.com/office/drawing/2014/main" id="{BD990047-ED64-ABED-08F4-B44E00631BBA}"/>
              </a:ext>
            </a:extLst>
          </p:cNvPr>
          <p:cNvSpPr txBox="1"/>
          <p:nvPr/>
        </p:nvSpPr>
        <p:spPr>
          <a:xfrm>
            <a:off x="877824" y="3511296"/>
            <a:ext cx="4791456" cy="225703"/>
          </a:xfrm>
          <a:prstGeom prst="rect">
            <a:avLst/>
          </a:prstGeom>
          <a:noFill/>
        </p:spPr>
        <p:txBody>
          <a:bodyPr vert="horz" wrap="square" lIns="76200" tIns="50800" rIns="76200" bIns="50800" rtlCol="0">
            <a:spAutoFit/>
          </a:bodyPr>
          <a:lstStyle/>
          <a:p>
            <a:r>
              <a:rPr lang="en-US" sz="800">
                <a:solidFill>
                  <a:srgbClr val="464646"/>
                </a:solidFill>
              </a:rPr>
              <a:t>Invitations to 2 finalist rounds</a:t>
            </a:r>
          </a:p>
        </p:txBody>
      </p:sp>
      <p:sp>
        <p:nvSpPr>
          <p:cNvPr id="16" name="Rectangle: Rounded Corners 15">
            <a:extLst>
              <a:ext uri="{FF2B5EF4-FFF2-40B4-BE49-F238E27FC236}">
                <a16:creationId xmlns:a16="http://schemas.microsoft.com/office/drawing/2014/main" id="{76AACE3E-43D8-DC31-39C1-B50F2EE7FFC7}"/>
              </a:ext>
            </a:extLst>
          </p:cNvPr>
          <p:cNvSpPr/>
          <p:nvPr/>
        </p:nvSpPr>
        <p:spPr bwMode="auto">
          <a:xfrm>
            <a:off x="5980176" y="1828800"/>
            <a:ext cx="5047488" cy="1938528"/>
          </a:xfrm>
          <a:prstGeom prst="roundRect">
            <a:avLst/>
          </a:prstGeom>
          <a:solidFill>
            <a:srgbClr val="F8F9FC"/>
          </a:solidFill>
          <a:ln w="1905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1" u="none" strike="noStrike" cap="none" normalizeH="0" baseline="-25000">
              <a:ln>
                <a:noFill/>
              </a:ln>
              <a:solidFill>
                <a:schemeClr val="tx1"/>
              </a:solidFill>
              <a:effectLst/>
              <a:latin typeface="Arial" charset="0"/>
            </a:endParaRPr>
          </a:p>
        </p:txBody>
      </p:sp>
      <p:sp>
        <p:nvSpPr>
          <p:cNvPr id="17" name="Rectangle: Rounded Corners 16">
            <a:extLst>
              <a:ext uri="{FF2B5EF4-FFF2-40B4-BE49-F238E27FC236}">
                <a16:creationId xmlns:a16="http://schemas.microsoft.com/office/drawing/2014/main" id="{25E5E650-D61C-F99D-2814-235283DD490B}"/>
              </a:ext>
            </a:extLst>
          </p:cNvPr>
          <p:cNvSpPr/>
          <p:nvPr/>
        </p:nvSpPr>
        <p:spPr bwMode="auto">
          <a:xfrm>
            <a:off x="6089904" y="1901952"/>
            <a:ext cx="4828032" cy="237744"/>
          </a:xfrm>
          <a:prstGeom prst="roundRect">
            <a:avLst/>
          </a:prstGeom>
          <a:solidFill>
            <a:srgbClr val="0070C0"/>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101600" tIns="25400" rIns="10160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000" b="1" i="1" u="none" strike="noStrike" cap="none" normalizeH="0" baseline="-25000">
                <a:ln>
                  <a:noFill/>
                </a:ln>
                <a:solidFill>
                  <a:srgbClr val="FFFFFF"/>
                </a:solidFill>
                <a:effectLst/>
                <a:latin typeface="Arial" charset="0"/>
              </a:rPr>
              <a:t>Reusable bid base</a:t>
            </a:r>
          </a:p>
        </p:txBody>
      </p:sp>
      <p:sp>
        <p:nvSpPr>
          <p:cNvPr id="18" name="TextBox 17">
            <a:extLst>
              <a:ext uri="{FF2B5EF4-FFF2-40B4-BE49-F238E27FC236}">
                <a16:creationId xmlns:a16="http://schemas.microsoft.com/office/drawing/2014/main" id="{4C72D172-A9E3-B5F9-8BA2-BD5C6F0737BB}"/>
              </a:ext>
            </a:extLst>
          </p:cNvPr>
          <p:cNvSpPr txBox="1"/>
          <p:nvPr/>
        </p:nvSpPr>
        <p:spPr>
          <a:xfrm>
            <a:off x="6108192" y="2249424"/>
            <a:ext cx="822960" cy="225703"/>
          </a:xfrm>
          <a:prstGeom prst="rect">
            <a:avLst/>
          </a:prstGeom>
          <a:noFill/>
        </p:spPr>
        <p:txBody>
          <a:bodyPr vert="horz" wrap="square" lIns="76200" tIns="50800" rIns="76200" bIns="50800" rtlCol="0">
            <a:spAutoFit/>
          </a:bodyPr>
          <a:lstStyle/>
          <a:p>
            <a:r>
              <a:rPr lang="en-US" sz="800" b="1">
                <a:solidFill>
                  <a:srgbClr val="707070"/>
                </a:solidFill>
              </a:rPr>
              <a:t>Baseline</a:t>
            </a:r>
          </a:p>
        </p:txBody>
      </p:sp>
      <p:sp>
        <p:nvSpPr>
          <p:cNvPr id="19" name="TextBox 18">
            <a:extLst>
              <a:ext uri="{FF2B5EF4-FFF2-40B4-BE49-F238E27FC236}">
                <a16:creationId xmlns:a16="http://schemas.microsoft.com/office/drawing/2014/main" id="{C06A257B-1772-E0E2-465E-8BFBB78D0AB1}"/>
              </a:ext>
            </a:extLst>
          </p:cNvPr>
          <p:cNvSpPr txBox="1"/>
          <p:nvPr/>
        </p:nvSpPr>
        <p:spPr>
          <a:xfrm>
            <a:off x="6108192" y="2395728"/>
            <a:ext cx="4791456" cy="233397"/>
          </a:xfrm>
          <a:prstGeom prst="rect">
            <a:avLst/>
          </a:prstGeom>
          <a:noFill/>
        </p:spPr>
        <p:txBody>
          <a:bodyPr vert="horz" wrap="square" lIns="76200" tIns="50800" rIns="76200" bIns="50800" rtlCol="0">
            <a:spAutoFit/>
          </a:bodyPr>
          <a:lstStyle/>
          <a:p>
            <a:r>
              <a:rPr lang="en-US" sz="850">
                <a:solidFill>
                  <a:srgbClr val="3C3C3C"/>
                </a:solidFill>
              </a:rPr>
              <a:t>Each school bid rebuilt structure and messaging</a:t>
            </a:r>
          </a:p>
        </p:txBody>
      </p:sp>
      <p:sp>
        <p:nvSpPr>
          <p:cNvPr id="20" name="TextBox 19">
            <a:extLst>
              <a:ext uri="{FF2B5EF4-FFF2-40B4-BE49-F238E27FC236}">
                <a16:creationId xmlns:a16="http://schemas.microsoft.com/office/drawing/2014/main" id="{DFFCE18D-D1D2-3B82-0359-E6BFCC5BCA9B}"/>
              </a:ext>
            </a:extLst>
          </p:cNvPr>
          <p:cNvSpPr txBox="1"/>
          <p:nvPr/>
        </p:nvSpPr>
        <p:spPr>
          <a:xfrm>
            <a:off x="6108192" y="2724912"/>
            <a:ext cx="822960" cy="225703"/>
          </a:xfrm>
          <a:prstGeom prst="rect">
            <a:avLst/>
          </a:prstGeom>
          <a:noFill/>
        </p:spPr>
        <p:txBody>
          <a:bodyPr vert="horz" wrap="square" lIns="76200" tIns="50800" rIns="76200" bIns="50800" rtlCol="0">
            <a:spAutoFit/>
          </a:bodyPr>
          <a:lstStyle/>
          <a:p>
            <a:r>
              <a:rPr lang="en-US" sz="800" b="1">
                <a:solidFill>
                  <a:srgbClr val="0070C0"/>
                </a:solidFill>
              </a:rPr>
              <a:t>Result</a:t>
            </a:r>
          </a:p>
        </p:txBody>
      </p:sp>
      <p:sp>
        <p:nvSpPr>
          <p:cNvPr id="21" name="TextBox 20">
            <a:extLst>
              <a:ext uri="{FF2B5EF4-FFF2-40B4-BE49-F238E27FC236}">
                <a16:creationId xmlns:a16="http://schemas.microsoft.com/office/drawing/2014/main" id="{F5EC6685-8060-F849-3F73-6001A6C4CBAA}"/>
              </a:ext>
            </a:extLst>
          </p:cNvPr>
          <p:cNvSpPr txBox="1"/>
          <p:nvPr/>
        </p:nvSpPr>
        <p:spPr>
          <a:xfrm>
            <a:off x="6108192" y="2871216"/>
            <a:ext cx="4791456" cy="248786"/>
          </a:xfrm>
          <a:prstGeom prst="rect">
            <a:avLst/>
          </a:prstGeom>
          <a:noFill/>
        </p:spPr>
        <p:txBody>
          <a:bodyPr vert="horz" wrap="square" lIns="76200" tIns="50800" rIns="76200" bIns="50800" rtlCol="0">
            <a:spAutoFit/>
          </a:bodyPr>
          <a:lstStyle/>
          <a:p>
            <a:r>
              <a:rPr lang="en-US" sz="950" b="1">
                <a:solidFill>
                  <a:srgbClr val="23497E"/>
                </a:solidFill>
              </a:rPr>
              <a:t>About 12 later RNA school bids reused Detroit assets, with about 6 active at once</a:t>
            </a:r>
          </a:p>
        </p:txBody>
      </p:sp>
      <p:cxnSp>
        <p:nvCxnSpPr>
          <p:cNvPr id="22" name="Straight Connector 21">
            <a:extLst>
              <a:ext uri="{FF2B5EF4-FFF2-40B4-BE49-F238E27FC236}">
                <a16:creationId xmlns:a16="http://schemas.microsoft.com/office/drawing/2014/main" id="{93B1BDC9-C570-960E-8740-3D9B569CFCD1}"/>
              </a:ext>
            </a:extLst>
          </p:cNvPr>
          <p:cNvCxnSpPr/>
          <p:nvPr/>
        </p:nvCxnSpPr>
        <p:spPr bwMode="auto">
          <a:xfrm>
            <a:off x="6108192" y="3310128"/>
            <a:ext cx="4791456" cy="0"/>
          </a:xfrm>
          <a:prstGeom prst="line">
            <a:avLst/>
          </a:prstGeom>
          <a:solidFill>
            <a:schemeClr val="accent1"/>
          </a:solidFill>
          <a:ln w="12700" cap="flat" cmpd="sng" algn="ctr">
            <a:solidFill>
              <a:srgbClr val="D7DCE6"/>
            </a:solidFill>
            <a:prstDash val="solid"/>
            <a:round/>
            <a:headEnd type="none" w="med" len="med"/>
            <a:tailEnd type="none" w="med" len="med"/>
          </a:ln>
          <a:effectLst/>
        </p:spPr>
      </p:cxnSp>
      <p:sp>
        <p:nvSpPr>
          <p:cNvPr id="23" name="TextBox 22">
            <a:extLst>
              <a:ext uri="{FF2B5EF4-FFF2-40B4-BE49-F238E27FC236}">
                <a16:creationId xmlns:a16="http://schemas.microsoft.com/office/drawing/2014/main" id="{53E68A89-0EF9-254F-3E9E-D760DF311C9B}"/>
              </a:ext>
            </a:extLst>
          </p:cNvPr>
          <p:cNvSpPr txBox="1"/>
          <p:nvPr/>
        </p:nvSpPr>
        <p:spPr>
          <a:xfrm>
            <a:off x="6108192" y="3364992"/>
            <a:ext cx="1005840" cy="225703"/>
          </a:xfrm>
          <a:prstGeom prst="rect">
            <a:avLst/>
          </a:prstGeom>
          <a:noFill/>
        </p:spPr>
        <p:txBody>
          <a:bodyPr vert="horz" wrap="square" lIns="76200" tIns="50800" rIns="76200" bIns="50800" rtlCol="0">
            <a:spAutoFit/>
          </a:bodyPr>
          <a:lstStyle/>
          <a:p>
            <a:r>
              <a:rPr lang="en-US" sz="800" b="1">
                <a:solidFill>
                  <a:srgbClr val="707070"/>
                </a:solidFill>
              </a:rPr>
              <a:t>Measured by</a:t>
            </a:r>
          </a:p>
        </p:txBody>
      </p:sp>
      <p:sp>
        <p:nvSpPr>
          <p:cNvPr id="24" name="TextBox 23">
            <a:extLst>
              <a:ext uri="{FF2B5EF4-FFF2-40B4-BE49-F238E27FC236}">
                <a16:creationId xmlns:a16="http://schemas.microsoft.com/office/drawing/2014/main" id="{DE4A71BB-2A9B-083E-1AE5-04268D64281E}"/>
              </a:ext>
            </a:extLst>
          </p:cNvPr>
          <p:cNvSpPr txBox="1"/>
          <p:nvPr/>
        </p:nvSpPr>
        <p:spPr>
          <a:xfrm>
            <a:off x="6108192" y="3511296"/>
            <a:ext cx="4791456" cy="225703"/>
          </a:xfrm>
          <a:prstGeom prst="rect">
            <a:avLst/>
          </a:prstGeom>
          <a:noFill/>
        </p:spPr>
        <p:txBody>
          <a:bodyPr vert="horz" wrap="square" lIns="76200" tIns="50800" rIns="76200" bIns="50800" rtlCol="0">
            <a:spAutoFit/>
          </a:bodyPr>
          <a:lstStyle/>
          <a:p>
            <a:r>
              <a:rPr lang="en-US" sz="800">
                <a:solidFill>
                  <a:srgbClr val="464646"/>
                </a:solidFill>
              </a:rPr>
              <a:t>Observed live reuse across later school-bid production</a:t>
            </a:r>
          </a:p>
        </p:txBody>
      </p:sp>
      <p:sp>
        <p:nvSpPr>
          <p:cNvPr id="25" name="Rectangle: Rounded Corners 24">
            <a:extLst>
              <a:ext uri="{FF2B5EF4-FFF2-40B4-BE49-F238E27FC236}">
                <a16:creationId xmlns:a16="http://schemas.microsoft.com/office/drawing/2014/main" id="{7555CF07-D086-3172-CB5E-25B12CF2F4A0}"/>
              </a:ext>
            </a:extLst>
          </p:cNvPr>
          <p:cNvSpPr/>
          <p:nvPr/>
        </p:nvSpPr>
        <p:spPr bwMode="auto">
          <a:xfrm>
            <a:off x="749808" y="3913632"/>
            <a:ext cx="5047488" cy="1938528"/>
          </a:xfrm>
          <a:prstGeom prst="roundRect">
            <a:avLst/>
          </a:prstGeom>
          <a:solidFill>
            <a:srgbClr val="F8F9FC"/>
          </a:solidFill>
          <a:ln w="19050" cap="flat" cmpd="sng" algn="ctr">
            <a:solidFill>
              <a:srgbClr val="2D8CA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1" u="none" strike="noStrike" cap="none" normalizeH="0" baseline="-25000">
              <a:ln>
                <a:noFill/>
              </a:ln>
              <a:solidFill>
                <a:schemeClr val="tx1"/>
              </a:solidFill>
              <a:effectLst/>
              <a:latin typeface="Arial" charset="0"/>
            </a:endParaRPr>
          </a:p>
        </p:txBody>
      </p:sp>
      <p:sp>
        <p:nvSpPr>
          <p:cNvPr id="26" name="Rectangle: Rounded Corners 25">
            <a:extLst>
              <a:ext uri="{FF2B5EF4-FFF2-40B4-BE49-F238E27FC236}">
                <a16:creationId xmlns:a16="http://schemas.microsoft.com/office/drawing/2014/main" id="{A6F0D361-0EC5-2773-C575-C9F25949CB41}"/>
              </a:ext>
            </a:extLst>
          </p:cNvPr>
          <p:cNvSpPr/>
          <p:nvPr/>
        </p:nvSpPr>
        <p:spPr bwMode="auto">
          <a:xfrm>
            <a:off x="859536" y="3986784"/>
            <a:ext cx="4828032" cy="237744"/>
          </a:xfrm>
          <a:prstGeom prst="roundRect">
            <a:avLst/>
          </a:prstGeom>
          <a:solidFill>
            <a:srgbClr val="2D8CAF"/>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101600" tIns="25400" rIns="10160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000" b="1" i="1" u="none" strike="noStrike" cap="none" normalizeH="0" baseline="-25000">
                <a:ln>
                  <a:noFill/>
                </a:ln>
                <a:solidFill>
                  <a:srgbClr val="FFFFFF"/>
                </a:solidFill>
                <a:effectLst/>
                <a:latin typeface="Arial" charset="0"/>
              </a:rPr>
              <a:t>First-draft speed</a:t>
            </a:r>
          </a:p>
        </p:txBody>
      </p:sp>
      <p:sp>
        <p:nvSpPr>
          <p:cNvPr id="27" name="TextBox 26">
            <a:extLst>
              <a:ext uri="{FF2B5EF4-FFF2-40B4-BE49-F238E27FC236}">
                <a16:creationId xmlns:a16="http://schemas.microsoft.com/office/drawing/2014/main" id="{9F28D988-A003-6351-7DB2-8D95FC59BBB7}"/>
              </a:ext>
            </a:extLst>
          </p:cNvPr>
          <p:cNvSpPr txBox="1"/>
          <p:nvPr/>
        </p:nvSpPr>
        <p:spPr>
          <a:xfrm>
            <a:off x="877824" y="4334256"/>
            <a:ext cx="822960" cy="225703"/>
          </a:xfrm>
          <a:prstGeom prst="rect">
            <a:avLst/>
          </a:prstGeom>
          <a:noFill/>
        </p:spPr>
        <p:txBody>
          <a:bodyPr vert="horz" wrap="square" lIns="76200" tIns="50800" rIns="76200" bIns="50800" rtlCol="0">
            <a:spAutoFit/>
          </a:bodyPr>
          <a:lstStyle/>
          <a:p>
            <a:r>
              <a:rPr lang="en-US" sz="800" b="1">
                <a:solidFill>
                  <a:srgbClr val="707070"/>
                </a:solidFill>
              </a:rPr>
              <a:t>Baseline</a:t>
            </a:r>
          </a:p>
        </p:txBody>
      </p:sp>
      <p:sp>
        <p:nvSpPr>
          <p:cNvPr id="28" name="TextBox 27">
            <a:extLst>
              <a:ext uri="{FF2B5EF4-FFF2-40B4-BE49-F238E27FC236}">
                <a16:creationId xmlns:a16="http://schemas.microsoft.com/office/drawing/2014/main" id="{EB45AA5C-AC4F-3ADE-C752-BD283F0A6C7E}"/>
              </a:ext>
            </a:extLst>
          </p:cNvPr>
          <p:cNvSpPr txBox="1"/>
          <p:nvPr/>
        </p:nvSpPr>
        <p:spPr>
          <a:xfrm>
            <a:off x="877824" y="4480560"/>
            <a:ext cx="4791456" cy="233397"/>
          </a:xfrm>
          <a:prstGeom prst="rect">
            <a:avLst/>
          </a:prstGeom>
          <a:noFill/>
        </p:spPr>
        <p:txBody>
          <a:bodyPr vert="horz" wrap="square" lIns="76200" tIns="50800" rIns="76200" bIns="50800" rtlCol="0">
            <a:spAutoFit/>
          </a:bodyPr>
          <a:lstStyle/>
          <a:p>
            <a:r>
              <a:rPr lang="en-US" sz="850">
                <a:solidFill>
                  <a:srgbClr val="3C3C3C"/>
                </a:solidFill>
              </a:rPr>
              <a:t>About 4 hours to reach a first compliant draft</a:t>
            </a:r>
          </a:p>
        </p:txBody>
      </p:sp>
      <p:sp>
        <p:nvSpPr>
          <p:cNvPr id="29" name="TextBox 28">
            <a:extLst>
              <a:ext uri="{FF2B5EF4-FFF2-40B4-BE49-F238E27FC236}">
                <a16:creationId xmlns:a16="http://schemas.microsoft.com/office/drawing/2014/main" id="{DACDCCE8-C7A4-934E-4884-B19176CCF0BB}"/>
              </a:ext>
            </a:extLst>
          </p:cNvPr>
          <p:cNvSpPr txBox="1"/>
          <p:nvPr/>
        </p:nvSpPr>
        <p:spPr>
          <a:xfrm>
            <a:off x="877824" y="4809744"/>
            <a:ext cx="822960" cy="225703"/>
          </a:xfrm>
          <a:prstGeom prst="rect">
            <a:avLst/>
          </a:prstGeom>
          <a:noFill/>
        </p:spPr>
        <p:txBody>
          <a:bodyPr vert="horz" wrap="square" lIns="76200" tIns="50800" rIns="76200" bIns="50800" rtlCol="0">
            <a:spAutoFit/>
          </a:bodyPr>
          <a:lstStyle/>
          <a:p>
            <a:r>
              <a:rPr lang="en-US" sz="800" b="1">
                <a:solidFill>
                  <a:srgbClr val="2D8CAF"/>
                </a:solidFill>
              </a:rPr>
              <a:t>Result</a:t>
            </a:r>
          </a:p>
        </p:txBody>
      </p:sp>
      <p:sp>
        <p:nvSpPr>
          <p:cNvPr id="30" name="TextBox 29">
            <a:extLst>
              <a:ext uri="{FF2B5EF4-FFF2-40B4-BE49-F238E27FC236}">
                <a16:creationId xmlns:a16="http://schemas.microsoft.com/office/drawing/2014/main" id="{434A208C-663E-77F7-3054-0213DB4BABCB}"/>
              </a:ext>
            </a:extLst>
          </p:cNvPr>
          <p:cNvSpPr txBox="1"/>
          <p:nvPr/>
        </p:nvSpPr>
        <p:spPr>
          <a:xfrm>
            <a:off x="877824" y="4956048"/>
            <a:ext cx="4791456" cy="248786"/>
          </a:xfrm>
          <a:prstGeom prst="rect">
            <a:avLst/>
          </a:prstGeom>
          <a:noFill/>
        </p:spPr>
        <p:txBody>
          <a:bodyPr vert="horz" wrap="square" lIns="76200" tIns="50800" rIns="76200" bIns="50800" rtlCol="0">
            <a:spAutoFit/>
          </a:bodyPr>
          <a:lstStyle/>
          <a:p>
            <a:r>
              <a:rPr lang="en-US" sz="950" b="1">
                <a:solidFill>
                  <a:srgbClr val="23497E"/>
                </a:solidFill>
              </a:rPr>
              <a:t>An about 80% draft could be reached in roughly 5 minutes before tailoring</a:t>
            </a:r>
          </a:p>
        </p:txBody>
      </p:sp>
      <p:cxnSp>
        <p:nvCxnSpPr>
          <p:cNvPr id="31" name="Straight Connector 30">
            <a:extLst>
              <a:ext uri="{FF2B5EF4-FFF2-40B4-BE49-F238E27FC236}">
                <a16:creationId xmlns:a16="http://schemas.microsoft.com/office/drawing/2014/main" id="{49969F86-AD48-4833-0AC5-8C657302B5C3}"/>
              </a:ext>
            </a:extLst>
          </p:cNvPr>
          <p:cNvCxnSpPr/>
          <p:nvPr/>
        </p:nvCxnSpPr>
        <p:spPr bwMode="auto">
          <a:xfrm>
            <a:off x="877824" y="5394960"/>
            <a:ext cx="4791456" cy="0"/>
          </a:xfrm>
          <a:prstGeom prst="line">
            <a:avLst/>
          </a:prstGeom>
          <a:solidFill>
            <a:schemeClr val="accent1"/>
          </a:solidFill>
          <a:ln w="12700" cap="flat" cmpd="sng" algn="ctr">
            <a:solidFill>
              <a:srgbClr val="D7DCE6"/>
            </a:solidFill>
            <a:prstDash val="solid"/>
            <a:round/>
            <a:headEnd type="none" w="med" len="med"/>
            <a:tailEnd type="none" w="med" len="med"/>
          </a:ln>
          <a:effectLst/>
        </p:spPr>
      </p:cxnSp>
      <p:sp>
        <p:nvSpPr>
          <p:cNvPr id="32" name="TextBox 31">
            <a:extLst>
              <a:ext uri="{FF2B5EF4-FFF2-40B4-BE49-F238E27FC236}">
                <a16:creationId xmlns:a16="http://schemas.microsoft.com/office/drawing/2014/main" id="{3745FE10-8D1A-1797-EA32-9B563F9B9564}"/>
              </a:ext>
            </a:extLst>
          </p:cNvPr>
          <p:cNvSpPr txBox="1"/>
          <p:nvPr/>
        </p:nvSpPr>
        <p:spPr>
          <a:xfrm>
            <a:off x="877824" y="5449824"/>
            <a:ext cx="1005840" cy="225703"/>
          </a:xfrm>
          <a:prstGeom prst="rect">
            <a:avLst/>
          </a:prstGeom>
          <a:noFill/>
        </p:spPr>
        <p:txBody>
          <a:bodyPr vert="horz" wrap="square" lIns="76200" tIns="50800" rIns="76200" bIns="50800" rtlCol="0">
            <a:spAutoFit/>
          </a:bodyPr>
          <a:lstStyle/>
          <a:p>
            <a:r>
              <a:rPr lang="en-US" sz="800" b="1">
                <a:solidFill>
                  <a:srgbClr val="707070"/>
                </a:solidFill>
              </a:rPr>
              <a:t>Measured by</a:t>
            </a:r>
          </a:p>
        </p:txBody>
      </p:sp>
      <p:sp>
        <p:nvSpPr>
          <p:cNvPr id="33" name="TextBox 32">
            <a:extLst>
              <a:ext uri="{FF2B5EF4-FFF2-40B4-BE49-F238E27FC236}">
                <a16:creationId xmlns:a16="http://schemas.microsoft.com/office/drawing/2014/main" id="{16F9A8AA-6AB8-DB2C-2D67-71AD4A2A2DD4}"/>
              </a:ext>
            </a:extLst>
          </p:cNvPr>
          <p:cNvSpPr txBox="1"/>
          <p:nvPr/>
        </p:nvSpPr>
        <p:spPr>
          <a:xfrm>
            <a:off x="877824" y="5596128"/>
            <a:ext cx="4791456" cy="225703"/>
          </a:xfrm>
          <a:prstGeom prst="rect">
            <a:avLst/>
          </a:prstGeom>
          <a:noFill/>
        </p:spPr>
        <p:txBody>
          <a:bodyPr vert="horz" wrap="square" lIns="76200" tIns="50800" rIns="76200" bIns="50800" rtlCol="0">
            <a:spAutoFit/>
          </a:bodyPr>
          <a:lstStyle/>
          <a:p>
            <a:r>
              <a:rPr lang="en-US" sz="800">
                <a:solidFill>
                  <a:srgbClr val="464646"/>
                </a:solidFill>
              </a:rPr>
              <a:t>Compared live prep effort on later similar bids</a:t>
            </a:r>
          </a:p>
        </p:txBody>
      </p:sp>
      <p:sp>
        <p:nvSpPr>
          <p:cNvPr id="34" name="Rectangle: Rounded Corners 33">
            <a:extLst>
              <a:ext uri="{FF2B5EF4-FFF2-40B4-BE49-F238E27FC236}">
                <a16:creationId xmlns:a16="http://schemas.microsoft.com/office/drawing/2014/main" id="{48850D60-AA6E-6C49-8EA2-43D01FEBDF52}"/>
              </a:ext>
            </a:extLst>
          </p:cNvPr>
          <p:cNvSpPr/>
          <p:nvPr/>
        </p:nvSpPr>
        <p:spPr bwMode="auto">
          <a:xfrm>
            <a:off x="5980176" y="3913632"/>
            <a:ext cx="5047488" cy="1938528"/>
          </a:xfrm>
          <a:prstGeom prst="roundRect">
            <a:avLst/>
          </a:prstGeom>
          <a:solidFill>
            <a:srgbClr val="F8F9FC"/>
          </a:solidFill>
          <a:ln w="19050" cap="flat" cmpd="sng" algn="ctr">
            <a:solidFill>
              <a:srgbClr val="59595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1" u="none" strike="noStrike" cap="none" normalizeH="0" baseline="-25000">
              <a:ln>
                <a:noFill/>
              </a:ln>
              <a:solidFill>
                <a:schemeClr val="tx1"/>
              </a:solidFill>
              <a:effectLst/>
              <a:latin typeface="Arial" charset="0"/>
            </a:endParaRPr>
          </a:p>
        </p:txBody>
      </p:sp>
      <p:sp>
        <p:nvSpPr>
          <p:cNvPr id="35" name="Rectangle: Rounded Corners 34">
            <a:extLst>
              <a:ext uri="{FF2B5EF4-FFF2-40B4-BE49-F238E27FC236}">
                <a16:creationId xmlns:a16="http://schemas.microsoft.com/office/drawing/2014/main" id="{BAC838BA-49FE-6AB4-7039-F0AD894264CF}"/>
              </a:ext>
            </a:extLst>
          </p:cNvPr>
          <p:cNvSpPr/>
          <p:nvPr/>
        </p:nvSpPr>
        <p:spPr bwMode="auto">
          <a:xfrm>
            <a:off x="6089904" y="3986784"/>
            <a:ext cx="4828032" cy="237744"/>
          </a:xfrm>
          <a:prstGeom prst="roundRect">
            <a:avLst/>
          </a:prstGeom>
          <a:solidFill>
            <a:srgbClr val="595959"/>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101600" tIns="25400" rIns="10160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000" b="1" i="1" u="none" strike="noStrike" cap="none" normalizeH="0" baseline="-25000">
                <a:ln>
                  <a:noFill/>
                </a:ln>
                <a:solidFill>
                  <a:srgbClr val="FFFFFF"/>
                </a:solidFill>
                <a:effectLst/>
                <a:latin typeface="Arial" charset="0"/>
              </a:rPr>
              <a:t>Executive review burden</a:t>
            </a:r>
          </a:p>
        </p:txBody>
      </p:sp>
      <p:sp>
        <p:nvSpPr>
          <p:cNvPr id="36" name="TextBox 35">
            <a:extLst>
              <a:ext uri="{FF2B5EF4-FFF2-40B4-BE49-F238E27FC236}">
                <a16:creationId xmlns:a16="http://schemas.microsoft.com/office/drawing/2014/main" id="{D1FF51B3-D564-1732-F6CB-A333599C6002}"/>
              </a:ext>
            </a:extLst>
          </p:cNvPr>
          <p:cNvSpPr txBox="1"/>
          <p:nvPr/>
        </p:nvSpPr>
        <p:spPr>
          <a:xfrm>
            <a:off x="6108192" y="4334256"/>
            <a:ext cx="822960" cy="225703"/>
          </a:xfrm>
          <a:prstGeom prst="rect">
            <a:avLst/>
          </a:prstGeom>
          <a:noFill/>
        </p:spPr>
        <p:txBody>
          <a:bodyPr vert="horz" wrap="square" lIns="76200" tIns="50800" rIns="76200" bIns="50800" rtlCol="0">
            <a:spAutoFit/>
          </a:bodyPr>
          <a:lstStyle/>
          <a:p>
            <a:r>
              <a:rPr lang="en-US" sz="800" b="1">
                <a:solidFill>
                  <a:srgbClr val="707070"/>
                </a:solidFill>
              </a:rPr>
              <a:t>Baseline</a:t>
            </a:r>
          </a:p>
        </p:txBody>
      </p:sp>
      <p:sp>
        <p:nvSpPr>
          <p:cNvPr id="37" name="TextBox 36">
            <a:extLst>
              <a:ext uri="{FF2B5EF4-FFF2-40B4-BE49-F238E27FC236}">
                <a16:creationId xmlns:a16="http://schemas.microsoft.com/office/drawing/2014/main" id="{B474E257-50C9-6C9F-8661-F284B26F5EEA}"/>
              </a:ext>
            </a:extLst>
          </p:cNvPr>
          <p:cNvSpPr txBox="1"/>
          <p:nvPr/>
        </p:nvSpPr>
        <p:spPr>
          <a:xfrm>
            <a:off x="6108192" y="4480560"/>
            <a:ext cx="4791456" cy="233397"/>
          </a:xfrm>
          <a:prstGeom prst="rect">
            <a:avLst/>
          </a:prstGeom>
          <a:noFill/>
        </p:spPr>
        <p:txBody>
          <a:bodyPr vert="horz" wrap="square" lIns="76200" tIns="50800" rIns="76200" bIns="50800" rtlCol="0">
            <a:spAutoFit/>
          </a:bodyPr>
          <a:lstStyle/>
          <a:p>
            <a:r>
              <a:rPr lang="en-US" sz="850">
                <a:solidFill>
                  <a:srgbClr val="3C3C3C"/>
                </a:solidFill>
              </a:rPr>
              <a:t>Repeated review of unfamiliar writing and structure</a:t>
            </a:r>
          </a:p>
        </p:txBody>
      </p:sp>
      <p:sp>
        <p:nvSpPr>
          <p:cNvPr id="38" name="TextBox 37">
            <a:extLst>
              <a:ext uri="{FF2B5EF4-FFF2-40B4-BE49-F238E27FC236}">
                <a16:creationId xmlns:a16="http://schemas.microsoft.com/office/drawing/2014/main" id="{9B39B3D9-6274-D851-6904-AF83352E8739}"/>
              </a:ext>
            </a:extLst>
          </p:cNvPr>
          <p:cNvSpPr txBox="1"/>
          <p:nvPr/>
        </p:nvSpPr>
        <p:spPr>
          <a:xfrm>
            <a:off x="6108192" y="4809744"/>
            <a:ext cx="822960" cy="225703"/>
          </a:xfrm>
          <a:prstGeom prst="rect">
            <a:avLst/>
          </a:prstGeom>
          <a:noFill/>
        </p:spPr>
        <p:txBody>
          <a:bodyPr vert="horz" wrap="square" lIns="76200" tIns="50800" rIns="76200" bIns="50800" rtlCol="0">
            <a:spAutoFit/>
          </a:bodyPr>
          <a:lstStyle/>
          <a:p>
            <a:r>
              <a:rPr lang="en-US" sz="800" b="1">
                <a:solidFill>
                  <a:srgbClr val="595959"/>
                </a:solidFill>
              </a:rPr>
              <a:t>Result</a:t>
            </a:r>
          </a:p>
        </p:txBody>
      </p:sp>
      <p:sp>
        <p:nvSpPr>
          <p:cNvPr id="39" name="TextBox 38">
            <a:extLst>
              <a:ext uri="{FF2B5EF4-FFF2-40B4-BE49-F238E27FC236}">
                <a16:creationId xmlns:a16="http://schemas.microsoft.com/office/drawing/2014/main" id="{8F33B899-DBA2-3F39-D50D-9EA277CC8A4E}"/>
              </a:ext>
            </a:extLst>
          </p:cNvPr>
          <p:cNvSpPr txBox="1"/>
          <p:nvPr/>
        </p:nvSpPr>
        <p:spPr>
          <a:xfrm>
            <a:off x="6108192" y="4956048"/>
            <a:ext cx="4791456" cy="394980"/>
          </a:xfrm>
          <a:prstGeom prst="rect">
            <a:avLst/>
          </a:prstGeom>
          <a:noFill/>
        </p:spPr>
        <p:txBody>
          <a:bodyPr vert="horz" wrap="square" lIns="76200" tIns="50800" rIns="76200" bIns="50800" rtlCol="0">
            <a:spAutoFit/>
          </a:bodyPr>
          <a:lstStyle/>
          <a:p>
            <a:r>
              <a:rPr lang="en-US" sz="950" b="1">
                <a:solidFill>
                  <a:srgbClr val="23497E"/>
                </a:solidFill>
              </a:rPr>
              <a:t>Later bids usually needed 1 executive review focused on solution and pricing differences</a:t>
            </a:r>
          </a:p>
        </p:txBody>
      </p:sp>
      <p:cxnSp>
        <p:nvCxnSpPr>
          <p:cNvPr id="40" name="Straight Connector 39">
            <a:extLst>
              <a:ext uri="{FF2B5EF4-FFF2-40B4-BE49-F238E27FC236}">
                <a16:creationId xmlns:a16="http://schemas.microsoft.com/office/drawing/2014/main" id="{CDDAB26A-919D-A541-AF05-262911B74EB1}"/>
              </a:ext>
            </a:extLst>
          </p:cNvPr>
          <p:cNvCxnSpPr/>
          <p:nvPr/>
        </p:nvCxnSpPr>
        <p:spPr bwMode="auto">
          <a:xfrm>
            <a:off x="6108192" y="5394960"/>
            <a:ext cx="4791456" cy="0"/>
          </a:xfrm>
          <a:prstGeom prst="line">
            <a:avLst/>
          </a:prstGeom>
          <a:solidFill>
            <a:schemeClr val="accent1"/>
          </a:solidFill>
          <a:ln w="12700" cap="flat" cmpd="sng" algn="ctr">
            <a:solidFill>
              <a:srgbClr val="D7DCE6"/>
            </a:solidFill>
            <a:prstDash val="solid"/>
            <a:round/>
            <a:headEnd type="none" w="med" len="med"/>
            <a:tailEnd type="none" w="med" len="med"/>
          </a:ln>
          <a:effectLst/>
        </p:spPr>
      </p:cxnSp>
      <p:sp>
        <p:nvSpPr>
          <p:cNvPr id="41" name="TextBox 40">
            <a:extLst>
              <a:ext uri="{FF2B5EF4-FFF2-40B4-BE49-F238E27FC236}">
                <a16:creationId xmlns:a16="http://schemas.microsoft.com/office/drawing/2014/main" id="{55BCFE43-C251-DDF7-9357-E06290A8B3CC}"/>
              </a:ext>
            </a:extLst>
          </p:cNvPr>
          <p:cNvSpPr txBox="1"/>
          <p:nvPr/>
        </p:nvSpPr>
        <p:spPr>
          <a:xfrm>
            <a:off x="6108192" y="5449824"/>
            <a:ext cx="1005840" cy="225703"/>
          </a:xfrm>
          <a:prstGeom prst="rect">
            <a:avLst/>
          </a:prstGeom>
          <a:noFill/>
        </p:spPr>
        <p:txBody>
          <a:bodyPr vert="horz" wrap="square" lIns="76200" tIns="50800" rIns="76200" bIns="50800" rtlCol="0">
            <a:spAutoFit/>
          </a:bodyPr>
          <a:lstStyle/>
          <a:p>
            <a:r>
              <a:rPr lang="en-US" sz="800" b="1">
                <a:solidFill>
                  <a:srgbClr val="707070"/>
                </a:solidFill>
              </a:rPr>
              <a:t>Measured by</a:t>
            </a:r>
          </a:p>
        </p:txBody>
      </p:sp>
      <p:sp>
        <p:nvSpPr>
          <p:cNvPr id="42" name="TextBox 41">
            <a:extLst>
              <a:ext uri="{FF2B5EF4-FFF2-40B4-BE49-F238E27FC236}">
                <a16:creationId xmlns:a16="http://schemas.microsoft.com/office/drawing/2014/main" id="{9833397C-2EC9-ED6C-1EE6-CF72E4D4845D}"/>
              </a:ext>
            </a:extLst>
          </p:cNvPr>
          <p:cNvSpPr txBox="1"/>
          <p:nvPr/>
        </p:nvSpPr>
        <p:spPr>
          <a:xfrm>
            <a:off x="6108192" y="5596128"/>
            <a:ext cx="4791456" cy="225703"/>
          </a:xfrm>
          <a:prstGeom prst="rect">
            <a:avLst/>
          </a:prstGeom>
          <a:noFill/>
        </p:spPr>
        <p:txBody>
          <a:bodyPr vert="horz" wrap="square" lIns="76200" tIns="50800" rIns="76200" bIns="50800" rtlCol="0">
            <a:spAutoFit/>
          </a:bodyPr>
          <a:lstStyle/>
          <a:p>
            <a:r>
              <a:rPr lang="en-US" sz="800">
                <a:solidFill>
                  <a:srgbClr val="464646"/>
                </a:solidFill>
              </a:rPr>
              <a:t>Observed post-Detroit review pattern with executives and pricing</a:t>
            </a:r>
          </a:p>
        </p:txBody>
      </p:sp>
    </p:spTree>
    <p:extLst>
      <p:ext uri="{BB962C8B-B14F-4D97-AF65-F5344CB8AC3E}">
        <p14:creationId xmlns:p14="http://schemas.microsoft.com/office/powerpoint/2010/main" val="2178006390"/>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CPD Plan for the Next 24 Months</a:t>
            </a:r>
          </a:p>
        </p:txBody>
      </p:sp>
      <p:sp>
        <p:nvSpPr>
          <p:cNvPr id="3" name="TextBox 2"/>
          <p:cNvSpPr txBox="1"/>
          <p:nvPr/>
        </p:nvSpPr>
        <p:spPr>
          <a:xfrm>
            <a:off x="713232" y="1353312"/>
            <a:ext cx="9372600" cy="457200"/>
          </a:xfrm>
          <a:prstGeom prst="rect">
            <a:avLst/>
          </a:prstGeom>
          <a:noFill/>
        </p:spPr>
        <p:txBody>
          <a:bodyPr wrap="square" anchor="t">
            <a:spAutoFit/>
          </a:bodyPr>
          <a:lstStyle/>
          <a:p>
            <a:pPr algn="l"/>
            <a:r>
              <a:rPr sz="1400" b="0" i="0">
                <a:solidFill>
                  <a:srgbClr val="1F1F1F"/>
                </a:solidFill>
              </a:rPr>
              <a:t>My next 24 months of development are focused on deepening capture capability, formalizing AI-enabled proposal delivery, and contributing more visibly to the profession.</a:t>
            </a:r>
          </a:p>
        </p:txBody>
      </p:sp>
      <p:graphicFrame>
        <p:nvGraphicFramePr>
          <p:cNvPr id="4" name="Table 3"/>
          <p:cNvGraphicFramePr>
            <a:graphicFrameLocks noGrp="1"/>
          </p:cNvGraphicFramePr>
          <p:nvPr/>
        </p:nvGraphicFramePr>
        <p:xfrm>
          <a:off x="640080" y="1828800"/>
          <a:ext cx="10972800" cy="3749039"/>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624839">
                <a:tc>
                  <a:txBody>
                    <a:bodyPr/>
                    <a:lstStyle/>
                    <a:p>
                      <a:r>
                        <a:rPr sz="1200" b="1">
                          <a:solidFill>
                            <a:srgbClr val="FFFFFF"/>
                          </a:solidFill>
                        </a:rPr>
                        <a:t>Timing</a:t>
                      </a:r>
                    </a:p>
                  </a:txBody>
                  <a:tcPr>
                    <a:solidFill>
                      <a:srgbClr val="1F4E79"/>
                    </a:solidFill>
                  </a:tcPr>
                </a:tc>
                <a:tc>
                  <a:txBody>
                    <a:bodyPr/>
                    <a:lstStyle/>
                    <a:p>
                      <a:r>
                        <a:rPr sz="1200" b="1">
                          <a:solidFill>
                            <a:srgbClr val="FFFFFF"/>
                          </a:solidFill>
                        </a:rPr>
                        <a:t>Activity</a:t>
                      </a:r>
                    </a:p>
                  </a:txBody>
                  <a:tcPr>
                    <a:solidFill>
                      <a:srgbClr val="1F4E79"/>
                    </a:solidFill>
                  </a:tcPr>
                </a:tc>
                <a:tc>
                  <a:txBody>
                    <a:bodyPr/>
                    <a:lstStyle/>
                    <a:p>
                      <a:r>
                        <a:rPr sz="1200" b="1">
                          <a:solidFill>
                            <a:srgbClr val="FFFFFF"/>
                          </a:solidFill>
                        </a:rPr>
                        <a:t>Why It Matters</a:t>
                      </a:r>
                    </a:p>
                  </a:txBody>
                  <a:tcPr>
                    <a:solidFill>
                      <a:srgbClr val="1F4E79"/>
                    </a:solidFill>
                  </a:tcPr>
                </a:tc>
                <a:extLst>
                  <a:ext uri="{0D108BD9-81ED-4DB2-BD59-A6C34878D82A}">
                    <a16:rowId xmlns:a16="http://schemas.microsoft.com/office/drawing/2014/main" val="10000"/>
                  </a:ext>
                </a:extLst>
              </a:tr>
              <a:tr h="624839">
                <a:tc>
                  <a:txBody>
                    <a:bodyPr/>
                    <a:lstStyle/>
                    <a:p>
                      <a:r>
                        <a:rPr sz="1100">
                          <a:solidFill>
                            <a:srgbClr val="000000"/>
                          </a:solidFill>
                        </a:rPr>
                        <a:t>March to April 2026</a:t>
                      </a:r>
                    </a:p>
                  </a:txBody>
                  <a:tcPr/>
                </a:tc>
                <a:tc>
                  <a:txBody>
                    <a:bodyPr/>
                    <a:lstStyle/>
                    <a:p>
                      <a:r>
                        <a:rPr sz="1100">
                          <a:solidFill>
                            <a:srgbClr val="000000"/>
                          </a:solidFill>
                        </a:rPr>
                        <a:t>Finish and live-smoke-test my internally developed capture-to-proposal application</a:t>
                      </a:r>
                    </a:p>
                  </a:txBody>
                  <a:tcPr/>
                </a:tc>
                <a:tc>
                  <a:txBody>
                    <a:bodyPr/>
                    <a:lstStyle/>
                    <a:p>
                      <a:r>
                        <a:rPr sz="1100">
                          <a:solidFill>
                            <a:srgbClr val="000000"/>
                          </a:solidFill>
                        </a:rPr>
                        <a:t>Validate a purpose-built operating system for capture and proposal work</a:t>
                      </a:r>
                    </a:p>
                  </a:txBody>
                  <a:tcPr/>
                </a:tc>
                <a:extLst>
                  <a:ext uri="{0D108BD9-81ED-4DB2-BD59-A6C34878D82A}">
                    <a16:rowId xmlns:a16="http://schemas.microsoft.com/office/drawing/2014/main" val="10001"/>
                  </a:ext>
                </a:extLst>
              </a:tr>
              <a:tr h="624839">
                <a:tc>
                  <a:txBody>
                    <a:bodyPr/>
                    <a:lstStyle/>
                    <a:p>
                      <a:r>
                        <a:rPr sz="1100">
                          <a:solidFill>
                            <a:srgbClr val="000000"/>
                          </a:solidFill>
                        </a:rPr>
                        <a:t>April to May 2026</a:t>
                      </a:r>
                    </a:p>
                  </a:txBody>
                  <a:tcPr/>
                </a:tc>
                <a:tc>
                  <a:txBody>
                    <a:bodyPr/>
                    <a:lstStyle/>
                    <a:p>
                      <a:r>
                        <a:rPr sz="1100">
                          <a:solidFill>
                            <a:srgbClr val="000000"/>
                          </a:solidFill>
                        </a:rPr>
                        <a:t>Actively build government-capture capability</a:t>
                      </a:r>
                    </a:p>
                  </a:txBody>
                  <a:tcPr/>
                </a:tc>
                <a:tc>
                  <a:txBody>
                    <a:bodyPr/>
                    <a:lstStyle/>
                    <a:p>
                      <a:r>
                        <a:rPr sz="1100">
                          <a:solidFill>
                            <a:srgbClr val="000000"/>
                          </a:solidFill>
                        </a:rPr>
                        <a:t>Expand facilities-services advisory work further upstream in the selling cycle</a:t>
                      </a:r>
                    </a:p>
                  </a:txBody>
                  <a:tcPr/>
                </a:tc>
                <a:extLst>
                  <a:ext uri="{0D108BD9-81ED-4DB2-BD59-A6C34878D82A}">
                    <a16:rowId xmlns:a16="http://schemas.microsoft.com/office/drawing/2014/main" val="10002"/>
                  </a:ext>
                </a:extLst>
              </a:tr>
              <a:tr h="624839">
                <a:tc>
                  <a:txBody>
                    <a:bodyPr/>
                    <a:lstStyle/>
                    <a:p>
                      <a:r>
                        <a:rPr sz="1100">
                          <a:solidFill>
                            <a:srgbClr val="000000"/>
                          </a:solidFill>
                        </a:rPr>
                        <a:t>March to June 2026</a:t>
                      </a:r>
                    </a:p>
                  </a:txBody>
                  <a:tcPr/>
                </a:tc>
                <a:tc>
                  <a:txBody>
                    <a:bodyPr/>
                    <a:lstStyle/>
                    <a:p>
                      <a:r>
                        <a:rPr sz="1100">
                          <a:solidFill>
                            <a:srgbClr val="000000"/>
                          </a:solidFill>
                        </a:rPr>
                        <a:t>Earn the APMP AI Micro-Certification</a:t>
                      </a:r>
                    </a:p>
                  </a:txBody>
                  <a:tcPr/>
                </a:tc>
                <a:tc>
                  <a:txBody>
                    <a:bodyPr/>
                    <a:lstStyle/>
                    <a:p>
                      <a:r>
                        <a:rPr sz="1100">
                          <a:solidFill>
                            <a:srgbClr val="000000"/>
                          </a:solidFill>
                        </a:rPr>
                        <a:t>Align AI-enabled practice with the official APMP credential</a:t>
                      </a:r>
                    </a:p>
                  </a:txBody>
                  <a:tcPr/>
                </a:tc>
                <a:extLst>
                  <a:ext uri="{0D108BD9-81ED-4DB2-BD59-A6C34878D82A}">
                    <a16:rowId xmlns:a16="http://schemas.microsoft.com/office/drawing/2014/main" val="10003"/>
                  </a:ext>
                </a:extLst>
              </a:tr>
              <a:tr h="624839">
                <a:tc>
                  <a:txBody>
                    <a:bodyPr/>
                    <a:lstStyle/>
                    <a:p>
                      <a:r>
                        <a:rPr sz="1100">
                          <a:solidFill>
                            <a:srgbClr val="000000"/>
                          </a:solidFill>
                        </a:rPr>
                        <a:t>March to September 2026</a:t>
                      </a:r>
                    </a:p>
                  </a:txBody>
                  <a:tcPr/>
                </a:tc>
                <a:tc>
                  <a:txBody>
                    <a:bodyPr/>
                    <a:lstStyle/>
                    <a:p>
                      <a:r>
                        <a:rPr sz="1100">
                          <a:solidFill>
                            <a:srgbClr val="000000"/>
                          </a:solidFill>
                        </a:rPr>
                        <a:t>Increase involvement in the APMP National Capital Area chapter</a:t>
                      </a:r>
                    </a:p>
                  </a:txBody>
                  <a:tcPr/>
                </a:tc>
                <a:tc>
                  <a:txBody>
                    <a:bodyPr/>
                    <a:lstStyle/>
                    <a:p>
                      <a:r>
                        <a:rPr sz="1100">
                          <a:solidFill>
                            <a:srgbClr val="000000"/>
                          </a:solidFill>
                        </a:rPr>
                        <a:t>Contribute more directly through events, speaking, and board-oriented service</a:t>
                      </a:r>
                    </a:p>
                  </a:txBody>
                  <a:tcPr/>
                </a:tc>
                <a:extLst>
                  <a:ext uri="{0D108BD9-81ED-4DB2-BD59-A6C34878D82A}">
                    <a16:rowId xmlns:a16="http://schemas.microsoft.com/office/drawing/2014/main" val="10004"/>
                  </a:ext>
                </a:extLst>
              </a:tr>
              <a:tr h="624844">
                <a:tc>
                  <a:txBody>
                    <a:bodyPr/>
                    <a:lstStyle/>
                    <a:p>
                      <a:r>
                        <a:rPr sz="1100">
                          <a:solidFill>
                            <a:srgbClr val="000000"/>
                          </a:solidFill>
                        </a:rPr>
                        <a:t>By March 2027</a:t>
                      </a:r>
                    </a:p>
                  </a:txBody>
                  <a:tcPr/>
                </a:tc>
                <a:tc>
                  <a:txBody>
                    <a:bodyPr/>
                    <a:lstStyle/>
                    <a:p>
                      <a:r>
                        <a:rPr sz="1100">
                          <a:solidFill>
                            <a:srgbClr val="000000"/>
                          </a:solidFill>
                        </a:rPr>
                        <a:t>Stand up a turnkey AI-enabled consulting model and develop toward a BPC 2027 webinar</a:t>
                      </a:r>
                    </a:p>
                  </a:txBody>
                  <a:tcPr/>
                </a:tc>
                <a:tc>
                  <a:txBody>
                    <a:bodyPr/>
                    <a:lstStyle/>
                    <a:p>
                      <a:r>
                        <a:rPr sz="1100">
                          <a:solidFill>
                            <a:srgbClr val="000000"/>
                          </a:solidFill>
                        </a:rPr>
                        <a:t>Demonstrate a practical end-to-end AI operating model for capture and proposal management</a:t>
                      </a:r>
                    </a:p>
                  </a:txBody>
                  <a:tcPr/>
                </a:tc>
                <a:extLst>
                  <a:ext uri="{0D108BD9-81ED-4DB2-BD59-A6C34878D82A}">
                    <a16:rowId xmlns:a16="http://schemas.microsoft.com/office/drawing/2014/main" val="10005"/>
                  </a:ext>
                </a:extLst>
              </a:tr>
            </a:tbl>
          </a:graphicData>
        </a:graphic>
      </p:graphicFrame>
      <p:sp>
        <p:nvSpPr>
          <p:cNvPr id="5" name="TextBox 4"/>
          <p:cNvSpPr txBox="1"/>
          <p:nvPr/>
        </p:nvSpPr>
        <p:spPr>
          <a:xfrm>
            <a:off x="640080" y="6236208"/>
            <a:ext cx="10698480" cy="256032"/>
          </a:xfrm>
          <a:prstGeom prst="rect">
            <a:avLst/>
          </a:prstGeom>
          <a:noFill/>
        </p:spPr>
        <p:txBody>
          <a:bodyPr wrap="square" anchor="t">
            <a:spAutoFit/>
          </a:bodyPr>
          <a:lstStyle/>
          <a:p>
            <a:pPr algn="l"/>
            <a:r>
              <a:rPr sz="1100" b="0" i="1">
                <a:solidFill>
                  <a:srgbClr val="595959"/>
                </a:solidFill>
              </a:rPr>
              <a:t>The CPD plan is tied directly to service expansion, standards alignment, and visible contribution to the profession.</a:t>
            </a:r>
          </a:p>
        </p:txBody>
      </p:sp>
    </p:spTree>
    <p:extLst>
      <p:ext uri="{BB962C8B-B14F-4D97-AF65-F5344CB8AC3E}">
        <p14:creationId xmlns:p14="http://schemas.microsoft.com/office/powerpoint/2010/main" val="269720213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CPD Application and Knowledge Sharing</a:t>
            </a:r>
          </a:p>
        </p:txBody>
      </p:sp>
      <p:sp>
        <p:nvSpPr>
          <p:cNvPr id="3" name="TextBox 2"/>
          <p:cNvSpPr txBox="1"/>
          <p:nvPr/>
        </p:nvSpPr>
        <p:spPr>
          <a:xfrm>
            <a:off x="713232" y="1353312"/>
            <a:ext cx="9372600" cy="457200"/>
          </a:xfrm>
          <a:prstGeom prst="rect">
            <a:avLst/>
          </a:prstGeom>
          <a:noFill/>
        </p:spPr>
        <p:txBody>
          <a:bodyPr wrap="square" anchor="t">
            <a:spAutoFit/>
          </a:bodyPr>
          <a:lstStyle/>
          <a:p>
            <a:pPr algn="l"/>
            <a:r>
              <a:rPr sz="1400" b="0" i="0">
                <a:solidFill>
                  <a:srgbClr val="1F1F1F"/>
                </a:solidFill>
              </a:rPr>
              <a:t>I intend to convert learning into reusable capability for clients and into practical advocacy for the proposal profession.</a:t>
            </a:r>
          </a:p>
        </p:txBody>
      </p:sp>
      <p:graphicFrame>
        <p:nvGraphicFramePr>
          <p:cNvPr id="4" name="Table 3"/>
          <p:cNvGraphicFramePr>
            <a:graphicFrameLocks noGrp="1"/>
          </p:cNvGraphicFramePr>
          <p:nvPr/>
        </p:nvGraphicFramePr>
        <p:xfrm>
          <a:off x="640080" y="1828800"/>
          <a:ext cx="10972800" cy="292608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85216">
                <a:tc>
                  <a:txBody>
                    <a:bodyPr/>
                    <a:lstStyle/>
                    <a:p>
                      <a:r>
                        <a:rPr sz="1200" b="1">
                          <a:solidFill>
                            <a:srgbClr val="FFFFFF"/>
                          </a:solidFill>
                        </a:rPr>
                        <a:t>Learning Area</a:t>
                      </a:r>
                    </a:p>
                  </a:txBody>
                  <a:tcPr>
                    <a:solidFill>
                      <a:srgbClr val="1F4E79"/>
                    </a:solidFill>
                  </a:tcPr>
                </a:tc>
                <a:tc>
                  <a:txBody>
                    <a:bodyPr/>
                    <a:lstStyle/>
                    <a:p>
                      <a:r>
                        <a:rPr sz="1200" b="1">
                          <a:solidFill>
                            <a:srgbClr val="FFFFFF"/>
                          </a:solidFill>
                        </a:rPr>
                        <a:t>How I Will Apply It</a:t>
                      </a:r>
                    </a:p>
                  </a:txBody>
                  <a:tcPr>
                    <a:solidFill>
                      <a:srgbClr val="1F4E79"/>
                    </a:solidFill>
                  </a:tcPr>
                </a:tc>
                <a:tc>
                  <a:txBody>
                    <a:bodyPr/>
                    <a:lstStyle/>
                    <a:p>
                      <a:r>
                        <a:rPr sz="1200" b="1">
                          <a:solidFill>
                            <a:srgbClr val="FFFFFF"/>
                          </a:solidFill>
                        </a:rPr>
                        <a:t>How I Will Share It</a:t>
                      </a:r>
                    </a:p>
                  </a:txBody>
                  <a:tcPr>
                    <a:solidFill>
                      <a:srgbClr val="1F4E79"/>
                    </a:solidFill>
                  </a:tcPr>
                </a:tc>
                <a:extLst>
                  <a:ext uri="{0D108BD9-81ED-4DB2-BD59-A6C34878D82A}">
                    <a16:rowId xmlns:a16="http://schemas.microsoft.com/office/drawing/2014/main" val="10000"/>
                  </a:ext>
                </a:extLst>
              </a:tr>
              <a:tr h="585216">
                <a:tc>
                  <a:txBody>
                    <a:bodyPr/>
                    <a:lstStyle/>
                    <a:p>
                      <a:r>
                        <a:rPr sz="1100">
                          <a:solidFill>
                            <a:srgbClr val="000000"/>
                          </a:solidFill>
                        </a:rPr>
                        <a:t>Government capture</a:t>
                      </a:r>
                    </a:p>
                  </a:txBody>
                  <a:tcPr/>
                </a:tc>
                <a:tc>
                  <a:txBody>
                    <a:bodyPr/>
                    <a:lstStyle/>
                    <a:p>
                      <a:r>
                        <a:rPr sz="1100">
                          <a:solidFill>
                            <a:srgbClr val="000000"/>
                          </a:solidFill>
                        </a:rPr>
                        <a:t>Move clients upstream from post-RFP response into earlier capture-stage planning</a:t>
                      </a:r>
                    </a:p>
                  </a:txBody>
                  <a:tcPr/>
                </a:tc>
                <a:tc>
                  <a:txBody>
                    <a:bodyPr/>
                    <a:lstStyle/>
                    <a:p>
                      <a:r>
                        <a:rPr sz="1100">
                          <a:solidFill>
                            <a:srgbClr val="000000"/>
                          </a:solidFill>
                        </a:rPr>
                        <a:t>Publish insight articles on the Boss Key LLC website</a:t>
                      </a:r>
                    </a:p>
                  </a:txBody>
                  <a:tcPr/>
                </a:tc>
                <a:extLst>
                  <a:ext uri="{0D108BD9-81ED-4DB2-BD59-A6C34878D82A}">
                    <a16:rowId xmlns:a16="http://schemas.microsoft.com/office/drawing/2014/main" val="10001"/>
                  </a:ext>
                </a:extLst>
              </a:tr>
              <a:tr h="585216">
                <a:tc>
                  <a:txBody>
                    <a:bodyPr/>
                    <a:lstStyle/>
                    <a:p>
                      <a:r>
                        <a:rPr sz="1100">
                          <a:solidFill>
                            <a:srgbClr val="000000"/>
                          </a:solidFill>
                        </a:rPr>
                        <a:t>AI-enabled proposal operations</a:t>
                      </a:r>
                    </a:p>
                  </a:txBody>
                  <a:tcPr/>
                </a:tc>
                <a:tc>
                  <a:txBody>
                    <a:bodyPr/>
                    <a:lstStyle/>
                    <a:p>
                      <a:r>
                        <a:rPr sz="1100">
                          <a:solidFill>
                            <a:srgbClr val="000000"/>
                          </a:solidFill>
                        </a:rPr>
                        <a:t>Use repo-based conversational AI with human judgment in the loop to accelerate compliant delivery</a:t>
                      </a:r>
                    </a:p>
                  </a:txBody>
                  <a:tcPr/>
                </a:tc>
                <a:tc>
                  <a:txBody>
                    <a:bodyPr/>
                    <a:lstStyle/>
                    <a:p>
                      <a:r>
                        <a:rPr sz="1100">
                          <a:solidFill>
                            <a:srgbClr val="000000"/>
                          </a:solidFill>
                        </a:rPr>
                        <a:t>Share methods with APMP chapter peers and through online presentations</a:t>
                      </a:r>
                    </a:p>
                  </a:txBody>
                  <a:tcPr/>
                </a:tc>
                <a:extLst>
                  <a:ext uri="{0D108BD9-81ED-4DB2-BD59-A6C34878D82A}">
                    <a16:rowId xmlns:a16="http://schemas.microsoft.com/office/drawing/2014/main" val="10002"/>
                  </a:ext>
                </a:extLst>
              </a:tr>
              <a:tr h="585216">
                <a:tc>
                  <a:txBody>
                    <a:bodyPr/>
                    <a:lstStyle/>
                    <a:p>
                      <a:r>
                        <a:rPr sz="1100">
                          <a:solidFill>
                            <a:srgbClr val="000000"/>
                          </a:solidFill>
                        </a:rPr>
                        <a:t>Community leadership</a:t>
                      </a:r>
                    </a:p>
                  </a:txBody>
                  <a:tcPr/>
                </a:tc>
                <a:tc>
                  <a:txBody>
                    <a:bodyPr/>
                    <a:lstStyle/>
                    <a:p>
                      <a:r>
                        <a:rPr sz="1100">
                          <a:solidFill>
                            <a:srgbClr val="000000"/>
                          </a:solidFill>
                        </a:rPr>
                        <a:t>Increase contribution to the NCA APMP chapter through events and speaking</a:t>
                      </a:r>
                    </a:p>
                  </a:txBody>
                  <a:tcPr/>
                </a:tc>
                <a:tc>
                  <a:txBody>
                    <a:bodyPr/>
                    <a:lstStyle/>
                    <a:p>
                      <a:r>
                        <a:rPr sz="1100">
                          <a:solidFill>
                            <a:srgbClr val="000000"/>
                          </a:solidFill>
                        </a:rPr>
                        <a:t>Support chapter events and develop conference-level content</a:t>
                      </a:r>
                    </a:p>
                  </a:txBody>
                  <a:tcPr/>
                </a:tc>
                <a:extLst>
                  <a:ext uri="{0D108BD9-81ED-4DB2-BD59-A6C34878D82A}">
                    <a16:rowId xmlns:a16="http://schemas.microsoft.com/office/drawing/2014/main" val="10003"/>
                  </a:ext>
                </a:extLst>
              </a:tr>
              <a:tr h="585216">
                <a:tc>
                  <a:txBody>
                    <a:bodyPr/>
                    <a:lstStyle/>
                    <a:p>
                      <a:r>
                        <a:rPr sz="1100">
                          <a:solidFill>
                            <a:srgbClr val="000000"/>
                          </a:solidFill>
                        </a:rPr>
                        <a:t>Standards-led innovation</a:t>
                      </a:r>
                    </a:p>
                  </a:txBody>
                  <a:tcPr/>
                </a:tc>
                <a:tc>
                  <a:txBody>
                    <a:bodyPr/>
                    <a:lstStyle/>
                    <a:p>
                      <a:r>
                        <a:rPr sz="1100">
                          <a:solidFill>
                            <a:srgbClr val="000000"/>
                          </a:solidFill>
                        </a:rPr>
                        <a:t>Anchor experimentation in recognized APMP good practice</a:t>
                      </a:r>
                    </a:p>
                  </a:txBody>
                  <a:tcPr/>
                </a:tc>
                <a:tc>
                  <a:txBody>
                    <a:bodyPr/>
                    <a:lstStyle/>
                    <a:p>
                      <a:r>
                        <a:rPr sz="1100">
                          <a:solidFill>
                            <a:srgbClr val="000000"/>
                          </a:solidFill>
                        </a:rPr>
                        <a:t>Translate lessons from the APMP AI Micro-Certification into client delivery and peer discussions</a:t>
                      </a: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841248" y="5102352"/>
            <a:ext cx="10149840" cy="841248"/>
          </a:xfrm>
          <a:prstGeom prst="rect">
            <a:avLst/>
          </a:prstGeom>
          <a:noFill/>
        </p:spPr>
        <p:txBody>
          <a:bodyPr wrap="square">
            <a:spAutoFit/>
          </a:bodyPr>
          <a:lstStyle/>
          <a:p>
            <a:pPr>
              <a:defRPr sz="1150">
                <a:solidFill>
                  <a:srgbClr val="1F3663"/>
                </a:solidFill>
              </a:defRPr>
            </a:pPr>
            <a:r>
              <a:t>The same principle underpins both my impact story and my development plan: the best proposal leadership leaves behind a stronger system, not just a stronger single submission.</a:t>
            </a:r>
          </a:p>
        </p:txBody>
      </p:sp>
      <p:sp>
        <p:nvSpPr>
          <p:cNvPr id="6" name="TextBox 5"/>
          <p:cNvSpPr txBox="1"/>
          <p:nvPr/>
        </p:nvSpPr>
        <p:spPr>
          <a:xfrm>
            <a:off x="640080" y="6236208"/>
            <a:ext cx="10698480" cy="256032"/>
          </a:xfrm>
          <a:prstGeom prst="rect">
            <a:avLst/>
          </a:prstGeom>
          <a:noFill/>
        </p:spPr>
        <p:txBody>
          <a:bodyPr wrap="square" anchor="t">
            <a:spAutoFit/>
          </a:bodyPr>
          <a:lstStyle/>
          <a:p>
            <a:pPr algn="l"/>
            <a:r>
              <a:rPr sz="1100" b="0" i="1">
                <a:solidFill>
                  <a:srgbClr val="595959"/>
                </a:solidFill>
              </a:rPr>
              <a:t>Learning is being converted into reusable client capability and visible contribution to the proposal profession.</a:t>
            </a:r>
          </a:p>
        </p:txBody>
      </p:sp>
    </p:spTree>
    <p:extLst>
      <p:ext uri="{BB962C8B-B14F-4D97-AF65-F5344CB8AC3E}">
        <p14:creationId xmlns:p14="http://schemas.microsoft.com/office/powerpoint/2010/main" val="2697202139"/>
      </p:ext>
    </p:extLst>
  </p:cSld>
  <p:clrMapOvr>
    <a:masterClrMapping/>
  </p:clrMapOvr>
  <p:transition spd="slow">
    <p:wipe/>
  </p:transition>
</p:sld>
</file>

<file path=ppt/theme/theme1.xml><?xml version="1.0" encoding="utf-8"?>
<a:theme xmlns:a="http://schemas.openxmlformats.org/drawingml/2006/main" name="Default Design">
  <a:themeElements>
    <a:clrScheme name="APMP">
      <a:dk1>
        <a:srgbClr val="002277"/>
      </a:dk1>
      <a:lt1>
        <a:srgbClr val="FFFFFF"/>
      </a:lt1>
      <a:dk2>
        <a:srgbClr val="002277"/>
      </a:dk2>
      <a:lt2>
        <a:srgbClr val="FFFFFF"/>
      </a:lt2>
      <a:accent1>
        <a:srgbClr val="002277"/>
      </a:accent1>
      <a:accent2>
        <a:srgbClr val="3266BB"/>
      </a:accent2>
      <a:accent3>
        <a:srgbClr val="FFBB00"/>
      </a:accent3>
      <a:accent4>
        <a:srgbClr val="E1EFFC"/>
      </a:accent4>
      <a:accent5>
        <a:srgbClr val="FF0000"/>
      </a:accent5>
      <a:accent6>
        <a:srgbClr val="3266BB"/>
      </a:accent6>
      <a:hlink>
        <a:srgbClr val="1093BC"/>
      </a:hlink>
      <a:folHlink>
        <a:srgbClr val="E1EFFC"/>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600" b="0" i="1" u="none" strike="noStrike" cap="none" normalizeH="0" baseline="-2500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600" b="0" i="1" u="none" strike="noStrike" cap="none" normalizeH="0" baseline="-2500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3273</Words>
  <Application>Microsoft Office PowerPoint</Application>
  <PresentationFormat>Widescreen</PresentationFormat>
  <Paragraphs>260</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Wingdings</vt:lpstr>
      <vt:lpstr>Default Design</vt:lpstr>
      <vt:lpstr>PowerPoint Presentation</vt:lpstr>
      <vt:lpstr>Summary of Impact</vt:lpstr>
      <vt:lpstr>The Situation</vt:lpstr>
      <vt:lpstr>Stakeholder Engagement and Communication</vt:lpstr>
      <vt:lpstr>Tasks</vt:lpstr>
      <vt:lpstr>Activities</vt:lpstr>
      <vt:lpstr>Results</vt:lpstr>
      <vt:lpstr>CPD Plan for the Next 24 Months</vt:lpstr>
      <vt:lpstr>CPD Application and Knowledge Sharing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2019-06-09T16:36:56Z</dcterms:created>
  <dcterms:modified xsi:type="dcterms:W3CDTF">2026-03-12T20:52:25Z</dcterms:modified>
</cp:coreProperties>
</file>